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6" r:id="rId4"/>
    <p:sldId id="269" r:id="rId5"/>
    <p:sldId id="268" r:id="rId6"/>
    <p:sldId id="259" r:id="rId7"/>
    <p:sldId id="267" r:id="rId8"/>
    <p:sldId id="258" r:id="rId9"/>
    <p:sldId id="260" r:id="rId10"/>
    <p:sldId id="261" r:id="rId11"/>
    <p:sldId id="270" r:id="rId12"/>
    <p:sldId id="262" r:id="rId13"/>
    <p:sldId id="271" r:id="rId14"/>
    <p:sldId id="263" r:id="rId15"/>
    <p:sldId id="264"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10"/>
  </p:normalViewPr>
  <p:slideViewPr>
    <p:cSldViewPr snapToGrid="0" snapToObjects="1">
      <p:cViewPr varScale="1">
        <p:scale>
          <a:sx n="105" d="100"/>
          <a:sy n="105"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813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សួស្តីលោកគ្រូ។ ថ្ងៃនេះខ្ញុំនឹងធ្វើការបង្ហាញអំពី Project របស់ខ្ញុំដែលមានឈ្មោះថា Blog App។ Project នេះបង្កើតឡើងដោយប្រើ Flutter សម្រាប់ Mobile App និង Laravel REST API សម្រាប់ Backend ហើយប្រើ MySQL សម្រាប់ Database។ អ្នកប្រើអាច Register, Login, Create, Edit និង Delete Blog Posts ហើយក៏អាច Upload Image, Comment និង Search Posts បានផងដែរ។</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សម្រាប់ Technology ខ្ញុំប្រើ Flutter និង Dart ដើម្បីបង្កើត Mobile Application។ ខ្ញុំប្រើ GetX សម្រាប់ State Management, Dependency Injection និង Routing។ សម្រាប់ Connect ទៅ Backend ខ្ញុំប្រើ Dio ដែលជា HTTP Client។ Backend ប្រើ Laravel REST API និង Database ប្រើ MySQL។ ចំពោះ Authentication ខ្ញុំប្រើ Laravel Sanctum និង Bearer Token។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38035-AB3F-04CD-1D16-878B44D8F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38907-8F66-9678-D5B6-13C0B9532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07088-A10A-6BA5-5972-A7D83CAE9C6B}"/>
              </a:ext>
            </a:extLst>
          </p:cNvPr>
          <p:cNvSpPr>
            <a:spLocks noGrp="1"/>
          </p:cNvSpPr>
          <p:nvPr>
            <p:ph type="body" idx="1"/>
          </p:nvPr>
        </p:nvSpPr>
        <p:spPr/>
        <p:txBody>
          <a:bodyPr/>
          <a:lstStyle/>
          <a:p>
            <a:r>
              <a:rPr lang="en-US" dirty="0"/>
              <a:t>សម្រាប់ Technology ខ្ញុំប្រើ Flutter និង Dart ដើម្បីបង្កើត Mobile Application។ ខ្ញុំប្រើ GetX សម្រាប់ State Management, Dependency Injection និង Routing។ សម្រាប់ Connect ទៅ Backend ខ្ញុំប្រើ Dio ដែលជា HTTP Client។ Backend ប្រើ Laravel REST API និង Database ប្រើ MySQL។ ចំពោះ Authentication ខ្ញុំប្រើ Laravel Sanctum និង Bearer Token។</a:t>
            </a:r>
          </a:p>
        </p:txBody>
      </p:sp>
      <p:sp>
        <p:nvSpPr>
          <p:cNvPr id="4" name="Slide Number Placeholder 3">
            <a:extLst>
              <a:ext uri="{FF2B5EF4-FFF2-40B4-BE49-F238E27FC236}">
                <a16:creationId xmlns:a16="http://schemas.microsoft.com/office/drawing/2014/main" id="{2D506CDF-F6E0-71B9-AC86-006B81FDB08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933356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0A24-DBD3-68A1-7A88-00B6E6E8D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E2A9F2-A786-2222-89B9-A8FB768310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5F1830-F2F6-A7ED-4FCD-12980EB901EF}"/>
              </a:ext>
            </a:extLst>
          </p:cNvPr>
          <p:cNvSpPr>
            <a:spLocks noGrp="1"/>
          </p:cNvSpPr>
          <p:nvPr>
            <p:ph type="body" idx="1"/>
          </p:nvPr>
        </p:nvSpPr>
        <p:spPr/>
        <p:txBody>
          <a:bodyPr/>
          <a:lstStyle/>
          <a:p>
            <a:r>
              <a:rPr lang="en-US" dirty="0"/>
              <a:t>សម្រាប់ Technology ខ្ញុំប្រើ Flutter និង Dart ដើម្បីបង្កើត Mobile Application។ ខ្ញុំប្រើ GetX សម្រាប់ State Management, Dependency Injection និង Routing។ សម្រាប់ Connect ទៅ Backend ខ្ញុំប្រើ Dio ដែលជា HTTP Client។ Backend ប្រើ Laravel REST API និង Database ប្រើ MySQL។ ចំពោះ Authentication ខ្ញុំប្រើ Laravel Sanctum និង Bearer Token។</a:t>
            </a:r>
          </a:p>
        </p:txBody>
      </p:sp>
      <p:sp>
        <p:nvSpPr>
          <p:cNvPr id="4" name="Slide Number Placeholder 3">
            <a:extLst>
              <a:ext uri="{FF2B5EF4-FFF2-40B4-BE49-F238E27FC236}">
                <a16:creationId xmlns:a16="http://schemas.microsoft.com/office/drawing/2014/main" id="{001D98CB-E93D-B624-5648-A2A30A99552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18100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89FA4-0BA9-A854-8C50-C8E3D4E7E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630CE-1934-BF7B-A865-C8F4376BC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04626-5495-017F-15E3-B74760A60E9A}"/>
              </a:ext>
            </a:extLst>
          </p:cNvPr>
          <p:cNvSpPr>
            <a:spLocks noGrp="1"/>
          </p:cNvSpPr>
          <p:nvPr>
            <p:ph type="body" idx="1"/>
          </p:nvPr>
        </p:nvSpPr>
        <p:spPr/>
        <p:txBody>
          <a:bodyPr/>
          <a:lstStyle/>
          <a:p>
            <a:r>
              <a:rPr lang="en-US" dirty="0"/>
              <a:t>សម្រាប់ Technology ខ្ញុំប្រើ Flutter និង Dart ដើម្បីបង្កើត Mobile Application។ ខ្ញុំប្រើ GetX សម្រាប់ State Management, Dependency Injection និង Routing។ សម្រាប់ Connect ទៅ Backend ខ្ញុំប្រើ Dio ដែលជា HTTP Client។ Backend ប្រើ Laravel REST API និង Database ប្រើ MySQL។ ចំពោះ Authentication ខ្ញុំប្រើ Laravel Sanctum និង Bearer Token។</a:t>
            </a:r>
          </a:p>
        </p:txBody>
      </p:sp>
      <p:sp>
        <p:nvSpPr>
          <p:cNvPr id="4" name="Slide Number Placeholder 3">
            <a:extLst>
              <a:ext uri="{FF2B5EF4-FFF2-40B4-BE49-F238E27FC236}">
                <a16:creationId xmlns:a16="http://schemas.microsoft.com/office/drawing/2014/main" id="{3EDFEBC2-E164-D64C-E4C7-1E5A04F3161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055418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ខ្ញុំបានរៀបចំ Project ជា Feature-Based Architecture ដើម្បីឱ្យ Code មានភាពងាយស្រួលក្នុងការគ្រប់គ្រង និង Maintain។ modules គឺសម្រាប់ Feature ដូចជា Authentication, Home, Posts, Comments និង Profile។ controllers ប្រើសម្រាប់ Business Logic និង State Management។ providers ប្រើសម្រាប់ Communication ជាមួយ API។ services មាន API Service និង Storage Service។ bindings ប្រើសម្រាប់ Dependency Injection របស់ GetX។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8CDB8-760F-7D81-79EF-0F0CD93CB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62850C-337F-1BB1-838C-E8F000B5C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71BD1-0561-F432-84D8-28F11EC06859}"/>
              </a:ext>
            </a:extLst>
          </p:cNvPr>
          <p:cNvSpPr>
            <a:spLocks noGrp="1"/>
          </p:cNvSpPr>
          <p:nvPr>
            <p:ph type="body" idx="1"/>
          </p:nvPr>
        </p:nvSpPr>
        <p:spPr/>
        <p:txBody>
          <a:bodyPr/>
          <a:lstStyle/>
          <a:p>
            <a:r>
              <a:rPr lang="en-US" dirty="0"/>
              <a:t>ខ្ញុំបានរៀបចំ Project ជា Feature-Based Architecture ដើម្បីឱ្យ Code មានភាពងាយស្រួលក្នុងការគ្រប់គ្រង និង Maintain។ modules គឺសម្រាប់ Feature ដូចជា Authentication, Home, Posts, Comments និង Profile។ controllers ប្រើសម្រាប់ Business Logic និង State Management។ providers ប្រើសម្រាប់ Communication ជាមួយ API។ services មាន API Service និង Storage Service។ bindings ប្រើសម្រាប់ Dependency Injection របស់ GetX។</a:t>
            </a:r>
          </a:p>
        </p:txBody>
      </p:sp>
      <p:sp>
        <p:nvSpPr>
          <p:cNvPr id="4" name="Slide Number Placeholder 3">
            <a:extLst>
              <a:ext uri="{FF2B5EF4-FFF2-40B4-BE49-F238E27FC236}">
                <a16:creationId xmlns:a16="http://schemas.microsoft.com/office/drawing/2014/main" id="{5C897D4A-CB08-991D-A0F8-6366668FFEA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78535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របស់ Project មានជាច្រើន Layer។ នៅផ្នែក Frontend អ្នកប្រើ interact ជាមួយ UI។ UI នឹងបញ្ជូន Action ទៅ GetX Controller។ Controller នឹងហៅ Provider ហើយ Provider ប្រើ API Service និង Dio ដើម្បី Send Request ទៅ Laravel REST API។ បន្ទាប់មក Laravel នឹង Process Request និងទាក់ទងជាមួយ MySQL Database។ Response នឹងត្រឡប់មកតាម Layer ដដែល រហូតដល់ UI។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ចំពោះ Authentication អ្នកប្រើអាច Register និង Login។ នៅពេល Login ជោគជ័យ Backend នឹង Return Bearer Token។ ខ្ញុំរក្សាទុក Token នៅក្នុង GetStorage។ នៅពេល Call Protected API ខ្ញុំនឹងបញ្ជូន Token តាម Authorization Header។ នៅពេល Logout ខ្ញុំនឹង Clear Token និង User Data ហើយត្រឡប់ទៅ Login Screen។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សំខាន់មួយរបស់ Project គឺ Post Management។ User អាចមើល Posts, Search Posts និងមើល Post Details។ User ដែល Login រួចអាច Create Post ដោយបញ្ចូល Title, Content និង Upload Image។ ក៏អាច Edit និង Delete Post របស់ខ្លួនបាន ហើយមាន Comments និង Pull-to-Refresh ផងដែរ។</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57684-AEAC-B47F-3D71-8662B66B0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69DD0-59D8-FE94-E8B7-4D2524065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61F21E-6AD9-7045-159A-AA340122264A}"/>
              </a:ext>
            </a:extLst>
          </p:cNvPr>
          <p:cNvSpPr>
            <a:spLocks noGrp="1"/>
          </p:cNvSpPr>
          <p:nvPr>
            <p:ph type="body" idx="1"/>
          </p:nvPr>
        </p:nvSpPr>
        <p:spPr/>
        <p:txBody>
          <a:bodyPr/>
          <a:lstStyle/>
          <a:p>
            <a:r>
              <a:rPr lang="en-US" dirty="0"/>
              <a:t>Feature សំខាន់មួយរបស់ Project គឺ Post Management។ User អាចមើល Posts, Search Posts និងមើល Post Details។ User ដែល Login រួចអាច Create Post ដោយបញ្ចូល Title, Content និង Upload Image។ ក៏អាច Edit និង Delete Post របស់ខ្លួនបាន ហើយមាន Comments និង Pull-to-Refresh ផងដែរ។</a:t>
            </a:r>
          </a:p>
        </p:txBody>
      </p:sp>
      <p:sp>
        <p:nvSpPr>
          <p:cNvPr id="4" name="Slide Number Placeholder 3">
            <a:extLst>
              <a:ext uri="{FF2B5EF4-FFF2-40B4-BE49-F238E27FC236}">
                <a16:creationId xmlns:a16="http://schemas.microsoft.com/office/drawing/2014/main" id="{A9F9A537-9349-A01F-3557-AE872AF97E6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74061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របស់ខ្ញុំប្រើ Laravel REST API។ API មាន Authentication Endpoints, Post Endpoints និង Comment Endpoints។ Database មាន Tables សំខាន់ៗចំនួនបី គឺ Users, Posts និង Comments។ User ម្នាក់អាចមាន Posts ច្រើន ហើយ Post មួយអាចមាន Comments ច្រើន។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B98C3-ADDE-ADA5-8921-F1644E92F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551E81-EA64-20CA-6A36-B56AFACD83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EA920-389D-2C53-D39F-F432011EEE43}"/>
              </a:ext>
            </a:extLst>
          </p:cNvPr>
          <p:cNvSpPr>
            <a:spLocks noGrp="1"/>
          </p:cNvSpPr>
          <p:nvPr>
            <p:ph type="body" idx="1"/>
          </p:nvPr>
        </p:nvSpPr>
        <p:spPr/>
        <p:txBody>
          <a:bodyPr/>
          <a:lstStyle/>
          <a:p>
            <a:r>
              <a:rPr lang="en-US" dirty="0"/>
              <a:t>Backend របស់ខ្ញុំប្រើ Laravel REST API។ API មាន Authentication Endpoints, Post Endpoints និង Comment Endpoints។ Database មាន Tables សំខាន់ៗចំនួនបី គឺ Users, Posts និង Comments។ User ម្នាក់អាចមាន Posts ច្រើន ហើយ Post មួយអាចមាន Comments ច្រើន។</a:t>
            </a:r>
          </a:p>
        </p:txBody>
      </p:sp>
      <p:sp>
        <p:nvSpPr>
          <p:cNvPr id="4" name="Slide Number Placeholder 3">
            <a:extLst>
              <a:ext uri="{FF2B5EF4-FFF2-40B4-BE49-F238E27FC236}">
                <a16:creationId xmlns:a16="http://schemas.microsoft.com/office/drawing/2014/main" id="{26858E9A-F4AB-CF8B-3585-E67DE33039C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8963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ឥឡូវនេះខ្ញុំនឹងធ្វើការ Demo Application ជាក់ស្តែង។ ខ្ញុំនឹងចាប់ផ្តើមពី Login បន្ទាប់មកបង្ហាញ Home Screen និង Search។ បន្ទាប់មកខ្ញុំនឹង Create Post និង Upload Image។ បន្ទាប់ពីនោះខ្ញុំនឹងបង្ហាញ Edit, Comment និង Delete។ ចុងក្រោយខ្ញុំនឹងធ្វើការ Logout។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ឧទាហរណ៍ នៅពេលខ្ញុំ Create Post, User ចុច Submit នៅក្នុង CreatePostView។ View នឹង Call PostsController។ Controller នឹង Call PostProvider។ Provider នឹងប្រើ ApiService និង Dio ដើម្បីផ្ញើ Multipart Request ទៅ Laravel។ Laravel នឹង Validate Data, Save ទៅ MySQL និង Return Response មក Flutter។ បន្ទាប់មក GetX នឹង Update UI។</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សរុបមក Project នេះបានអនុវត្តនូវចំណេះដឹងដែលខ្ញុំបានរៀន ដូចជា Flutter, GetX, REST API, Laravel, MySQL និង Authentication។ ខ្ញុំក៏បានអនុវត្ត CRUD, Image Upload, Comments, Search និង Error Handling។ តាមរយៈ Project នេះ ខ្ញុំបានយល់កាន់តែច្បាស់ពីរបៀបភ្ជាប់ Mobile Application ជាមួយ Backend API និង Database។ សូមអរគុណលោកគ្រូសម្រាប់ការស្តាប់។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861072" y="1584127"/>
            <a:ext cx="3421856" cy="507831"/>
          </a:xfrm>
          <a:prstGeom prst="rect">
            <a:avLst/>
          </a:prstGeom>
          <a:noFill/>
          <a:ln/>
        </p:spPr>
        <p:txBody>
          <a:bodyPr wrap="square" lIns="0" tIns="0" rIns="0" bIns="0" rtlCol="0" anchor="t">
            <a:spAutoFit/>
          </a:bodyPr>
          <a:lstStyle/>
          <a:p>
            <a:pPr marL="0" indent="0" algn="ctr">
              <a:buNone/>
            </a:pPr>
            <a:r>
              <a:rPr lang="en-US" sz="3300" b="1" dirty="0">
                <a:solidFill>
                  <a:srgbClr val="F8FAFC"/>
                </a:solidFill>
                <a:latin typeface="Kantumruy Pro Bold" pitchFamily="34" charset="0"/>
                <a:ea typeface="Kantumruy Pro Bold" pitchFamily="34" charset="-122"/>
                <a:cs typeface="Kantumruy Pro Bold" pitchFamily="34" charset="-120"/>
              </a:rPr>
              <a:t>Blog App</a:t>
            </a:r>
            <a:endParaRPr lang="en-US" sz="3300" dirty="0"/>
          </a:p>
        </p:txBody>
      </p:sp>
      <p:sp>
        <p:nvSpPr>
          <p:cNvPr id="5" name="Text 1"/>
          <p:cNvSpPr/>
          <p:nvPr/>
        </p:nvSpPr>
        <p:spPr>
          <a:xfrm>
            <a:off x="739378" y="2266355"/>
            <a:ext cx="7665244" cy="453628"/>
          </a:xfrm>
          <a:prstGeom prst="rect">
            <a:avLst/>
          </a:prstGeom>
          <a:noFill/>
          <a:ln/>
        </p:spPr>
        <p:txBody>
          <a:bodyPr wrap="square" lIns="0" tIns="0" rIns="0" bIns="0" rtlCol="0" anchor="t">
            <a:spAutoFit/>
          </a:bodyPr>
          <a:lstStyle/>
          <a:p>
            <a:pPr marL="0" indent="0" algn="ctr">
              <a:buNone/>
            </a:pPr>
            <a:r>
              <a:rPr lang="en-US" sz="2450" b="1" dirty="0">
                <a:solidFill>
                  <a:srgbClr val="06B6D4"/>
                </a:solidFill>
                <a:latin typeface="JetBrains Mono Bold" pitchFamily="34" charset="0"/>
                <a:ea typeface="JetBrains Mono Bold" pitchFamily="34" charset="-122"/>
                <a:cs typeface="JetBrains Mono Bold" pitchFamily="34" charset="-120"/>
              </a:rPr>
              <a:t>Blog App — Flutter + Laravel REST API</a:t>
            </a:r>
            <a:endParaRPr lang="en-US" sz="2450" dirty="0"/>
          </a:p>
        </p:txBody>
      </p:sp>
      <p:sp>
        <p:nvSpPr>
          <p:cNvPr id="6" name="Shape 2"/>
          <p:cNvSpPr/>
          <p:nvPr/>
        </p:nvSpPr>
        <p:spPr>
          <a:xfrm>
            <a:off x="2909292" y="3148608"/>
            <a:ext cx="1082278" cy="410766"/>
          </a:xfrm>
          <a:prstGeom prst="rect">
            <a:avLst/>
          </a:prstGeom>
          <a:solidFill>
            <a:srgbClr val="1E293B"/>
          </a:solidFill>
          <a:ln w="9144">
            <a:solidFill>
              <a:srgbClr val="334155"/>
            </a:solidFill>
            <a:prstDash val="solid"/>
          </a:ln>
        </p:spPr>
      </p:sp>
      <p:sp>
        <p:nvSpPr>
          <p:cNvPr id="7" name="Text 3"/>
          <p:cNvSpPr/>
          <p:nvPr/>
        </p:nvSpPr>
        <p:spPr>
          <a:xfrm>
            <a:off x="2909292" y="3148608"/>
            <a:ext cx="1082278" cy="410766"/>
          </a:xfrm>
          <a:prstGeom prst="rect">
            <a:avLst/>
          </a:prstGeom>
          <a:noFill/>
          <a:ln/>
        </p:spPr>
        <p:txBody>
          <a:bodyPr wrap="none" lIns="204089" tIns="102108" rIns="204089" bIns="102108" rtlCol="0" anchor="t">
            <a:spAutoFit/>
          </a:bodyPr>
          <a:lstStyle/>
          <a:p>
            <a:pPr marL="0" indent="0" algn="ctr">
              <a:buNone/>
            </a:pPr>
            <a:r>
              <a:rPr lang="en-US" sz="1250" dirty="0">
                <a:solidFill>
                  <a:srgbClr val="F59E0B"/>
                </a:solidFill>
                <a:latin typeface="JetBrains Mono" pitchFamily="34" charset="0"/>
                <a:ea typeface="JetBrains Mono" pitchFamily="34" charset="-122"/>
                <a:cs typeface="JetBrains Mono" pitchFamily="34" charset="-120"/>
              </a:rPr>
              <a:t>Flutter</a:t>
            </a:r>
            <a:endParaRPr lang="en-US" sz="1250" dirty="0"/>
          </a:p>
        </p:txBody>
      </p:sp>
      <p:sp>
        <p:nvSpPr>
          <p:cNvPr id="8" name="Shape 4"/>
          <p:cNvSpPr/>
          <p:nvPr/>
        </p:nvSpPr>
        <p:spPr>
          <a:xfrm>
            <a:off x="4127302" y="3148608"/>
            <a:ext cx="1082278" cy="410766"/>
          </a:xfrm>
          <a:prstGeom prst="rect">
            <a:avLst/>
          </a:prstGeom>
          <a:solidFill>
            <a:srgbClr val="1E293B"/>
          </a:solidFill>
          <a:ln w="9144">
            <a:solidFill>
              <a:srgbClr val="334155"/>
            </a:solidFill>
            <a:prstDash val="solid"/>
          </a:ln>
        </p:spPr>
      </p:sp>
      <p:sp>
        <p:nvSpPr>
          <p:cNvPr id="9" name="Text 5"/>
          <p:cNvSpPr/>
          <p:nvPr/>
        </p:nvSpPr>
        <p:spPr>
          <a:xfrm>
            <a:off x="4127302" y="3148608"/>
            <a:ext cx="1082278" cy="410766"/>
          </a:xfrm>
          <a:prstGeom prst="rect">
            <a:avLst/>
          </a:prstGeom>
          <a:noFill/>
          <a:ln/>
        </p:spPr>
        <p:txBody>
          <a:bodyPr wrap="none" lIns="204089" tIns="102108" rIns="204089" bIns="102108" rtlCol="0" anchor="t">
            <a:spAutoFit/>
          </a:bodyPr>
          <a:lstStyle/>
          <a:p>
            <a:pPr marL="0" indent="0" algn="ctr">
              <a:buNone/>
            </a:pPr>
            <a:r>
              <a:rPr lang="en-US" sz="1250" dirty="0">
                <a:solidFill>
                  <a:srgbClr val="F59E0B"/>
                </a:solidFill>
                <a:latin typeface="JetBrains Mono" pitchFamily="34" charset="0"/>
                <a:ea typeface="JetBrains Mono" pitchFamily="34" charset="-122"/>
                <a:cs typeface="JetBrains Mono" pitchFamily="34" charset="-120"/>
              </a:rPr>
              <a:t>Laravel</a:t>
            </a:r>
            <a:endParaRPr lang="en-US" sz="1250" dirty="0"/>
          </a:p>
        </p:txBody>
      </p:sp>
      <p:sp>
        <p:nvSpPr>
          <p:cNvPr id="10" name="Shape 6"/>
          <p:cNvSpPr/>
          <p:nvPr/>
        </p:nvSpPr>
        <p:spPr>
          <a:xfrm>
            <a:off x="5345311" y="3148608"/>
            <a:ext cx="875109" cy="410766"/>
          </a:xfrm>
          <a:prstGeom prst="rect">
            <a:avLst/>
          </a:prstGeom>
          <a:solidFill>
            <a:srgbClr val="1E293B"/>
          </a:solidFill>
          <a:ln w="9144">
            <a:solidFill>
              <a:srgbClr val="334155"/>
            </a:solidFill>
            <a:prstDash val="solid"/>
          </a:ln>
        </p:spPr>
      </p:sp>
      <p:sp>
        <p:nvSpPr>
          <p:cNvPr id="11" name="Text 7"/>
          <p:cNvSpPr/>
          <p:nvPr/>
        </p:nvSpPr>
        <p:spPr>
          <a:xfrm>
            <a:off x="5345311" y="3148608"/>
            <a:ext cx="875109" cy="410766"/>
          </a:xfrm>
          <a:prstGeom prst="rect">
            <a:avLst/>
          </a:prstGeom>
          <a:noFill/>
          <a:ln/>
        </p:spPr>
        <p:txBody>
          <a:bodyPr wrap="none" lIns="204089" tIns="102108" rIns="204089" bIns="102108" rtlCol="0" anchor="t">
            <a:spAutoFit/>
          </a:bodyPr>
          <a:lstStyle/>
          <a:p>
            <a:pPr marL="0" indent="0" algn="ctr">
              <a:buNone/>
            </a:pPr>
            <a:r>
              <a:rPr lang="en-US" sz="1250" dirty="0">
                <a:solidFill>
                  <a:srgbClr val="F59E0B"/>
                </a:solidFill>
                <a:latin typeface="JetBrains Mono" pitchFamily="34" charset="0"/>
                <a:ea typeface="JetBrains Mono" pitchFamily="34" charset="-122"/>
                <a:cs typeface="JetBrains Mono" pitchFamily="34" charset="-120"/>
              </a:rPr>
              <a:t>MySQL</a:t>
            </a:r>
            <a:endParaRPr lang="en-US" sz="1250" dirty="0"/>
          </a:p>
        </p:txBody>
      </p:sp>
      <p:sp>
        <p:nvSpPr>
          <p:cNvPr id="12" name="Text 8"/>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13" name="Text 9"/>
          <p:cNvSpPr/>
          <p:nvPr/>
        </p:nvSpPr>
        <p:spPr>
          <a:xfrm>
            <a:off x="8679656" y="4811316"/>
            <a:ext cx="3571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Technologies Used</a:t>
            </a:r>
            <a:endParaRPr lang="en-US" sz="1600" dirty="0"/>
          </a:p>
        </p:txBody>
      </p:sp>
      <p:sp>
        <p:nvSpPr>
          <p:cNvPr id="5" name="Shape 1"/>
          <p:cNvSpPr/>
          <p:nvPr/>
        </p:nvSpPr>
        <p:spPr>
          <a:xfrm>
            <a:off x="428625" y="985838"/>
            <a:ext cx="1964531" cy="1793081"/>
          </a:xfrm>
          <a:prstGeom prst="rect">
            <a:avLst/>
          </a:prstGeom>
          <a:solidFill>
            <a:srgbClr val="1E293B"/>
          </a:solidFill>
          <a:ln w="9144">
            <a:solidFill>
              <a:srgbClr val="334155"/>
            </a:solidFill>
            <a:prstDash val="solid"/>
          </a:ln>
        </p:spPr>
      </p:sp>
      <p:sp>
        <p:nvSpPr>
          <p:cNvPr id="6" name="Text 2"/>
          <p:cNvSpPr/>
          <p:nvPr/>
        </p:nvSpPr>
        <p:spPr>
          <a:xfrm>
            <a:off x="571500"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Mobile App</a:t>
            </a:r>
            <a:endParaRPr lang="en-US" sz="750" dirty="0"/>
          </a:p>
        </p:txBody>
      </p:sp>
      <p:sp>
        <p:nvSpPr>
          <p:cNvPr id="7" name="Text 3"/>
          <p:cNvSpPr/>
          <p:nvPr/>
        </p:nvSpPr>
        <p:spPr>
          <a:xfrm>
            <a:off x="571500" y="1303734"/>
            <a:ext cx="1678781" cy="171450"/>
          </a:xfrm>
          <a:prstGeom prst="rect">
            <a:avLst/>
          </a:prstGeom>
          <a:noFill/>
          <a:ln/>
        </p:spPr>
        <p:txBody>
          <a:bodyPr wrap="square" lIns="0" tIns="0" rIns="0" bIns="0" rtlCol="0" anchor="t">
            <a:spAutoFit/>
          </a:bodyPr>
          <a:lstStyle/>
          <a:p>
            <a:pPr marL="0" indent="0" algn="l">
              <a:buNone/>
            </a:pPr>
            <a:r>
              <a:rPr lang="en-US" sz="900" b="1" dirty="0">
                <a:solidFill>
                  <a:srgbClr val="06B6D4"/>
                </a:solidFill>
                <a:latin typeface="JetBrains Mono Bold" pitchFamily="34" charset="0"/>
                <a:ea typeface="JetBrains Mono Bold" pitchFamily="34" charset="-122"/>
                <a:cs typeface="JetBrains Mono Bold" pitchFamily="34" charset="-120"/>
              </a:rPr>
              <a:t>Flutter / Dart</a:t>
            </a:r>
            <a:endParaRPr lang="en-US" sz="900" dirty="0"/>
          </a:p>
        </p:txBody>
      </p:sp>
      <p:sp>
        <p:nvSpPr>
          <p:cNvPr id="8" name="Shape 4"/>
          <p:cNvSpPr/>
          <p:nvPr/>
        </p:nvSpPr>
        <p:spPr>
          <a:xfrm>
            <a:off x="2536031" y="985838"/>
            <a:ext cx="1964531" cy="1793081"/>
          </a:xfrm>
          <a:prstGeom prst="rect">
            <a:avLst/>
          </a:prstGeom>
          <a:solidFill>
            <a:srgbClr val="1E293B"/>
          </a:solidFill>
          <a:ln w="9144">
            <a:solidFill>
              <a:srgbClr val="334155"/>
            </a:solidFill>
            <a:prstDash val="solid"/>
          </a:ln>
        </p:spPr>
      </p:sp>
      <p:sp>
        <p:nvSpPr>
          <p:cNvPr id="9" name="Text 5"/>
          <p:cNvSpPr/>
          <p:nvPr/>
        </p:nvSpPr>
        <p:spPr>
          <a:xfrm>
            <a:off x="2678906"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State Management</a:t>
            </a:r>
            <a:endParaRPr lang="en-US" sz="750" dirty="0"/>
          </a:p>
        </p:txBody>
      </p:sp>
      <p:sp>
        <p:nvSpPr>
          <p:cNvPr id="10" name="Text 6"/>
          <p:cNvSpPr/>
          <p:nvPr/>
        </p:nvSpPr>
        <p:spPr>
          <a:xfrm>
            <a:off x="2678906" y="1303734"/>
            <a:ext cx="1678781" cy="171450"/>
          </a:xfrm>
          <a:prstGeom prst="rect">
            <a:avLst/>
          </a:prstGeom>
          <a:noFill/>
          <a:ln/>
        </p:spPr>
        <p:txBody>
          <a:bodyPr wrap="square" lIns="0" tIns="0" rIns="0" bIns="0" rtlCol="0" anchor="t">
            <a:spAutoFit/>
          </a:bodyPr>
          <a:lstStyle/>
          <a:p>
            <a:pPr marL="0" indent="0" algn="l">
              <a:buNone/>
            </a:pPr>
            <a:r>
              <a:rPr lang="en-US" sz="900" b="1" dirty="0">
                <a:solidFill>
                  <a:srgbClr val="06B6D4"/>
                </a:solidFill>
                <a:latin typeface="JetBrains Mono Bold" pitchFamily="34" charset="0"/>
                <a:ea typeface="JetBrains Mono Bold" pitchFamily="34" charset="-122"/>
                <a:cs typeface="JetBrains Mono Bold" pitchFamily="34" charset="-120"/>
              </a:rPr>
              <a:t>GetX</a:t>
            </a:r>
            <a:endParaRPr lang="en-US" sz="900" dirty="0"/>
          </a:p>
        </p:txBody>
      </p:sp>
      <p:sp>
        <p:nvSpPr>
          <p:cNvPr id="11" name="Shape 7"/>
          <p:cNvSpPr/>
          <p:nvPr/>
        </p:nvSpPr>
        <p:spPr>
          <a:xfrm>
            <a:off x="4643438" y="985838"/>
            <a:ext cx="1964531" cy="1793081"/>
          </a:xfrm>
          <a:prstGeom prst="rect">
            <a:avLst/>
          </a:prstGeom>
          <a:solidFill>
            <a:srgbClr val="1E293B"/>
          </a:solidFill>
          <a:ln w="9144">
            <a:solidFill>
              <a:srgbClr val="334155"/>
            </a:solidFill>
            <a:prstDash val="solid"/>
          </a:ln>
        </p:spPr>
      </p:sp>
      <p:sp>
        <p:nvSpPr>
          <p:cNvPr id="12" name="Text 8"/>
          <p:cNvSpPr/>
          <p:nvPr/>
        </p:nvSpPr>
        <p:spPr>
          <a:xfrm>
            <a:off x="4786313"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HTTP Client</a:t>
            </a:r>
            <a:endParaRPr lang="en-US" sz="750" dirty="0"/>
          </a:p>
        </p:txBody>
      </p:sp>
      <p:sp>
        <p:nvSpPr>
          <p:cNvPr id="13" name="Text 9"/>
          <p:cNvSpPr/>
          <p:nvPr/>
        </p:nvSpPr>
        <p:spPr>
          <a:xfrm>
            <a:off x="4786313" y="1303734"/>
            <a:ext cx="1678781" cy="171450"/>
          </a:xfrm>
          <a:prstGeom prst="rect">
            <a:avLst/>
          </a:prstGeom>
          <a:noFill/>
          <a:ln/>
        </p:spPr>
        <p:txBody>
          <a:bodyPr wrap="square" lIns="0" tIns="0" rIns="0" bIns="0" rtlCol="0" anchor="t">
            <a:spAutoFit/>
          </a:bodyPr>
          <a:lstStyle/>
          <a:p>
            <a:pPr marL="0" indent="0" algn="l">
              <a:buNone/>
            </a:pPr>
            <a:r>
              <a:rPr lang="en-US" sz="900" b="1" dirty="0">
                <a:solidFill>
                  <a:srgbClr val="06B6D4"/>
                </a:solidFill>
                <a:latin typeface="JetBrains Mono Bold" pitchFamily="34" charset="0"/>
                <a:ea typeface="JetBrains Mono Bold" pitchFamily="34" charset="-122"/>
                <a:cs typeface="JetBrains Mono Bold" pitchFamily="34" charset="-120"/>
              </a:rPr>
              <a:t>Dio</a:t>
            </a:r>
            <a:endParaRPr lang="en-US" sz="900" dirty="0"/>
          </a:p>
        </p:txBody>
      </p:sp>
      <p:sp>
        <p:nvSpPr>
          <p:cNvPr id="14" name="Shape 10"/>
          <p:cNvSpPr/>
          <p:nvPr/>
        </p:nvSpPr>
        <p:spPr>
          <a:xfrm>
            <a:off x="6750844" y="985838"/>
            <a:ext cx="1964531" cy="1793081"/>
          </a:xfrm>
          <a:prstGeom prst="rect">
            <a:avLst/>
          </a:prstGeom>
          <a:solidFill>
            <a:srgbClr val="1E293B"/>
          </a:solidFill>
          <a:ln w="9144">
            <a:solidFill>
              <a:srgbClr val="334155"/>
            </a:solidFill>
            <a:prstDash val="solid"/>
          </a:ln>
        </p:spPr>
        <p:txBody>
          <a:bodyPr/>
          <a:lstStyle/>
          <a:p>
            <a:endParaRPr lang="en-US"/>
          </a:p>
        </p:txBody>
      </p:sp>
      <p:sp>
        <p:nvSpPr>
          <p:cNvPr id="15" name="Text 11"/>
          <p:cNvSpPr/>
          <p:nvPr/>
        </p:nvSpPr>
        <p:spPr>
          <a:xfrm>
            <a:off x="6893719"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Backend</a:t>
            </a:r>
            <a:endParaRPr lang="en-US" sz="750" dirty="0"/>
          </a:p>
        </p:txBody>
      </p:sp>
      <p:sp>
        <p:nvSpPr>
          <p:cNvPr id="16" name="Text 12"/>
          <p:cNvSpPr/>
          <p:nvPr/>
        </p:nvSpPr>
        <p:spPr>
          <a:xfrm>
            <a:off x="6893719" y="1303734"/>
            <a:ext cx="1678781" cy="171450"/>
          </a:xfrm>
          <a:prstGeom prst="rect">
            <a:avLst/>
          </a:prstGeom>
          <a:noFill/>
          <a:ln/>
        </p:spPr>
        <p:txBody>
          <a:bodyPr wrap="square" lIns="0" tIns="0" rIns="0" bIns="0" rtlCol="0" anchor="t">
            <a:spAutoFit/>
          </a:bodyPr>
          <a:lstStyle/>
          <a:p>
            <a:pPr marL="0" indent="0" algn="l">
              <a:buNone/>
            </a:pPr>
            <a:r>
              <a:rPr lang="en-US" sz="900" b="1" dirty="0">
                <a:solidFill>
                  <a:srgbClr val="F59E0B"/>
                </a:solidFill>
                <a:latin typeface="JetBrains Mono Bold" pitchFamily="34" charset="0"/>
                <a:ea typeface="JetBrains Mono Bold" pitchFamily="34" charset="-122"/>
                <a:cs typeface="JetBrains Mono Bold" pitchFamily="34" charset="-120"/>
              </a:rPr>
              <a:t>Laravel REST API</a:t>
            </a:r>
            <a:endParaRPr lang="en-US" sz="900" dirty="0"/>
          </a:p>
        </p:txBody>
      </p:sp>
      <p:sp>
        <p:nvSpPr>
          <p:cNvPr id="17" name="Shape 13"/>
          <p:cNvSpPr/>
          <p:nvPr/>
        </p:nvSpPr>
        <p:spPr>
          <a:xfrm>
            <a:off x="428625" y="2914650"/>
            <a:ext cx="1964531" cy="1800225"/>
          </a:xfrm>
          <a:prstGeom prst="rect">
            <a:avLst/>
          </a:prstGeom>
          <a:solidFill>
            <a:srgbClr val="1E293B"/>
          </a:solidFill>
          <a:ln w="9144">
            <a:solidFill>
              <a:srgbClr val="334155"/>
            </a:solidFill>
            <a:prstDash val="solid"/>
          </a:ln>
        </p:spPr>
      </p:sp>
      <p:sp>
        <p:nvSpPr>
          <p:cNvPr id="18" name="Text 14"/>
          <p:cNvSpPr/>
          <p:nvPr/>
        </p:nvSpPr>
        <p:spPr>
          <a:xfrm>
            <a:off x="571500" y="3057525"/>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Database</a:t>
            </a:r>
            <a:endParaRPr lang="en-US" sz="750" dirty="0"/>
          </a:p>
        </p:txBody>
      </p:sp>
      <p:sp>
        <p:nvSpPr>
          <p:cNvPr id="19" name="Text 15"/>
          <p:cNvSpPr/>
          <p:nvPr/>
        </p:nvSpPr>
        <p:spPr>
          <a:xfrm>
            <a:off x="571500" y="3232547"/>
            <a:ext cx="1678781" cy="171450"/>
          </a:xfrm>
          <a:prstGeom prst="rect">
            <a:avLst/>
          </a:prstGeom>
          <a:noFill/>
          <a:ln/>
        </p:spPr>
        <p:txBody>
          <a:bodyPr wrap="square" lIns="0" tIns="0" rIns="0" bIns="0" rtlCol="0" anchor="t">
            <a:spAutoFit/>
          </a:bodyPr>
          <a:lstStyle/>
          <a:p>
            <a:pPr marL="0" indent="0" algn="l">
              <a:buNone/>
            </a:pPr>
            <a:r>
              <a:rPr lang="en-US" sz="900" b="1" dirty="0">
                <a:solidFill>
                  <a:srgbClr val="F59E0B"/>
                </a:solidFill>
                <a:latin typeface="JetBrains Mono Bold" pitchFamily="34" charset="0"/>
                <a:ea typeface="JetBrains Mono Bold" pitchFamily="34" charset="-122"/>
                <a:cs typeface="JetBrains Mono Bold" pitchFamily="34" charset="-120"/>
              </a:rPr>
              <a:t>MySQL</a:t>
            </a:r>
            <a:endParaRPr lang="en-US" sz="900" dirty="0"/>
          </a:p>
        </p:txBody>
      </p:sp>
      <p:sp>
        <p:nvSpPr>
          <p:cNvPr id="20" name="Shape 16"/>
          <p:cNvSpPr/>
          <p:nvPr/>
        </p:nvSpPr>
        <p:spPr>
          <a:xfrm>
            <a:off x="2536031" y="2914650"/>
            <a:ext cx="1964531" cy="1800225"/>
          </a:xfrm>
          <a:prstGeom prst="rect">
            <a:avLst/>
          </a:prstGeom>
          <a:solidFill>
            <a:srgbClr val="1E293B"/>
          </a:solidFill>
          <a:ln w="9144">
            <a:solidFill>
              <a:srgbClr val="334155"/>
            </a:solidFill>
            <a:prstDash val="solid"/>
          </a:ln>
        </p:spPr>
      </p:sp>
      <p:sp>
        <p:nvSpPr>
          <p:cNvPr id="21" name="Text 17"/>
          <p:cNvSpPr/>
          <p:nvPr/>
        </p:nvSpPr>
        <p:spPr>
          <a:xfrm>
            <a:off x="2678906" y="3057525"/>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Authentication</a:t>
            </a:r>
            <a:endParaRPr lang="en-US" sz="750" dirty="0"/>
          </a:p>
        </p:txBody>
      </p:sp>
      <p:sp>
        <p:nvSpPr>
          <p:cNvPr id="22" name="Text 18"/>
          <p:cNvSpPr/>
          <p:nvPr/>
        </p:nvSpPr>
        <p:spPr>
          <a:xfrm>
            <a:off x="2678906" y="3232547"/>
            <a:ext cx="1678781" cy="171450"/>
          </a:xfrm>
          <a:prstGeom prst="rect">
            <a:avLst/>
          </a:prstGeom>
          <a:noFill/>
          <a:ln/>
        </p:spPr>
        <p:txBody>
          <a:bodyPr wrap="square" lIns="0" tIns="0" rIns="0" bIns="0" rtlCol="0" anchor="t">
            <a:spAutoFit/>
          </a:bodyPr>
          <a:lstStyle/>
          <a:p>
            <a:pPr marL="0" indent="0" algn="l">
              <a:buNone/>
            </a:pPr>
            <a:r>
              <a:rPr lang="en-US" sz="900" b="1" dirty="0">
                <a:solidFill>
                  <a:srgbClr val="F59E0B"/>
                </a:solidFill>
                <a:latin typeface="JetBrains Mono Bold" pitchFamily="34" charset="0"/>
                <a:ea typeface="JetBrains Mono Bold" pitchFamily="34" charset="-122"/>
                <a:cs typeface="JetBrains Mono Bold" pitchFamily="34" charset="-120"/>
              </a:rPr>
              <a:t>Sanctum / Token</a:t>
            </a:r>
            <a:endParaRPr lang="en-US" sz="900" dirty="0"/>
          </a:p>
        </p:txBody>
      </p:sp>
      <p:sp>
        <p:nvSpPr>
          <p:cNvPr id="23" name="Shape 19"/>
          <p:cNvSpPr/>
          <p:nvPr/>
        </p:nvSpPr>
        <p:spPr>
          <a:xfrm>
            <a:off x="4643438" y="2914650"/>
            <a:ext cx="1964531" cy="1800225"/>
          </a:xfrm>
          <a:prstGeom prst="rect">
            <a:avLst/>
          </a:prstGeom>
          <a:solidFill>
            <a:srgbClr val="1E293B"/>
          </a:solidFill>
          <a:ln w="9144">
            <a:solidFill>
              <a:srgbClr val="334155"/>
            </a:solidFill>
            <a:prstDash val="solid"/>
          </a:ln>
        </p:spPr>
        <p:txBody>
          <a:bodyPr/>
          <a:lstStyle/>
          <a:p>
            <a:endParaRPr lang="en-US" dirty="0"/>
          </a:p>
        </p:txBody>
      </p:sp>
      <p:sp>
        <p:nvSpPr>
          <p:cNvPr id="24" name="Text 20"/>
          <p:cNvSpPr/>
          <p:nvPr/>
        </p:nvSpPr>
        <p:spPr>
          <a:xfrm>
            <a:off x="4786313" y="3057525"/>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Notifications</a:t>
            </a:r>
            <a:endParaRPr lang="en-US" sz="750" dirty="0"/>
          </a:p>
        </p:txBody>
      </p:sp>
      <p:sp>
        <p:nvSpPr>
          <p:cNvPr id="25" name="Text 21"/>
          <p:cNvSpPr/>
          <p:nvPr/>
        </p:nvSpPr>
        <p:spPr>
          <a:xfrm>
            <a:off x="4786313" y="3232547"/>
            <a:ext cx="1678781" cy="138499"/>
          </a:xfrm>
          <a:prstGeom prst="rect">
            <a:avLst/>
          </a:prstGeom>
          <a:noFill/>
          <a:ln/>
        </p:spPr>
        <p:txBody>
          <a:bodyPr wrap="square" lIns="0" tIns="0" rIns="0" bIns="0" rtlCol="0" anchor="t">
            <a:spAutoFit/>
          </a:bodyPr>
          <a:lstStyle/>
          <a:p>
            <a:pPr marL="0" indent="0" algn="l">
              <a:buNone/>
            </a:pPr>
            <a:r>
              <a:rPr lang="en-US" sz="900" b="1" dirty="0">
                <a:solidFill>
                  <a:srgbClr val="06B6D4"/>
                </a:solidFill>
                <a:latin typeface="JetBrains Mono Bold" pitchFamily="34" charset="0"/>
                <a:ea typeface="JetBrains Mono Bold" pitchFamily="34" charset="-122"/>
                <a:cs typeface="JetBrains Mono Bold" pitchFamily="34" charset="-120"/>
              </a:rPr>
              <a:t>Flutter Local</a:t>
            </a:r>
            <a:endParaRPr lang="en-US" sz="900" dirty="0"/>
          </a:p>
        </p:txBody>
      </p:sp>
      <p:sp>
        <p:nvSpPr>
          <p:cNvPr id="26" name="Shape 22"/>
          <p:cNvSpPr/>
          <p:nvPr/>
        </p:nvSpPr>
        <p:spPr>
          <a:xfrm>
            <a:off x="6750844" y="2914650"/>
            <a:ext cx="1964531" cy="1800225"/>
          </a:xfrm>
          <a:prstGeom prst="rect">
            <a:avLst/>
          </a:prstGeom>
          <a:solidFill>
            <a:srgbClr val="1E293B"/>
          </a:solidFill>
          <a:ln w="9144">
            <a:solidFill>
              <a:srgbClr val="334155"/>
            </a:solidFill>
            <a:prstDash val="solid"/>
          </a:ln>
        </p:spPr>
      </p:sp>
      <p:sp>
        <p:nvSpPr>
          <p:cNvPr id="27" name="Text 23"/>
          <p:cNvSpPr/>
          <p:nvPr/>
        </p:nvSpPr>
        <p:spPr>
          <a:xfrm>
            <a:off x="6893719" y="3064669"/>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API Testing</a:t>
            </a:r>
            <a:endParaRPr lang="en-US" sz="750" dirty="0"/>
          </a:p>
        </p:txBody>
      </p:sp>
      <p:sp>
        <p:nvSpPr>
          <p:cNvPr id="28" name="Text 24"/>
          <p:cNvSpPr/>
          <p:nvPr/>
        </p:nvSpPr>
        <p:spPr>
          <a:xfrm>
            <a:off x="6893719" y="3239691"/>
            <a:ext cx="1678781" cy="171450"/>
          </a:xfrm>
          <a:prstGeom prst="rect">
            <a:avLst/>
          </a:prstGeom>
          <a:noFill/>
          <a:ln/>
        </p:spPr>
        <p:txBody>
          <a:bodyPr wrap="square" lIns="0" tIns="0" rIns="0" bIns="0" rtlCol="0" anchor="t">
            <a:spAutoFit/>
          </a:bodyPr>
          <a:lstStyle/>
          <a:p>
            <a:pPr marL="0" indent="0" algn="l">
              <a:buNone/>
            </a:pPr>
            <a:r>
              <a:rPr lang="en-US" sz="900" b="1" dirty="0">
                <a:solidFill>
                  <a:srgbClr val="F59E0B"/>
                </a:solidFill>
                <a:latin typeface="JetBrains Mono Bold" pitchFamily="34" charset="0"/>
                <a:ea typeface="JetBrains Mono Bold" pitchFamily="34" charset="-122"/>
                <a:cs typeface="JetBrains Mono Bold" pitchFamily="34" charset="-120"/>
              </a:rPr>
              <a:t>Postman</a:t>
            </a:r>
            <a:endParaRPr lang="en-US" sz="900" dirty="0"/>
          </a:p>
        </p:txBody>
      </p:sp>
      <p:sp>
        <p:nvSpPr>
          <p:cNvPr id="29" name="Text 25"/>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p:cNvSpPr/>
          <p:nvPr/>
        </p:nvSpPr>
        <p:spPr>
          <a:xfrm>
            <a:off x="8658225" y="4811316"/>
            <a:ext cx="57150"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2</a:t>
            </a:r>
            <a:endParaRPr lang="en-US" sz="750" dirty="0"/>
          </a:p>
        </p:txBody>
      </p:sp>
      <p:pic>
        <p:nvPicPr>
          <p:cNvPr id="37" name="Picture 36">
            <a:extLst>
              <a:ext uri="{FF2B5EF4-FFF2-40B4-BE49-F238E27FC236}">
                <a16:creationId xmlns:a16="http://schemas.microsoft.com/office/drawing/2014/main" id="{E8A8D319-2E76-5F24-D090-58707D23E212}"/>
              </a:ext>
            </a:extLst>
          </p:cNvPr>
          <p:cNvPicPr>
            <a:picLocks noChangeAspect="1"/>
          </p:cNvPicPr>
          <p:nvPr/>
        </p:nvPicPr>
        <p:blipFill>
          <a:blip r:embed="rId4"/>
          <a:stretch>
            <a:fillRect/>
          </a:stretch>
        </p:blipFill>
        <p:spPr>
          <a:xfrm>
            <a:off x="571500" y="1691402"/>
            <a:ext cx="777240" cy="582930"/>
          </a:xfrm>
          <a:prstGeom prst="rect">
            <a:avLst/>
          </a:prstGeom>
        </p:spPr>
      </p:pic>
      <p:pic>
        <p:nvPicPr>
          <p:cNvPr id="39" name="Picture 38">
            <a:extLst>
              <a:ext uri="{FF2B5EF4-FFF2-40B4-BE49-F238E27FC236}">
                <a16:creationId xmlns:a16="http://schemas.microsoft.com/office/drawing/2014/main" id="{1A1BBD61-9FB0-E86B-4608-AC274465D6E3}"/>
              </a:ext>
            </a:extLst>
          </p:cNvPr>
          <p:cNvPicPr>
            <a:picLocks noChangeAspect="1"/>
          </p:cNvPicPr>
          <p:nvPr/>
        </p:nvPicPr>
        <p:blipFill>
          <a:blip r:embed="rId5"/>
          <a:stretch>
            <a:fillRect/>
          </a:stretch>
        </p:blipFill>
        <p:spPr>
          <a:xfrm>
            <a:off x="1410890" y="1674254"/>
            <a:ext cx="587217" cy="587217"/>
          </a:xfrm>
          <a:prstGeom prst="rect">
            <a:avLst/>
          </a:prstGeom>
        </p:spPr>
      </p:pic>
      <p:pic>
        <p:nvPicPr>
          <p:cNvPr id="41" name="Picture 40">
            <a:extLst>
              <a:ext uri="{FF2B5EF4-FFF2-40B4-BE49-F238E27FC236}">
                <a16:creationId xmlns:a16="http://schemas.microsoft.com/office/drawing/2014/main" id="{31767D3E-6071-CBB3-1A17-A8CAF10666F8}"/>
              </a:ext>
            </a:extLst>
          </p:cNvPr>
          <p:cNvPicPr>
            <a:picLocks noChangeAspect="1"/>
          </p:cNvPicPr>
          <p:nvPr/>
        </p:nvPicPr>
        <p:blipFill>
          <a:blip r:embed="rId6"/>
          <a:stretch>
            <a:fillRect/>
          </a:stretch>
        </p:blipFill>
        <p:spPr>
          <a:xfrm>
            <a:off x="3144082" y="1618059"/>
            <a:ext cx="748428" cy="660722"/>
          </a:xfrm>
          <a:prstGeom prst="rect">
            <a:avLst/>
          </a:prstGeom>
        </p:spPr>
      </p:pic>
      <p:pic>
        <p:nvPicPr>
          <p:cNvPr id="43" name="Picture 42">
            <a:extLst>
              <a:ext uri="{FF2B5EF4-FFF2-40B4-BE49-F238E27FC236}">
                <a16:creationId xmlns:a16="http://schemas.microsoft.com/office/drawing/2014/main" id="{FF7E2FE8-121B-8EF2-42F7-124055713915}"/>
              </a:ext>
            </a:extLst>
          </p:cNvPr>
          <p:cNvPicPr>
            <a:picLocks noChangeAspect="1"/>
          </p:cNvPicPr>
          <p:nvPr/>
        </p:nvPicPr>
        <p:blipFill>
          <a:blip r:embed="rId7"/>
          <a:stretch>
            <a:fillRect/>
          </a:stretch>
        </p:blipFill>
        <p:spPr>
          <a:xfrm>
            <a:off x="4875924" y="1691095"/>
            <a:ext cx="1499558" cy="548945"/>
          </a:xfrm>
          <a:prstGeom prst="rect">
            <a:avLst/>
          </a:prstGeom>
        </p:spPr>
      </p:pic>
      <p:pic>
        <p:nvPicPr>
          <p:cNvPr id="49" name="Graphic 48">
            <a:extLst>
              <a:ext uri="{FF2B5EF4-FFF2-40B4-BE49-F238E27FC236}">
                <a16:creationId xmlns:a16="http://schemas.microsoft.com/office/drawing/2014/main" id="{0221C437-17A3-D7C5-4AB2-FEB63D4D1D4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261860" y="1581270"/>
            <a:ext cx="830580" cy="830580"/>
          </a:xfrm>
          <a:prstGeom prst="rect">
            <a:avLst/>
          </a:prstGeom>
        </p:spPr>
      </p:pic>
      <p:pic>
        <p:nvPicPr>
          <p:cNvPr id="51" name="Picture 50">
            <a:extLst>
              <a:ext uri="{FF2B5EF4-FFF2-40B4-BE49-F238E27FC236}">
                <a16:creationId xmlns:a16="http://schemas.microsoft.com/office/drawing/2014/main" id="{C3684EA4-12A4-1BED-C3E4-33FB8BF80D04}"/>
              </a:ext>
            </a:extLst>
          </p:cNvPr>
          <p:cNvPicPr>
            <a:picLocks noChangeAspect="1"/>
          </p:cNvPicPr>
          <p:nvPr/>
        </p:nvPicPr>
        <p:blipFill>
          <a:blip r:embed="rId9"/>
          <a:stretch>
            <a:fillRect/>
          </a:stretch>
        </p:blipFill>
        <p:spPr>
          <a:xfrm>
            <a:off x="741044" y="3461147"/>
            <a:ext cx="1339692" cy="1004769"/>
          </a:xfrm>
          <a:prstGeom prst="rect">
            <a:avLst/>
          </a:prstGeom>
        </p:spPr>
      </p:pic>
      <p:pic>
        <p:nvPicPr>
          <p:cNvPr id="55" name="Picture 54">
            <a:extLst>
              <a:ext uri="{FF2B5EF4-FFF2-40B4-BE49-F238E27FC236}">
                <a16:creationId xmlns:a16="http://schemas.microsoft.com/office/drawing/2014/main" id="{C30EAAF2-EA44-BDE3-5774-83CC3F38A858}"/>
              </a:ext>
            </a:extLst>
          </p:cNvPr>
          <p:cNvPicPr>
            <a:picLocks noChangeAspect="1"/>
          </p:cNvPicPr>
          <p:nvPr/>
        </p:nvPicPr>
        <p:blipFill>
          <a:blip r:embed="rId10"/>
          <a:srcRect l="22047" t="19063" r="20985" b="16855"/>
          <a:stretch>
            <a:fillRect/>
          </a:stretch>
        </p:blipFill>
        <p:spPr>
          <a:xfrm>
            <a:off x="2614639" y="3432571"/>
            <a:ext cx="1678292" cy="1061919"/>
          </a:xfrm>
          <a:prstGeom prst="rect">
            <a:avLst/>
          </a:prstGeom>
        </p:spPr>
      </p:pic>
      <p:pic>
        <p:nvPicPr>
          <p:cNvPr id="57" name="Picture 56">
            <a:extLst>
              <a:ext uri="{FF2B5EF4-FFF2-40B4-BE49-F238E27FC236}">
                <a16:creationId xmlns:a16="http://schemas.microsoft.com/office/drawing/2014/main" id="{17D16599-839B-CBEF-585C-D7784AE213C0}"/>
              </a:ext>
            </a:extLst>
          </p:cNvPr>
          <p:cNvPicPr>
            <a:picLocks noChangeAspect="1"/>
          </p:cNvPicPr>
          <p:nvPr/>
        </p:nvPicPr>
        <p:blipFill>
          <a:blip r:embed="rId11"/>
          <a:stretch>
            <a:fillRect/>
          </a:stretch>
        </p:blipFill>
        <p:spPr>
          <a:xfrm>
            <a:off x="4934923" y="3408054"/>
            <a:ext cx="1258239" cy="1202208"/>
          </a:xfrm>
          <a:prstGeom prst="rect">
            <a:avLst/>
          </a:prstGeom>
        </p:spPr>
      </p:pic>
      <p:pic>
        <p:nvPicPr>
          <p:cNvPr id="61" name="Picture 60">
            <a:extLst>
              <a:ext uri="{FF2B5EF4-FFF2-40B4-BE49-F238E27FC236}">
                <a16:creationId xmlns:a16="http://schemas.microsoft.com/office/drawing/2014/main" id="{B68DEB8A-4938-8E4D-4245-D79EAFE43420}"/>
              </a:ext>
            </a:extLst>
          </p:cNvPr>
          <p:cNvPicPr>
            <a:picLocks noChangeAspect="1"/>
          </p:cNvPicPr>
          <p:nvPr/>
        </p:nvPicPr>
        <p:blipFill>
          <a:blip r:embed="rId12"/>
          <a:stretch>
            <a:fillRect/>
          </a:stretch>
        </p:blipFill>
        <p:spPr>
          <a:xfrm>
            <a:off x="6893718" y="3648168"/>
            <a:ext cx="1678781" cy="5094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029D-3E52-AA26-F43B-10B520BFCB00}"/>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D297D43E-7BF7-C9D9-21B5-D917C131EB8F}"/>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1426A8B8-0C1C-F935-CCDD-B697F0777638}"/>
              </a:ext>
            </a:extLst>
          </p:cNvPr>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Technologies Used</a:t>
            </a:r>
            <a:endParaRPr lang="en-US" sz="1600" dirty="0"/>
          </a:p>
        </p:txBody>
      </p:sp>
      <p:sp>
        <p:nvSpPr>
          <p:cNvPr id="5" name="Shape 1">
            <a:extLst>
              <a:ext uri="{FF2B5EF4-FFF2-40B4-BE49-F238E27FC236}">
                <a16:creationId xmlns:a16="http://schemas.microsoft.com/office/drawing/2014/main" id="{D3328BC6-166B-0A51-62A5-D15AAC7E7E1C}"/>
              </a:ext>
            </a:extLst>
          </p:cNvPr>
          <p:cNvSpPr/>
          <p:nvPr/>
        </p:nvSpPr>
        <p:spPr>
          <a:xfrm>
            <a:off x="428625" y="985838"/>
            <a:ext cx="1964531" cy="1793081"/>
          </a:xfrm>
          <a:prstGeom prst="rect">
            <a:avLst/>
          </a:prstGeom>
          <a:solidFill>
            <a:srgbClr val="1E293B"/>
          </a:solidFill>
          <a:ln w="9144">
            <a:solidFill>
              <a:srgbClr val="334155"/>
            </a:solidFill>
            <a:prstDash val="solid"/>
          </a:ln>
        </p:spPr>
      </p:sp>
      <p:sp>
        <p:nvSpPr>
          <p:cNvPr id="6" name="Text 2">
            <a:extLst>
              <a:ext uri="{FF2B5EF4-FFF2-40B4-BE49-F238E27FC236}">
                <a16:creationId xmlns:a16="http://schemas.microsoft.com/office/drawing/2014/main" id="{77505004-033A-C262-3824-641B062DB649}"/>
              </a:ext>
            </a:extLst>
          </p:cNvPr>
          <p:cNvSpPr/>
          <p:nvPr/>
        </p:nvSpPr>
        <p:spPr>
          <a:xfrm>
            <a:off x="571500"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Image</a:t>
            </a:r>
            <a:endParaRPr lang="en-US" sz="750" dirty="0"/>
          </a:p>
        </p:txBody>
      </p:sp>
      <p:sp>
        <p:nvSpPr>
          <p:cNvPr id="7" name="Text 3">
            <a:extLst>
              <a:ext uri="{FF2B5EF4-FFF2-40B4-BE49-F238E27FC236}">
                <a16:creationId xmlns:a16="http://schemas.microsoft.com/office/drawing/2014/main" id="{6ED9F5E1-4464-2DBA-5FBC-D0F5DBEEE325}"/>
              </a:ext>
            </a:extLst>
          </p:cNvPr>
          <p:cNvSpPr/>
          <p:nvPr/>
        </p:nvSpPr>
        <p:spPr>
          <a:xfrm>
            <a:off x="571500" y="1303734"/>
            <a:ext cx="1678781" cy="138499"/>
          </a:xfrm>
          <a:prstGeom prst="rect">
            <a:avLst/>
          </a:prstGeom>
          <a:noFill/>
          <a:ln/>
        </p:spPr>
        <p:txBody>
          <a:bodyPr wrap="square" lIns="0" tIns="0" rIns="0" bIns="0" rtlCol="0" anchor="t">
            <a:spAutoFit/>
          </a:bodyPr>
          <a:lstStyle/>
          <a:p>
            <a:r>
              <a:rPr lang="en-US" sz="900" dirty="0">
                <a:solidFill>
                  <a:schemeClr val="accent2"/>
                </a:solidFill>
              </a:rPr>
              <a:t>Image Picker/ Image Cropper</a:t>
            </a:r>
          </a:p>
        </p:txBody>
      </p:sp>
      <p:sp>
        <p:nvSpPr>
          <p:cNvPr id="29" name="Text 25">
            <a:extLst>
              <a:ext uri="{FF2B5EF4-FFF2-40B4-BE49-F238E27FC236}">
                <a16:creationId xmlns:a16="http://schemas.microsoft.com/office/drawing/2014/main" id="{6F0DC2B9-139F-1786-F949-581A2120101E}"/>
              </a:ext>
            </a:extLst>
          </p:cNvPr>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a:extLst>
              <a:ext uri="{FF2B5EF4-FFF2-40B4-BE49-F238E27FC236}">
                <a16:creationId xmlns:a16="http://schemas.microsoft.com/office/drawing/2014/main" id="{C0F5465B-106C-ED47-FC9D-8E50540C1614}"/>
              </a:ext>
            </a:extLst>
          </p:cNvPr>
          <p:cNvSpPr/>
          <p:nvPr/>
        </p:nvSpPr>
        <p:spPr>
          <a:xfrm>
            <a:off x="8658224" y="4850606"/>
            <a:ext cx="226695" cy="115416"/>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2-1</a:t>
            </a:r>
            <a:endParaRPr lang="en-US" sz="750" dirty="0"/>
          </a:p>
        </p:txBody>
      </p:sp>
      <p:pic>
        <p:nvPicPr>
          <p:cNvPr id="31" name="Picture 30">
            <a:extLst>
              <a:ext uri="{FF2B5EF4-FFF2-40B4-BE49-F238E27FC236}">
                <a16:creationId xmlns:a16="http://schemas.microsoft.com/office/drawing/2014/main" id="{94598360-FB08-3029-AF4A-11FC873F1877}"/>
              </a:ext>
            </a:extLst>
          </p:cNvPr>
          <p:cNvPicPr>
            <a:picLocks noChangeAspect="1"/>
          </p:cNvPicPr>
          <p:nvPr/>
        </p:nvPicPr>
        <p:blipFill>
          <a:blip r:embed="rId4"/>
          <a:stretch>
            <a:fillRect/>
          </a:stretch>
        </p:blipFill>
        <p:spPr>
          <a:xfrm>
            <a:off x="571500" y="1727983"/>
            <a:ext cx="647700" cy="647700"/>
          </a:xfrm>
          <a:prstGeom prst="rect">
            <a:avLst/>
          </a:prstGeom>
        </p:spPr>
      </p:pic>
      <p:pic>
        <p:nvPicPr>
          <p:cNvPr id="33" name="Picture 32">
            <a:extLst>
              <a:ext uri="{FF2B5EF4-FFF2-40B4-BE49-F238E27FC236}">
                <a16:creationId xmlns:a16="http://schemas.microsoft.com/office/drawing/2014/main" id="{D99C3A56-B877-28D7-63C0-1A68125B6711}"/>
              </a:ext>
            </a:extLst>
          </p:cNvPr>
          <p:cNvPicPr>
            <a:picLocks noChangeAspect="1"/>
          </p:cNvPicPr>
          <p:nvPr/>
        </p:nvPicPr>
        <p:blipFill>
          <a:blip r:embed="rId5"/>
          <a:stretch>
            <a:fillRect/>
          </a:stretch>
        </p:blipFill>
        <p:spPr>
          <a:xfrm>
            <a:off x="1412423" y="1725272"/>
            <a:ext cx="561068" cy="621383"/>
          </a:xfrm>
          <a:prstGeom prst="rect">
            <a:avLst/>
          </a:prstGeom>
        </p:spPr>
      </p:pic>
    </p:spTree>
    <p:extLst>
      <p:ext uri="{BB962C8B-B14F-4D97-AF65-F5344CB8AC3E}">
        <p14:creationId xmlns:p14="http://schemas.microsoft.com/office/powerpoint/2010/main" val="1637275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FAFBC-EEFD-7B05-A570-E2BC195DF8E3}"/>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BE44A099-E20D-340F-F205-3AF4FF20C5BE}"/>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76DE02A9-6B07-544A-5B9C-CEF4170C4A2D}"/>
              </a:ext>
            </a:extLst>
          </p:cNvPr>
          <p:cNvSpPr/>
          <p:nvPr/>
        </p:nvSpPr>
        <p:spPr>
          <a:xfrm>
            <a:off x="428625" y="428625"/>
            <a:ext cx="8286750" cy="246221"/>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Flutter Dependencies</a:t>
            </a:r>
            <a:endParaRPr lang="en-US" sz="1600" dirty="0"/>
          </a:p>
        </p:txBody>
      </p:sp>
      <p:sp>
        <p:nvSpPr>
          <p:cNvPr id="5" name="Shape 1">
            <a:extLst>
              <a:ext uri="{FF2B5EF4-FFF2-40B4-BE49-F238E27FC236}">
                <a16:creationId xmlns:a16="http://schemas.microsoft.com/office/drawing/2014/main" id="{D9BB7010-FC53-7C50-5C25-0AC7FE7AD127}"/>
              </a:ext>
            </a:extLst>
          </p:cNvPr>
          <p:cNvSpPr/>
          <p:nvPr/>
        </p:nvSpPr>
        <p:spPr>
          <a:xfrm>
            <a:off x="428625" y="985838"/>
            <a:ext cx="1964531" cy="1793081"/>
          </a:xfrm>
          <a:prstGeom prst="rect">
            <a:avLst/>
          </a:prstGeom>
          <a:solidFill>
            <a:srgbClr val="1E293B"/>
          </a:solidFill>
          <a:ln w="9144">
            <a:solidFill>
              <a:srgbClr val="334155"/>
            </a:solidFill>
            <a:prstDash val="solid"/>
          </a:ln>
        </p:spPr>
      </p:sp>
      <p:sp>
        <p:nvSpPr>
          <p:cNvPr id="6" name="Text 2">
            <a:extLst>
              <a:ext uri="{FF2B5EF4-FFF2-40B4-BE49-F238E27FC236}">
                <a16:creationId xmlns:a16="http://schemas.microsoft.com/office/drawing/2014/main" id="{59EB878D-DEE0-8DDB-6BA7-064F895B4190}"/>
              </a:ext>
            </a:extLst>
          </p:cNvPr>
          <p:cNvSpPr/>
          <p:nvPr/>
        </p:nvSpPr>
        <p:spPr>
          <a:xfrm>
            <a:off x="571500"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State Management</a:t>
            </a:r>
            <a:endParaRPr lang="en-US" sz="750" dirty="0"/>
          </a:p>
        </p:txBody>
      </p:sp>
      <p:sp>
        <p:nvSpPr>
          <p:cNvPr id="7" name="Text 3">
            <a:extLst>
              <a:ext uri="{FF2B5EF4-FFF2-40B4-BE49-F238E27FC236}">
                <a16:creationId xmlns:a16="http://schemas.microsoft.com/office/drawing/2014/main" id="{58DB654E-519C-53D6-F9DC-116738EF91AE}"/>
              </a:ext>
            </a:extLst>
          </p:cNvPr>
          <p:cNvSpPr/>
          <p:nvPr/>
        </p:nvSpPr>
        <p:spPr>
          <a:xfrm>
            <a:off x="571500" y="1303734"/>
            <a:ext cx="1678781" cy="138499"/>
          </a:xfrm>
          <a:prstGeom prst="rect">
            <a:avLst/>
          </a:prstGeom>
          <a:noFill/>
          <a:ln/>
        </p:spPr>
        <p:txBody>
          <a:bodyPr wrap="square" lIns="0" tIns="0" rIns="0" bIns="0" rtlCol="0" anchor="t">
            <a:spAutoFit/>
          </a:bodyPr>
          <a:lstStyle/>
          <a:p>
            <a:r>
              <a:rPr lang="en-US" sz="900" dirty="0" err="1">
                <a:solidFill>
                  <a:schemeClr val="accent2"/>
                </a:solidFill>
              </a:rPr>
              <a:t>GetX</a:t>
            </a:r>
            <a:endParaRPr lang="en-US" sz="900" dirty="0">
              <a:solidFill>
                <a:schemeClr val="accent2"/>
              </a:solidFill>
            </a:endParaRPr>
          </a:p>
        </p:txBody>
      </p:sp>
      <p:sp>
        <p:nvSpPr>
          <p:cNvPr id="29" name="Text 25">
            <a:extLst>
              <a:ext uri="{FF2B5EF4-FFF2-40B4-BE49-F238E27FC236}">
                <a16:creationId xmlns:a16="http://schemas.microsoft.com/office/drawing/2014/main" id="{05C9577C-A8DE-BB07-93CF-40ED1B1B775F}"/>
              </a:ext>
            </a:extLst>
          </p:cNvPr>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a:extLst>
              <a:ext uri="{FF2B5EF4-FFF2-40B4-BE49-F238E27FC236}">
                <a16:creationId xmlns:a16="http://schemas.microsoft.com/office/drawing/2014/main" id="{27864FBA-4C88-E5F3-A7F9-56E5FA9D9E9B}"/>
              </a:ext>
            </a:extLst>
          </p:cNvPr>
          <p:cNvSpPr/>
          <p:nvPr/>
        </p:nvSpPr>
        <p:spPr>
          <a:xfrm>
            <a:off x="8658224" y="4850606"/>
            <a:ext cx="226695" cy="115416"/>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2-1</a:t>
            </a:r>
            <a:endParaRPr lang="en-US" sz="750" dirty="0"/>
          </a:p>
        </p:txBody>
      </p:sp>
      <p:sp>
        <p:nvSpPr>
          <p:cNvPr id="8" name="Text 2">
            <a:extLst>
              <a:ext uri="{FF2B5EF4-FFF2-40B4-BE49-F238E27FC236}">
                <a16:creationId xmlns:a16="http://schemas.microsoft.com/office/drawing/2014/main" id="{A2CC3072-0B22-B5A4-DA13-036D32E50EDE}"/>
              </a:ext>
            </a:extLst>
          </p:cNvPr>
          <p:cNvSpPr/>
          <p:nvPr/>
        </p:nvSpPr>
        <p:spPr>
          <a:xfrm>
            <a:off x="571499" y="1672470"/>
            <a:ext cx="1678781" cy="369332"/>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State Management </a:t>
            </a:r>
          </a:p>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Dependency Injection </a:t>
            </a:r>
          </a:p>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Navigation</a:t>
            </a:r>
          </a:p>
        </p:txBody>
      </p:sp>
      <p:sp>
        <p:nvSpPr>
          <p:cNvPr id="10" name="Shape 1">
            <a:extLst>
              <a:ext uri="{FF2B5EF4-FFF2-40B4-BE49-F238E27FC236}">
                <a16:creationId xmlns:a16="http://schemas.microsoft.com/office/drawing/2014/main" id="{DD6E02CD-CDEA-876B-BEA2-700460D9647A}"/>
              </a:ext>
            </a:extLst>
          </p:cNvPr>
          <p:cNvSpPr/>
          <p:nvPr/>
        </p:nvSpPr>
        <p:spPr>
          <a:xfrm>
            <a:off x="2475139" y="985838"/>
            <a:ext cx="1964531" cy="1793081"/>
          </a:xfrm>
          <a:prstGeom prst="rect">
            <a:avLst/>
          </a:prstGeom>
          <a:solidFill>
            <a:srgbClr val="1E293B"/>
          </a:solidFill>
          <a:ln w="9144">
            <a:solidFill>
              <a:srgbClr val="334155"/>
            </a:solidFill>
            <a:prstDash val="solid"/>
          </a:ln>
        </p:spPr>
      </p:sp>
      <p:sp>
        <p:nvSpPr>
          <p:cNvPr id="12" name="Text 2">
            <a:extLst>
              <a:ext uri="{FF2B5EF4-FFF2-40B4-BE49-F238E27FC236}">
                <a16:creationId xmlns:a16="http://schemas.microsoft.com/office/drawing/2014/main" id="{5C46B4B2-4C46-61C8-11C3-B7B5493312D5}"/>
              </a:ext>
            </a:extLst>
          </p:cNvPr>
          <p:cNvSpPr/>
          <p:nvPr/>
        </p:nvSpPr>
        <p:spPr>
          <a:xfrm>
            <a:off x="2618014"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Networking</a:t>
            </a:r>
            <a:endParaRPr lang="en-US" sz="750" dirty="0"/>
          </a:p>
        </p:txBody>
      </p:sp>
      <p:sp>
        <p:nvSpPr>
          <p:cNvPr id="14" name="Text 3">
            <a:extLst>
              <a:ext uri="{FF2B5EF4-FFF2-40B4-BE49-F238E27FC236}">
                <a16:creationId xmlns:a16="http://schemas.microsoft.com/office/drawing/2014/main" id="{F52BF28C-D65A-B4D3-0EDD-460DB57CEB73}"/>
              </a:ext>
            </a:extLst>
          </p:cNvPr>
          <p:cNvSpPr/>
          <p:nvPr/>
        </p:nvSpPr>
        <p:spPr>
          <a:xfrm>
            <a:off x="2618014" y="1303734"/>
            <a:ext cx="1678781" cy="138499"/>
          </a:xfrm>
          <a:prstGeom prst="rect">
            <a:avLst/>
          </a:prstGeom>
          <a:noFill/>
          <a:ln/>
        </p:spPr>
        <p:txBody>
          <a:bodyPr wrap="square" lIns="0" tIns="0" rIns="0" bIns="0" rtlCol="0" anchor="t">
            <a:spAutoFit/>
          </a:bodyPr>
          <a:lstStyle/>
          <a:p>
            <a:r>
              <a:rPr lang="en-US" sz="900" dirty="0">
                <a:solidFill>
                  <a:schemeClr val="accent2"/>
                </a:solidFill>
              </a:rPr>
              <a:t>Dio</a:t>
            </a:r>
          </a:p>
        </p:txBody>
      </p:sp>
      <p:sp>
        <p:nvSpPr>
          <p:cNvPr id="16" name="Text 2">
            <a:extLst>
              <a:ext uri="{FF2B5EF4-FFF2-40B4-BE49-F238E27FC236}">
                <a16:creationId xmlns:a16="http://schemas.microsoft.com/office/drawing/2014/main" id="{4747D0BD-00A8-5310-4FBF-3B0C9DB40DBC}"/>
              </a:ext>
            </a:extLst>
          </p:cNvPr>
          <p:cNvSpPr/>
          <p:nvPr/>
        </p:nvSpPr>
        <p:spPr>
          <a:xfrm>
            <a:off x="2618013" y="1672470"/>
            <a:ext cx="1678781" cy="615553"/>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GET </a:t>
            </a:r>
          </a:p>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POST </a:t>
            </a:r>
          </a:p>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PUT </a:t>
            </a:r>
          </a:p>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DELETE </a:t>
            </a:r>
          </a:p>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Multipart Upload</a:t>
            </a:r>
          </a:p>
        </p:txBody>
      </p:sp>
      <p:sp>
        <p:nvSpPr>
          <p:cNvPr id="22" name="Shape 1">
            <a:extLst>
              <a:ext uri="{FF2B5EF4-FFF2-40B4-BE49-F238E27FC236}">
                <a16:creationId xmlns:a16="http://schemas.microsoft.com/office/drawing/2014/main" id="{EB293E6C-A1F2-26E2-30A0-632D72AD87CA}"/>
              </a:ext>
            </a:extLst>
          </p:cNvPr>
          <p:cNvSpPr/>
          <p:nvPr/>
        </p:nvSpPr>
        <p:spPr>
          <a:xfrm>
            <a:off x="4521653" y="985838"/>
            <a:ext cx="1964531" cy="1793081"/>
          </a:xfrm>
          <a:prstGeom prst="rect">
            <a:avLst/>
          </a:prstGeom>
          <a:solidFill>
            <a:srgbClr val="1E293B"/>
          </a:solidFill>
          <a:ln w="9144">
            <a:solidFill>
              <a:srgbClr val="334155"/>
            </a:solidFill>
            <a:prstDash val="solid"/>
          </a:ln>
        </p:spPr>
        <p:txBody>
          <a:bodyPr/>
          <a:lstStyle/>
          <a:p>
            <a:endParaRPr lang="en-US" dirty="0"/>
          </a:p>
        </p:txBody>
      </p:sp>
      <p:sp>
        <p:nvSpPr>
          <p:cNvPr id="24" name="Text 2">
            <a:extLst>
              <a:ext uri="{FF2B5EF4-FFF2-40B4-BE49-F238E27FC236}">
                <a16:creationId xmlns:a16="http://schemas.microsoft.com/office/drawing/2014/main" id="{2D3D8BAF-B0B0-0A9C-6B77-07AED8540C3D}"/>
              </a:ext>
            </a:extLst>
          </p:cNvPr>
          <p:cNvSpPr/>
          <p:nvPr/>
        </p:nvSpPr>
        <p:spPr>
          <a:xfrm>
            <a:off x="4664528"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Storage</a:t>
            </a:r>
            <a:endParaRPr lang="en-US" sz="750" dirty="0"/>
          </a:p>
        </p:txBody>
      </p:sp>
      <p:sp>
        <p:nvSpPr>
          <p:cNvPr id="26" name="Text 3">
            <a:extLst>
              <a:ext uri="{FF2B5EF4-FFF2-40B4-BE49-F238E27FC236}">
                <a16:creationId xmlns:a16="http://schemas.microsoft.com/office/drawing/2014/main" id="{543F7697-2E8A-DCDF-E8DA-30AE3EC7F237}"/>
              </a:ext>
            </a:extLst>
          </p:cNvPr>
          <p:cNvSpPr/>
          <p:nvPr/>
        </p:nvSpPr>
        <p:spPr>
          <a:xfrm>
            <a:off x="4664528" y="1303734"/>
            <a:ext cx="1678781" cy="138499"/>
          </a:xfrm>
          <a:prstGeom prst="rect">
            <a:avLst/>
          </a:prstGeom>
          <a:noFill/>
          <a:ln/>
        </p:spPr>
        <p:txBody>
          <a:bodyPr wrap="square" lIns="0" tIns="0" rIns="0" bIns="0" rtlCol="0" anchor="t">
            <a:spAutoFit/>
          </a:bodyPr>
          <a:lstStyle/>
          <a:p>
            <a:r>
              <a:rPr lang="en-US" sz="900" dirty="0" err="1">
                <a:solidFill>
                  <a:schemeClr val="accent2"/>
                </a:solidFill>
              </a:rPr>
              <a:t>GetStorage</a:t>
            </a:r>
            <a:endParaRPr lang="en-US" sz="900" dirty="0">
              <a:solidFill>
                <a:schemeClr val="accent2"/>
              </a:solidFill>
            </a:endParaRPr>
          </a:p>
        </p:txBody>
      </p:sp>
      <p:sp>
        <p:nvSpPr>
          <p:cNvPr id="28" name="Text 2">
            <a:extLst>
              <a:ext uri="{FF2B5EF4-FFF2-40B4-BE49-F238E27FC236}">
                <a16:creationId xmlns:a16="http://schemas.microsoft.com/office/drawing/2014/main" id="{6939A31C-84FD-1CAF-4D3A-B69573A4F597}"/>
              </a:ext>
            </a:extLst>
          </p:cNvPr>
          <p:cNvSpPr/>
          <p:nvPr/>
        </p:nvSpPr>
        <p:spPr>
          <a:xfrm>
            <a:off x="4664527" y="1672470"/>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Share authentication token</a:t>
            </a:r>
          </a:p>
        </p:txBody>
      </p:sp>
      <p:sp>
        <p:nvSpPr>
          <p:cNvPr id="34" name="Shape 1">
            <a:extLst>
              <a:ext uri="{FF2B5EF4-FFF2-40B4-BE49-F238E27FC236}">
                <a16:creationId xmlns:a16="http://schemas.microsoft.com/office/drawing/2014/main" id="{D53B7F50-5855-9191-5C95-85AAB53500FC}"/>
              </a:ext>
            </a:extLst>
          </p:cNvPr>
          <p:cNvSpPr/>
          <p:nvPr/>
        </p:nvSpPr>
        <p:spPr>
          <a:xfrm>
            <a:off x="6568167" y="985838"/>
            <a:ext cx="1964531" cy="1793081"/>
          </a:xfrm>
          <a:prstGeom prst="rect">
            <a:avLst/>
          </a:prstGeom>
          <a:solidFill>
            <a:srgbClr val="1E293B"/>
          </a:solidFill>
          <a:ln w="9144">
            <a:solidFill>
              <a:srgbClr val="334155"/>
            </a:solidFill>
            <a:prstDash val="solid"/>
          </a:ln>
        </p:spPr>
      </p:sp>
      <p:sp>
        <p:nvSpPr>
          <p:cNvPr id="36" name="Text 2">
            <a:extLst>
              <a:ext uri="{FF2B5EF4-FFF2-40B4-BE49-F238E27FC236}">
                <a16:creationId xmlns:a16="http://schemas.microsoft.com/office/drawing/2014/main" id="{1C521137-93B8-A119-B949-4610105BACD9}"/>
              </a:ext>
            </a:extLst>
          </p:cNvPr>
          <p:cNvSpPr/>
          <p:nvPr/>
        </p:nvSpPr>
        <p:spPr>
          <a:xfrm>
            <a:off x="6711042"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Image</a:t>
            </a:r>
            <a:endParaRPr lang="en-US" sz="750" dirty="0"/>
          </a:p>
        </p:txBody>
      </p:sp>
      <p:sp>
        <p:nvSpPr>
          <p:cNvPr id="38" name="Text 3">
            <a:extLst>
              <a:ext uri="{FF2B5EF4-FFF2-40B4-BE49-F238E27FC236}">
                <a16:creationId xmlns:a16="http://schemas.microsoft.com/office/drawing/2014/main" id="{A99272AB-0030-D145-784D-A97901171121}"/>
              </a:ext>
            </a:extLst>
          </p:cNvPr>
          <p:cNvSpPr/>
          <p:nvPr/>
        </p:nvSpPr>
        <p:spPr>
          <a:xfrm>
            <a:off x="6711042" y="1303734"/>
            <a:ext cx="1678781" cy="138499"/>
          </a:xfrm>
          <a:prstGeom prst="rect">
            <a:avLst/>
          </a:prstGeom>
          <a:noFill/>
          <a:ln/>
        </p:spPr>
        <p:txBody>
          <a:bodyPr wrap="square" lIns="0" tIns="0" rIns="0" bIns="0" rtlCol="0" anchor="t">
            <a:spAutoFit/>
          </a:bodyPr>
          <a:lstStyle/>
          <a:p>
            <a:r>
              <a:rPr lang="en-US" sz="900" dirty="0" err="1">
                <a:solidFill>
                  <a:schemeClr val="accent2"/>
                </a:solidFill>
              </a:rPr>
              <a:t>ImagePicker</a:t>
            </a:r>
            <a:endParaRPr lang="en-US" sz="900" dirty="0">
              <a:solidFill>
                <a:schemeClr val="accent2"/>
              </a:solidFill>
            </a:endParaRPr>
          </a:p>
        </p:txBody>
      </p:sp>
      <p:sp>
        <p:nvSpPr>
          <p:cNvPr id="40" name="Text 2">
            <a:extLst>
              <a:ext uri="{FF2B5EF4-FFF2-40B4-BE49-F238E27FC236}">
                <a16:creationId xmlns:a16="http://schemas.microsoft.com/office/drawing/2014/main" id="{4EF1E625-AA7D-484A-FA4E-DC00341593C8}"/>
              </a:ext>
            </a:extLst>
          </p:cNvPr>
          <p:cNvSpPr/>
          <p:nvPr/>
        </p:nvSpPr>
        <p:spPr>
          <a:xfrm>
            <a:off x="6711041" y="1672470"/>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Select Image</a:t>
            </a:r>
          </a:p>
        </p:txBody>
      </p:sp>
      <p:sp>
        <p:nvSpPr>
          <p:cNvPr id="74" name="Text 3">
            <a:extLst>
              <a:ext uri="{FF2B5EF4-FFF2-40B4-BE49-F238E27FC236}">
                <a16:creationId xmlns:a16="http://schemas.microsoft.com/office/drawing/2014/main" id="{6E1CFA30-59C3-020F-95B7-825E3FEB85E0}"/>
              </a:ext>
            </a:extLst>
          </p:cNvPr>
          <p:cNvSpPr/>
          <p:nvPr/>
        </p:nvSpPr>
        <p:spPr>
          <a:xfrm>
            <a:off x="4664526" y="1923408"/>
            <a:ext cx="1678781" cy="138499"/>
          </a:xfrm>
          <a:prstGeom prst="rect">
            <a:avLst/>
          </a:prstGeom>
          <a:noFill/>
          <a:ln/>
        </p:spPr>
        <p:txBody>
          <a:bodyPr wrap="square" lIns="0" tIns="0" rIns="0" bIns="0" rtlCol="0" anchor="t">
            <a:spAutoFit/>
          </a:bodyPr>
          <a:lstStyle/>
          <a:p>
            <a:r>
              <a:rPr lang="en-US" sz="900" dirty="0" err="1">
                <a:solidFill>
                  <a:schemeClr val="accent2"/>
                </a:solidFill>
              </a:rPr>
              <a:t>SharePreferences</a:t>
            </a:r>
            <a:endParaRPr lang="en-US" sz="900" dirty="0">
              <a:solidFill>
                <a:schemeClr val="accent2"/>
              </a:solidFill>
            </a:endParaRPr>
          </a:p>
        </p:txBody>
      </p:sp>
      <p:sp>
        <p:nvSpPr>
          <p:cNvPr id="76" name="Text 2">
            <a:extLst>
              <a:ext uri="{FF2B5EF4-FFF2-40B4-BE49-F238E27FC236}">
                <a16:creationId xmlns:a16="http://schemas.microsoft.com/office/drawing/2014/main" id="{96C3F0EC-8911-3269-AA78-1DEA69BAAA9C}"/>
              </a:ext>
            </a:extLst>
          </p:cNvPr>
          <p:cNvSpPr/>
          <p:nvPr/>
        </p:nvSpPr>
        <p:spPr>
          <a:xfrm>
            <a:off x="4664527" y="2232761"/>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Store simple local setting</a:t>
            </a:r>
          </a:p>
        </p:txBody>
      </p:sp>
      <p:sp>
        <p:nvSpPr>
          <p:cNvPr id="78" name="Text 3">
            <a:extLst>
              <a:ext uri="{FF2B5EF4-FFF2-40B4-BE49-F238E27FC236}">
                <a16:creationId xmlns:a16="http://schemas.microsoft.com/office/drawing/2014/main" id="{37DCFC8C-09A6-D055-EE55-CDB909682AB3}"/>
              </a:ext>
            </a:extLst>
          </p:cNvPr>
          <p:cNvSpPr/>
          <p:nvPr/>
        </p:nvSpPr>
        <p:spPr>
          <a:xfrm>
            <a:off x="6720564" y="1928113"/>
            <a:ext cx="1678781" cy="138499"/>
          </a:xfrm>
          <a:prstGeom prst="rect">
            <a:avLst/>
          </a:prstGeom>
          <a:noFill/>
          <a:ln/>
        </p:spPr>
        <p:txBody>
          <a:bodyPr wrap="square" lIns="0" tIns="0" rIns="0" bIns="0" rtlCol="0" anchor="t">
            <a:spAutoFit/>
          </a:bodyPr>
          <a:lstStyle/>
          <a:p>
            <a:r>
              <a:rPr lang="en-US" sz="900" dirty="0" err="1">
                <a:solidFill>
                  <a:schemeClr val="accent2"/>
                </a:solidFill>
              </a:rPr>
              <a:t>ImageCropper</a:t>
            </a:r>
            <a:endParaRPr lang="en-US" sz="900" dirty="0">
              <a:solidFill>
                <a:schemeClr val="accent2"/>
              </a:solidFill>
            </a:endParaRPr>
          </a:p>
        </p:txBody>
      </p:sp>
      <p:sp>
        <p:nvSpPr>
          <p:cNvPr id="80" name="Text 2">
            <a:extLst>
              <a:ext uri="{FF2B5EF4-FFF2-40B4-BE49-F238E27FC236}">
                <a16:creationId xmlns:a16="http://schemas.microsoft.com/office/drawing/2014/main" id="{5EB0AC06-C3AF-9FD5-009A-40F3AFF11694}"/>
              </a:ext>
            </a:extLst>
          </p:cNvPr>
          <p:cNvSpPr/>
          <p:nvPr/>
        </p:nvSpPr>
        <p:spPr>
          <a:xfrm>
            <a:off x="6720566" y="2239317"/>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Crop Image</a:t>
            </a:r>
          </a:p>
        </p:txBody>
      </p:sp>
      <p:sp>
        <p:nvSpPr>
          <p:cNvPr id="82" name="Text 2">
            <a:extLst>
              <a:ext uri="{FF2B5EF4-FFF2-40B4-BE49-F238E27FC236}">
                <a16:creationId xmlns:a16="http://schemas.microsoft.com/office/drawing/2014/main" id="{1F5F9ADA-4C59-51CC-62DA-8FFF54BF1441}"/>
              </a:ext>
            </a:extLst>
          </p:cNvPr>
          <p:cNvSpPr/>
          <p:nvPr/>
        </p:nvSpPr>
        <p:spPr>
          <a:xfrm>
            <a:off x="2618012" y="533814"/>
            <a:ext cx="1678781" cy="117872"/>
          </a:xfrm>
          <a:prstGeom prst="rect">
            <a:avLst/>
          </a:prstGeom>
          <a:noFill/>
          <a:ln/>
        </p:spPr>
        <p:txBody>
          <a:bodyPr wrap="square" lIns="0" tIns="0" rIns="0" bIns="0" rtlCol="0" anchor="t">
            <a:spAutoFit/>
          </a:bodyPr>
          <a:lstStyle/>
          <a:p>
            <a:pPr marL="0" indent="0" algn="l">
              <a:buNone/>
            </a:pPr>
            <a:r>
              <a:rPr lang="en-US" sz="750" dirty="0" err="1">
                <a:solidFill>
                  <a:srgbClr val="94A3B8"/>
                </a:solidFill>
                <a:latin typeface="Kantumruy Pro" pitchFamily="34" charset="0"/>
                <a:ea typeface="Kantumruy Pro" pitchFamily="34" charset="-122"/>
                <a:cs typeface="Kantumruy Pro" pitchFamily="34" charset="-120"/>
              </a:rPr>
              <a:t>pubspec.yaml</a:t>
            </a:r>
            <a:endParaRPr lang="en-US" sz="750" dirty="0"/>
          </a:p>
        </p:txBody>
      </p:sp>
    </p:spTree>
    <p:extLst>
      <p:ext uri="{BB962C8B-B14F-4D97-AF65-F5344CB8AC3E}">
        <p14:creationId xmlns:p14="http://schemas.microsoft.com/office/powerpoint/2010/main" val="561902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DF787-2BCD-857F-83DD-7C5F3E115B11}"/>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D8D38CDA-F036-8AA2-8CD1-1F3405969949}"/>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25559B13-2296-C4B8-306D-72C4C88D4836}"/>
              </a:ext>
            </a:extLst>
          </p:cNvPr>
          <p:cNvSpPr/>
          <p:nvPr/>
        </p:nvSpPr>
        <p:spPr>
          <a:xfrm>
            <a:off x="428625" y="428625"/>
            <a:ext cx="8286750" cy="246221"/>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UI &amp; User Experience Packages</a:t>
            </a:r>
            <a:endParaRPr lang="en-US" sz="1600" dirty="0"/>
          </a:p>
        </p:txBody>
      </p:sp>
      <p:sp>
        <p:nvSpPr>
          <p:cNvPr id="5" name="Shape 1">
            <a:extLst>
              <a:ext uri="{FF2B5EF4-FFF2-40B4-BE49-F238E27FC236}">
                <a16:creationId xmlns:a16="http://schemas.microsoft.com/office/drawing/2014/main" id="{B40B8C5F-6AFD-2681-9104-EBDCBC86A6BC}"/>
              </a:ext>
            </a:extLst>
          </p:cNvPr>
          <p:cNvSpPr/>
          <p:nvPr/>
        </p:nvSpPr>
        <p:spPr>
          <a:xfrm>
            <a:off x="428625" y="985838"/>
            <a:ext cx="1964531" cy="1793081"/>
          </a:xfrm>
          <a:prstGeom prst="rect">
            <a:avLst/>
          </a:prstGeom>
          <a:solidFill>
            <a:srgbClr val="1E293B"/>
          </a:solidFill>
          <a:ln w="9144">
            <a:solidFill>
              <a:srgbClr val="334155"/>
            </a:solidFill>
            <a:prstDash val="solid"/>
          </a:ln>
        </p:spPr>
      </p:sp>
      <p:sp>
        <p:nvSpPr>
          <p:cNvPr id="6" name="Text 2">
            <a:extLst>
              <a:ext uri="{FF2B5EF4-FFF2-40B4-BE49-F238E27FC236}">
                <a16:creationId xmlns:a16="http://schemas.microsoft.com/office/drawing/2014/main" id="{A81D875B-AA0A-E347-03F5-DC7607530308}"/>
              </a:ext>
            </a:extLst>
          </p:cNvPr>
          <p:cNvSpPr/>
          <p:nvPr/>
        </p:nvSpPr>
        <p:spPr>
          <a:xfrm>
            <a:off x="571500" y="1128713"/>
            <a:ext cx="1678781" cy="115416"/>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UI/UX Package</a:t>
            </a:r>
            <a:endParaRPr lang="en-US" sz="750" dirty="0"/>
          </a:p>
        </p:txBody>
      </p:sp>
      <p:sp>
        <p:nvSpPr>
          <p:cNvPr id="7" name="Text 3">
            <a:extLst>
              <a:ext uri="{FF2B5EF4-FFF2-40B4-BE49-F238E27FC236}">
                <a16:creationId xmlns:a16="http://schemas.microsoft.com/office/drawing/2014/main" id="{358BCFA7-1490-801C-6FFC-823D73D0ACA2}"/>
              </a:ext>
            </a:extLst>
          </p:cNvPr>
          <p:cNvSpPr/>
          <p:nvPr/>
        </p:nvSpPr>
        <p:spPr>
          <a:xfrm>
            <a:off x="571500" y="1303734"/>
            <a:ext cx="1678781" cy="138499"/>
          </a:xfrm>
          <a:prstGeom prst="rect">
            <a:avLst/>
          </a:prstGeom>
          <a:noFill/>
          <a:ln/>
        </p:spPr>
        <p:txBody>
          <a:bodyPr wrap="square" lIns="0" tIns="0" rIns="0" bIns="0" rtlCol="0" anchor="t">
            <a:spAutoFit/>
          </a:bodyPr>
          <a:lstStyle/>
          <a:p>
            <a:r>
              <a:rPr lang="en-US" sz="900" dirty="0" err="1">
                <a:solidFill>
                  <a:schemeClr val="accent2"/>
                </a:solidFill>
              </a:rPr>
              <a:t>flutter_svg</a:t>
            </a:r>
            <a:endParaRPr lang="en-US" sz="900" dirty="0">
              <a:solidFill>
                <a:schemeClr val="accent2"/>
              </a:solidFill>
            </a:endParaRPr>
          </a:p>
        </p:txBody>
      </p:sp>
      <p:sp>
        <p:nvSpPr>
          <p:cNvPr id="29" name="Text 25">
            <a:extLst>
              <a:ext uri="{FF2B5EF4-FFF2-40B4-BE49-F238E27FC236}">
                <a16:creationId xmlns:a16="http://schemas.microsoft.com/office/drawing/2014/main" id="{5FFABB46-FB9F-5D39-D2F4-2F3DD1E7E41A}"/>
              </a:ext>
            </a:extLst>
          </p:cNvPr>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a:extLst>
              <a:ext uri="{FF2B5EF4-FFF2-40B4-BE49-F238E27FC236}">
                <a16:creationId xmlns:a16="http://schemas.microsoft.com/office/drawing/2014/main" id="{50A0E691-BD07-E4D3-32CB-45F29A0A1018}"/>
              </a:ext>
            </a:extLst>
          </p:cNvPr>
          <p:cNvSpPr/>
          <p:nvPr/>
        </p:nvSpPr>
        <p:spPr>
          <a:xfrm>
            <a:off x="8658224" y="4850606"/>
            <a:ext cx="226695" cy="115416"/>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2-1</a:t>
            </a:r>
            <a:endParaRPr lang="en-US" sz="750" dirty="0"/>
          </a:p>
        </p:txBody>
      </p:sp>
      <p:sp>
        <p:nvSpPr>
          <p:cNvPr id="8" name="Text 2">
            <a:extLst>
              <a:ext uri="{FF2B5EF4-FFF2-40B4-BE49-F238E27FC236}">
                <a16:creationId xmlns:a16="http://schemas.microsoft.com/office/drawing/2014/main" id="{514D6F4B-E4D7-CCAA-D388-91C9FF120F04}"/>
              </a:ext>
            </a:extLst>
          </p:cNvPr>
          <p:cNvSpPr/>
          <p:nvPr/>
        </p:nvSpPr>
        <p:spPr>
          <a:xfrm>
            <a:off x="571499" y="1672470"/>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Display SVG icons/images</a:t>
            </a:r>
          </a:p>
        </p:txBody>
      </p:sp>
      <p:sp>
        <p:nvSpPr>
          <p:cNvPr id="10" name="Shape 1">
            <a:extLst>
              <a:ext uri="{FF2B5EF4-FFF2-40B4-BE49-F238E27FC236}">
                <a16:creationId xmlns:a16="http://schemas.microsoft.com/office/drawing/2014/main" id="{32C4A8F4-58D3-102D-1EF9-8FD6301B0D74}"/>
              </a:ext>
            </a:extLst>
          </p:cNvPr>
          <p:cNvSpPr/>
          <p:nvPr/>
        </p:nvSpPr>
        <p:spPr>
          <a:xfrm>
            <a:off x="2475139" y="985838"/>
            <a:ext cx="1964531" cy="1793081"/>
          </a:xfrm>
          <a:prstGeom prst="rect">
            <a:avLst/>
          </a:prstGeom>
          <a:solidFill>
            <a:srgbClr val="1E293B"/>
          </a:solidFill>
          <a:ln w="9144">
            <a:solidFill>
              <a:srgbClr val="334155"/>
            </a:solidFill>
            <a:prstDash val="solid"/>
          </a:ln>
        </p:spPr>
      </p:sp>
      <p:sp>
        <p:nvSpPr>
          <p:cNvPr id="14" name="Text 3">
            <a:extLst>
              <a:ext uri="{FF2B5EF4-FFF2-40B4-BE49-F238E27FC236}">
                <a16:creationId xmlns:a16="http://schemas.microsoft.com/office/drawing/2014/main" id="{A07BC49D-AF6A-2674-670D-FB91B7C373F4}"/>
              </a:ext>
            </a:extLst>
          </p:cNvPr>
          <p:cNvSpPr/>
          <p:nvPr/>
        </p:nvSpPr>
        <p:spPr>
          <a:xfrm>
            <a:off x="2618014" y="1303734"/>
            <a:ext cx="1678781" cy="138499"/>
          </a:xfrm>
          <a:prstGeom prst="rect">
            <a:avLst/>
          </a:prstGeom>
          <a:noFill/>
          <a:ln/>
        </p:spPr>
        <p:txBody>
          <a:bodyPr wrap="square" lIns="0" tIns="0" rIns="0" bIns="0" rtlCol="0" anchor="t">
            <a:spAutoFit/>
          </a:bodyPr>
          <a:lstStyle/>
          <a:p>
            <a:r>
              <a:rPr lang="en-US" sz="900" dirty="0" err="1">
                <a:solidFill>
                  <a:schemeClr val="accent2"/>
                </a:solidFill>
              </a:rPr>
              <a:t>cached_network_image</a:t>
            </a:r>
            <a:endParaRPr lang="en-US" sz="900" dirty="0">
              <a:solidFill>
                <a:schemeClr val="accent2"/>
              </a:solidFill>
            </a:endParaRPr>
          </a:p>
        </p:txBody>
      </p:sp>
      <p:sp>
        <p:nvSpPr>
          <p:cNvPr id="16" name="Text 2">
            <a:extLst>
              <a:ext uri="{FF2B5EF4-FFF2-40B4-BE49-F238E27FC236}">
                <a16:creationId xmlns:a16="http://schemas.microsoft.com/office/drawing/2014/main" id="{487B5E4A-43A4-EFF5-5EE3-4EE030F6FD0C}"/>
              </a:ext>
            </a:extLst>
          </p:cNvPr>
          <p:cNvSpPr/>
          <p:nvPr/>
        </p:nvSpPr>
        <p:spPr>
          <a:xfrm>
            <a:off x="2618013" y="1672470"/>
            <a:ext cx="1678781" cy="24622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Load and cache network images</a:t>
            </a:r>
          </a:p>
        </p:txBody>
      </p:sp>
      <p:sp>
        <p:nvSpPr>
          <p:cNvPr id="22" name="Shape 1">
            <a:extLst>
              <a:ext uri="{FF2B5EF4-FFF2-40B4-BE49-F238E27FC236}">
                <a16:creationId xmlns:a16="http://schemas.microsoft.com/office/drawing/2014/main" id="{ED12C577-C049-FE1A-A6D1-03C6488324D4}"/>
              </a:ext>
            </a:extLst>
          </p:cNvPr>
          <p:cNvSpPr/>
          <p:nvPr/>
        </p:nvSpPr>
        <p:spPr>
          <a:xfrm>
            <a:off x="4521653" y="985838"/>
            <a:ext cx="1964531" cy="1793081"/>
          </a:xfrm>
          <a:prstGeom prst="rect">
            <a:avLst/>
          </a:prstGeom>
          <a:solidFill>
            <a:srgbClr val="1E293B"/>
          </a:solidFill>
          <a:ln w="9144">
            <a:solidFill>
              <a:srgbClr val="334155"/>
            </a:solidFill>
            <a:prstDash val="solid"/>
          </a:ln>
        </p:spPr>
        <p:txBody>
          <a:bodyPr/>
          <a:lstStyle/>
          <a:p>
            <a:endParaRPr lang="en-US" dirty="0"/>
          </a:p>
        </p:txBody>
      </p:sp>
      <p:sp>
        <p:nvSpPr>
          <p:cNvPr id="24" name="Text 2">
            <a:extLst>
              <a:ext uri="{FF2B5EF4-FFF2-40B4-BE49-F238E27FC236}">
                <a16:creationId xmlns:a16="http://schemas.microsoft.com/office/drawing/2014/main" id="{7F1A7148-E6B8-0FAD-C153-08B6A04BBD29}"/>
              </a:ext>
            </a:extLst>
          </p:cNvPr>
          <p:cNvSpPr/>
          <p:nvPr/>
        </p:nvSpPr>
        <p:spPr>
          <a:xfrm>
            <a:off x="4664528"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UI/UX Package</a:t>
            </a:r>
            <a:endParaRPr lang="en-US" sz="750" dirty="0"/>
          </a:p>
        </p:txBody>
      </p:sp>
      <p:sp>
        <p:nvSpPr>
          <p:cNvPr id="26" name="Text 3">
            <a:extLst>
              <a:ext uri="{FF2B5EF4-FFF2-40B4-BE49-F238E27FC236}">
                <a16:creationId xmlns:a16="http://schemas.microsoft.com/office/drawing/2014/main" id="{DEAD2A54-245A-7B10-6D3F-FF6F8597CD1D}"/>
              </a:ext>
            </a:extLst>
          </p:cNvPr>
          <p:cNvSpPr/>
          <p:nvPr/>
        </p:nvSpPr>
        <p:spPr>
          <a:xfrm>
            <a:off x="4664528" y="1303734"/>
            <a:ext cx="1678781" cy="138499"/>
          </a:xfrm>
          <a:prstGeom prst="rect">
            <a:avLst/>
          </a:prstGeom>
          <a:noFill/>
          <a:ln/>
        </p:spPr>
        <p:txBody>
          <a:bodyPr wrap="square" lIns="0" tIns="0" rIns="0" bIns="0" rtlCol="0" anchor="t">
            <a:spAutoFit/>
          </a:bodyPr>
          <a:lstStyle/>
          <a:p>
            <a:r>
              <a:rPr lang="en-US" sz="900" dirty="0" err="1">
                <a:solidFill>
                  <a:schemeClr val="accent2"/>
                </a:solidFill>
              </a:rPr>
              <a:t>flutter_animate</a:t>
            </a:r>
            <a:endParaRPr lang="en-US" sz="900" dirty="0">
              <a:solidFill>
                <a:schemeClr val="accent2"/>
              </a:solidFill>
            </a:endParaRPr>
          </a:p>
        </p:txBody>
      </p:sp>
      <p:sp>
        <p:nvSpPr>
          <p:cNvPr id="28" name="Text 2">
            <a:extLst>
              <a:ext uri="{FF2B5EF4-FFF2-40B4-BE49-F238E27FC236}">
                <a16:creationId xmlns:a16="http://schemas.microsoft.com/office/drawing/2014/main" id="{9B261E85-483F-5FA5-A61F-CFE5D4B8CC46}"/>
              </a:ext>
            </a:extLst>
          </p:cNvPr>
          <p:cNvSpPr/>
          <p:nvPr/>
        </p:nvSpPr>
        <p:spPr>
          <a:xfrm>
            <a:off x="4664527" y="1672470"/>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UI animations</a:t>
            </a:r>
          </a:p>
        </p:txBody>
      </p:sp>
      <p:sp>
        <p:nvSpPr>
          <p:cNvPr id="34" name="Shape 1">
            <a:extLst>
              <a:ext uri="{FF2B5EF4-FFF2-40B4-BE49-F238E27FC236}">
                <a16:creationId xmlns:a16="http://schemas.microsoft.com/office/drawing/2014/main" id="{CB323A6F-07F3-A6A1-8408-E85AF210F895}"/>
              </a:ext>
            </a:extLst>
          </p:cNvPr>
          <p:cNvSpPr/>
          <p:nvPr/>
        </p:nvSpPr>
        <p:spPr>
          <a:xfrm>
            <a:off x="6568167" y="985838"/>
            <a:ext cx="1964531" cy="1793081"/>
          </a:xfrm>
          <a:prstGeom prst="rect">
            <a:avLst/>
          </a:prstGeom>
          <a:solidFill>
            <a:srgbClr val="1E293B"/>
          </a:solidFill>
          <a:ln w="9144">
            <a:solidFill>
              <a:srgbClr val="334155"/>
            </a:solidFill>
            <a:prstDash val="solid"/>
          </a:ln>
        </p:spPr>
      </p:sp>
      <p:sp>
        <p:nvSpPr>
          <p:cNvPr id="36" name="Text 2">
            <a:extLst>
              <a:ext uri="{FF2B5EF4-FFF2-40B4-BE49-F238E27FC236}">
                <a16:creationId xmlns:a16="http://schemas.microsoft.com/office/drawing/2014/main" id="{98B035D6-4B9E-1A2B-2DF9-175453010A72}"/>
              </a:ext>
            </a:extLst>
          </p:cNvPr>
          <p:cNvSpPr/>
          <p:nvPr/>
        </p:nvSpPr>
        <p:spPr>
          <a:xfrm>
            <a:off x="6711042" y="1128713"/>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UI/UX Package</a:t>
            </a:r>
            <a:endParaRPr lang="en-US" sz="750" dirty="0"/>
          </a:p>
        </p:txBody>
      </p:sp>
      <p:sp>
        <p:nvSpPr>
          <p:cNvPr id="38" name="Text 3">
            <a:extLst>
              <a:ext uri="{FF2B5EF4-FFF2-40B4-BE49-F238E27FC236}">
                <a16:creationId xmlns:a16="http://schemas.microsoft.com/office/drawing/2014/main" id="{0F23825C-607B-410D-1F49-D9BC4967BCF4}"/>
              </a:ext>
            </a:extLst>
          </p:cNvPr>
          <p:cNvSpPr/>
          <p:nvPr/>
        </p:nvSpPr>
        <p:spPr>
          <a:xfrm>
            <a:off x="6711042" y="1303734"/>
            <a:ext cx="1678781" cy="138499"/>
          </a:xfrm>
          <a:prstGeom prst="rect">
            <a:avLst/>
          </a:prstGeom>
          <a:noFill/>
          <a:ln/>
        </p:spPr>
        <p:txBody>
          <a:bodyPr wrap="square" lIns="0" tIns="0" rIns="0" bIns="0" rtlCol="0" anchor="t">
            <a:spAutoFit/>
          </a:bodyPr>
          <a:lstStyle/>
          <a:p>
            <a:r>
              <a:rPr lang="en-US" sz="900" dirty="0" err="1">
                <a:solidFill>
                  <a:schemeClr val="accent2"/>
                </a:solidFill>
              </a:rPr>
              <a:t>intl</a:t>
            </a:r>
            <a:endParaRPr lang="en-US" sz="900" dirty="0">
              <a:solidFill>
                <a:schemeClr val="accent2"/>
              </a:solidFill>
            </a:endParaRPr>
          </a:p>
        </p:txBody>
      </p:sp>
      <p:sp>
        <p:nvSpPr>
          <p:cNvPr id="40" name="Text 2">
            <a:extLst>
              <a:ext uri="{FF2B5EF4-FFF2-40B4-BE49-F238E27FC236}">
                <a16:creationId xmlns:a16="http://schemas.microsoft.com/office/drawing/2014/main" id="{B6E51839-CB64-F9EF-9F1B-61A33B60DCEE}"/>
              </a:ext>
            </a:extLst>
          </p:cNvPr>
          <p:cNvSpPr/>
          <p:nvPr/>
        </p:nvSpPr>
        <p:spPr>
          <a:xfrm>
            <a:off x="6711041" y="1672470"/>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Date and time formatting </a:t>
            </a:r>
          </a:p>
        </p:txBody>
      </p:sp>
      <p:sp>
        <p:nvSpPr>
          <p:cNvPr id="42" name="Shape 1">
            <a:extLst>
              <a:ext uri="{FF2B5EF4-FFF2-40B4-BE49-F238E27FC236}">
                <a16:creationId xmlns:a16="http://schemas.microsoft.com/office/drawing/2014/main" id="{25431C99-80D6-A4AA-E256-F44EA0040D59}"/>
              </a:ext>
            </a:extLst>
          </p:cNvPr>
          <p:cNvSpPr/>
          <p:nvPr/>
        </p:nvSpPr>
        <p:spPr>
          <a:xfrm>
            <a:off x="438149" y="2857273"/>
            <a:ext cx="1964531" cy="1793081"/>
          </a:xfrm>
          <a:prstGeom prst="rect">
            <a:avLst/>
          </a:prstGeom>
          <a:solidFill>
            <a:srgbClr val="1E293B"/>
          </a:solidFill>
          <a:ln w="9144">
            <a:solidFill>
              <a:srgbClr val="334155"/>
            </a:solidFill>
            <a:prstDash val="solid"/>
          </a:ln>
        </p:spPr>
      </p:sp>
      <p:sp>
        <p:nvSpPr>
          <p:cNvPr id="44" name="Text 2">
            <a:extLst>
              <a:ext uri="{FF2B5EF4-FFF2-40B4-BE49-F238E27FC236}">
                <a16:creationId xmlns:a16="http://schemas.microsoft.com/office/drawing/2014/main" id="{53517E74-526C-0679-8941-40770380A8C2}"/>
              </a:ext>
            </a:extLst>
          </p:cNvPr>
          <p:cNvSpPr/>
          <p:nvPr/>
        </p:nvSpPr>
        <p:spPr>
          <a:xfrm>
            <a:off x="581024" y="3000148"/>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cs typeface="Kantumruy Pro" pitchFamily="34" charset="-120"/>
              </a:rPr>
              <a:t>UI/UX Package</a:t>
            </a:r>
            <a:endParaRPr lang="en-US" sz="750" dirty="0"/>
          </a:p>
        </p:txBody>
      </p:sp>
      <p:sp>
        <p:nvSpPr>
          <p:cNvPr id="46" name="Text 3">
            <a:extLst>
              <a:ext uri="{FF2B5EF4-FFF2-40B4-BE49-F238E27FC236}">
                <a16:creationId xmlns:a16="http://schemas.microsoft.com/office/drawing/2014/main" id="{DE724B7F-74EC-A8E9-682E-81AC359F7040}"/>
              </a:ext>
            </a:extLst>
          </p:cNvPr>
          <p:cNvSpPr/>
          <p:nvPr/>
        </p:nvSpPr>
        <p:spPr>
          <a:xfrm>
            <a:off x="581024" y="3175169"/>
            <a:ext cx="1678781" cy="138499"/>
          </a:xfrm>
          <a:prstGeom prst="rect">
            <a:avLst/>
          </a:prstGeom>
          <a:noFill/>
          <a:ln/>
        </p:spPr>
        <p:txBody>
          <a:bodyPr wrap="square" lIns="0" tIns="0" rIns="0" bIns="0" rtlCol="0" anchor="t">
            <a:spAutoFit/>
          </a:bodyPr>
          <a:lstStyle/>
          <a:p>
            <a:r>
              <a:rPr lang="en-US" sz="900" dirty="0" err="1">
                <a:solidFill>
                  <a:schemeClr val="accent2"/>
                </a:solidFill>
              </a:rPr>
              <a:t>url_launcher</a:t>
            </a:r>
            <a:endParaRPr lang="en-US" sz="900" dirty="0">
              <a:solidFill>
                <a:schemeClr val="accent2"/>
              </a:solidFill>
            </a:endParaRPr>
          </a:p>
        </p:txBody>
      </p:sp>
      <p:sp>
        <p:nvSpPr>
          <p:cNvPr id="48" name="Text 2">
            <a:extLst>
              <a:ext uri="{FF2B5EF4-FFF2-40B4-BE49-F238E27FC236}">
                <a16:creationId xmlns:a16="http://schemas.microsoft.com/office/drawing/2014/main" id="{2140EDB3-E9A8-590B-AC48-DF7D3BAFD042}"/>
              </a:ext>
            </a:extLst>
          </p:cNvPr>
          <p:cNvSpPr/>
          <p:nvPr/>
        </p:nvSpPr>
        <p:spPr>
          <a:xfrm>
            <a:off x="581023" y="3543905"/>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Open external URLs</a:t>
            </a:r>
          </a:p>
        </p:txBody>
      </p:sp>
      <p:sp>
        <p:nvSpPr>
          <p:cNvPr id="50" name="Shape 1">
            <a:extLst>
              <a:ext uri="{FF2B5EF4-FFF2-40B4-BE49-F238E27FC236}">
                <a16:creationId xmlns:a16="http://schemas.microsoft.com/office/drawing/2014/main" id="{C7A214F2-6D3C-12A2-84DB-FC43434F0A35}"/>
              </a:ext>
            </a:extLst>
          </p:cNvPr>
          <p:cNvSpPr/>
          <p:nvPr/>
        </p:nvSpPr>
        <p:spPr>
          <a:xfrm>
            <a:off x="2484663" y="2857273"/>
            <a:ext cx="1964531" cy="1793081"/>
          </a:xfrm>
          <a:prstGeom prst="rect">
            <a:avLst/>
          </a:prstGeom>
          <a:solidFill>
            <a:srgbClr val="1E293B"/>
          </a:solidFill>
          <a:ln w="9144">
            <a:solidFill>
              <a:srgbClr val="334155"/>
            </a:solidFill>
            <a:prstDash val="solid"/>
          </a:ln>
        </p:spPr>
      </p:sp>
      <p:sp>
        <p:nvSpPr>
          <p:cNvPr id="52" name="Text 2">
            <a:extLst>
              <a:ext uri="{FF2B5EF4-FFF2-40B4-BE49-F238E27FC236}">
                <a16:creationId xmlns:a16="http://schemas.microsoft.com/office/drawing/2014/main" id="{5BE2F91E-0DD4-0880-1E73-FFCD0674CAAE}"/>
              </a:ext>
            </a:extLst>
          </p:cNvPr>
          <p:cNvSpPr/>
          <p:nvPr/>
        </p:nvSpPr>
        <p:spPr>
          <a:xfrm>
            <a:off x="2627538" y="3000148"/>
            <a:ext cx="1678781" cy="117872"/>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UI/UX Package</a:t>
            </a:r>
            <a:endParaRPr lang="en-US" sz="750" dirty="0"/>
          </a:p>
        </p:txBody>
      </p:sp>
      <p:sp>
        <p:nvSpPr>
          <p:cNvPr id="54" name="Text 3">
            <a:extLst>
              <a:ext uri="{FF2B5EF4-FFF2-40B4-BE49-F238E27FC236}">
                <a16:creationId xmlns:a16="http://schemas.microsoft.com/office/drawing/2014/main" id="{8A2BB2EF-A990-272A-A869-A5BDE122206F}"/>
              </a:ext>
            </a:extLst>
          </p:cNvPr>
          <p:cNvSpPr/>
          <p:nvPr/>
        </p:nvSpPr>
        <p:spPr>
          <a:xfrm>
            <a:off x="2627538" y="3175169"/>
            <a:ext cx="1678781" cy="138499"/>
          </a:xfrm>
          <a:prstGeom prst="rect">
            <a:avLst/>
          </a:prstGeom>
          <a:noFill/>
          <a:ln/>
        </p:spPr>
        <p:txBody>
          <a:bodyPr wrap="square" lIns="0" tIns="0" rIns="0" bIns="0" rtlCol="0" anchor="t">
            <a:spAutoFit/>
          </a:bodyPr>
          <a:lstStyle/>
          <a:p>
            <a:r>
              <a:rPr lang="en-US" sz="900" dirty="0" err="1">
                <a:solidFill>
                  <a:schemeClr val="accent2"/>
                </a:solidFill>
              </a:rPr>
              <a:t>share_plus</a:t>
            </a:r>
            <a:endParaRPr lang="en-US" sz="900" dirty="0">
              <a:solidFill>
                <a:schemeClr val="accent2"/>
              </a:solidFill>
            </a:endParaRPr>
          </a:p>
        </p:txBody>
      </p:sp>
      <p:sp>
        <p:nvSpPr>
          <p:cNvPr id="56" name="Text 2">
            <a:extLst>
              <a:ext uri="{FF2B5EF4-FFF2-40B4-BE49-F238E27FC236}">
                <a16:creationId xmlns:a16="http://schemas.microsoft.com/office/drawing/2014/main" id="{564751C5-60CE-5856-4091-F1920207E648}"/>
              </a:ext>
            </a:extLst>
          </p:cNvPr>
          <p:cNvSpPr/>
          <p:nvPr/>
        </p:nvSpPr>
        <p:spPr>
          <a:xfrm>
            <a:off x="2627537" y="3543905"/>
            <a:ext cx="1678781" cy="123111"/>
          </a:xfrm>
          <a:prstGeom prst="rect">
            <a:avLst/>
          </a:prstGeom>
          <a:noFill/>
          <a:ln/>
        </p:spPr>
        <p:txBody>
          <a:bodyPr wrap="square" lIns="0" tIns="0" rIns="0" bIns="0" rtlCol="0" anchor="t">
            <a:spAutoFit/>
          </a:bodyPr>
          <a:lstStyle/>
          <a:p>
            <a:pPr marL="171450" indent="-171450" algn="l">
              <a:buFont typeface="Arial" panose="020B0604020202020204" pitchFamily="34" charset="0"/>
              <a:buChar char="•"/>
            </a:pPr>
            <a:r>
              <a:rPr lang="en-US" sz="800" dirty="0">
                <a:solidFill>
                  <a:schemeClr val="accent1">
                    <a:lumMod val="20000"/>
                    <a:lumOff val="80000"/>
                  </a:schemeClr>
                </a:solidFill>
                <a:latin typeface="Kantumruy Pro" pitchFamily="34" charset="0"/>
                <a:ea typeface="Kantumruy Pro" pitchFamily="34" charset="-122"/>
                <a:cs typeface="Kantumruy Pro" pitchFamily="34" charset="-120"/>
              </a:rPr>
              <a:t>Share posts/content</a:t>
            </a:r>
          </a:p>
        </p:txBody>
      </p:sp>
      <p:sp>
        <p:nvSpPr>
          <p:cNvPr id="82" name="Text 2">
            <a:extLst>
              <a:ext uri="{FF2B5EF4-FFF2-40B4-BE49-F238E27FC236}">
                <a16:creationId xmlns:a16="http://schemas.microsoft.com/office/drawing/2014/main" id="{17B8BEF9-D389-EA6C-2A54-1743EA9FC797}"/>
              </a:ext>
            </a:extLst>
          </p:cNvPr>
          <p:cNvSpPr/>
          <p:nvPr/>
        </p:nvSpPr>
        <p:spPr>
          <a:xfrm>
            <a:off x="3600279" y="533814"/>
            <a:ext cx="1678781" cy="117872"/>
          </a:xfrm>
          <a:prstGeom prst="rect">
            <a:avLst/>
          </a:prstGeom>
          <a:noFill/>
          <a:ln/>
        </p:spPr>
        <p:txBody>
          <a:bodyPr wrap="square" lIns="0" tIns="0" rIns="0" bIns="0" rtlCol="0" anchor="t">
            <a:spAutoFit/>
          </a:bodyPr>
          <a:lstStyle/>
          <a:p>
            <a:pPr marL="0" indent="0" algn="l">
              <a:buNone/>
            </a:pPr>
            <a:r>
              <a:rPr lang="en-US" sz="750" dirty="0" err="1">
                <a:solidFill>
                  <a:srgbClr val="94A3B8"/>
                </a:solidFill>
                <a:latin typeface="Kantumruy Pro" pitchFamily="34" charset="0"/>
                <a:ea typeface="Kantumruy Pro" pitchFamily="34" charset="-122"/>
                <a:cs typeface="Kantumruy Pro" pitchFamily="34" charset="-120"/>
              </a:rPr>
              <a:t>pubspec.yaml</a:t>
            </a:r>
            <a:endParaRPr lang="en-US" sz="750" dirty="0"/>
          </a:p>
        </p:txBody>
      </p:sp>
      <p:sp>
        <p:nvSpPr>
          <p:cNvPr id="86" name="Text 2">
            <a:extLst>
              <a:ext uri="{FF2B5EF4-FFF2-40B4-BE49-F238E27FC236}">
                <a16:creationId xmlns:a16="http://schemas.microsoft.com/office/drawing/2014/main" id="{060F8C3E-7992-CACC-B337-34972CCECC4F}"/>
              </a:ext>
            </a:extLst>
          </p:cNvPr>
          <p:cNvSpPr/>
          <p:nvPr/>
        </p:nvSpPr>
        <p:spPr>
          <a:xfrm>
            <a:off x="2618012" y="1122638"/>
            <a:ext cx="1678781" cy="115416"/>
          </a:xfrm>
          <a:prstGeom prst="rect">
            <a:avLst/>
          </a:prstGeom>
          <a:noFill/>
          <a:ln/>
        </p:spPr>
        <p:txBody>
          <a:bodyPr wrap="squar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UI/UX Package</a:t>
            </a:r>
            <a:endParaRPr lang="en-US" sz="750" dirty="0"/>
          </a:p>
        </p:txBody>
      </p:sp>
    </p:spTree>
    <p:extLst>
      <p:ext uri="{BB962C8B-B14F-4D97-AF65-F5344CB8AC3E}">
        <p14:creationId xmlns:p14="http://schemas.microsoft.com/office/powerpoint/2010/main" val="23938742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Flutter Project Structure</a:t>
            </a:r>
            <a:endParaRPr lang="en-US" sz="1600" dirty="0"/>
          </a:p>
        </p:txBody>
      </p:sp>
      <p:sp>
        <p:nvSpPr>
          <p:cNvPr id="5" name="Shape 1"/>
          <p:cNvSpPr/>
          <p:nvPr/>
        </p:nvSpPr>
        <p:spPr>
          <a:xfrm>
            <a:off x="428625" y="985838"/>
            <a:ext cx="4150519" cy="3729038"/>
          </a:xfrm>
          <a:prstGeom prst="rect">
            <a:avLst/>
          </a:prstGeom>
          <a:solidFill>
            <a:srgbClr val="1E293B"/>
          </a:solidFill>
          <a:ln w="9144">
            <a:solidFill>
              <a:srgbClr val="334155"/>
            </a:solidFill>
            <a:prstDash val="solid"/>
          </a:ln>
        </p:spPr>
      </p:sp>
      <p:sp>
        <p:nvSpPr>
          <p:cNvPr id="6" name="Text 2"/>
          <p:cNvSpPr/>
          <p:nvPr/>
        </p:nvSpPr>
        <p:spPr>
          <a:xfrm>
            <a:off x="428625" y="985838"/>
            <a:ext cx="4150519" cy="2511265"/>
          </a:xfrm>
          <a:prstGeom prst="rect">
            <a:avLst/>
          </a:prstGeom>
          <a:noFill/>
          <a:ln/>
        </p:spPr>
        <p:txBody>
          <a:bodyPr wrap="square" lIns="255143" tIns="255143" rIns="255143" bIns="255143" rtlCol="0" anchor="t">
            <a:spAutoFit/>
          </a:bodyPr>
          <a:lstStyle/>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lib/</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app/</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bindings/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config/</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constants/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data/</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modules/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routes/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services/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utils/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widget/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r>
              <a:rPr lang="en-US" sz="850" dirty="0" err="1">
                <a:solidFill>
                  <a:srgbClr val="06B6D4"/>
                </a:solidFill>
                <a:latin typeface="JetBrains Mono" pitchFamily="34" charset="0"/>
                <a:ea typeface="JetBrains Mono" pitchFamily="34" charset="-122"/>
                <a:cs typeface="JetBrains Mono" pitchFamily="34" charset="-120"/>
              </a:rPr>
              <a:t>main.dart</a:t>
            </a:r>
            <a:endParaRPr lang="en-US" sz="850" dirty="0"/>
          </a:p>
        </p:txBody>
      </p:sp>
      <p:grpSp>
        <p:nvGrpSpPr>
          <p:cNvPr id="33" name="Group 32">
            <a:extLst>
              <a:ext uri="{FF2B5EF4-FFF2-40B4-BE49-F238E27FC236}">
                <a16:creationId xmlns:a16="http://schemas.microsoft.com/office/drawing/2014/main" id="{C440E93A-A22C-BC19-4D4B-260C25CD7FE0}"/>
              </a:ext>
            </a:extLst>
          </p:cNvPr>
          <p:cNvGrpSpPr/>
          <p:nvPr/>
        </p:nvGrpSpPr>
        <p:grpSpPr>
          <a:xfrm>
            <a:off x="4937352" y="2689521"/>
            <a:ext cx="3714750" cy="388311"/>
            <a:chOff x="4943475" y="4346972"/>
            <a:chExt cx="3714750" cy="388311"/>
          </a:xfrm>
        </p:grpSpPr>
        <p:grpSp>
          <p:nvGrpSpPr>
            <p:cNvPr id="2" name="Group 1">
              <a:extLst>
                <a:ext uri="{FF2B5EF4-FFF2-40B4-BE49-F238E27FC236}">
                  <a16:creationId xmlns:a16="http://schemas.microsoft.com/office/drawing/2014/main" id="{57F49ED1-08A9-1F2A-7B03-35DE9FF7CCB4}"/>
                </a:ext>
              </a:extLst>
            </p:cNvPr>
            <p:cNvGrpSpPr/>
            <p:nvPr/>
          </p:nvGrpSpPr>
          <p:grpSpPr>
            <a:xfrm>
              <a:off x="4943475" y="4346972"/>
              <a:ext cx="3714750" cy="367903"/>
              <a:chOff x="5000625" y="2518172"/>
              <a:chExt cx="3714750" cy="367903"/>
            </a:xfrm>
          </p:grpSpPr>
          <p:sp>
            <p:nvSpPr>
              <p:cNvPr id="16" name="Shape 12"/>
              <p:cNvSpPr/>
              <p:nvPr/>
            </p:nvSpPr>
            <p:spPr>
              <a:xfrm>
                <a:off x="5000625" y="2518172"/>
                <a:ext cx="3714750" cy="367903"/>
              </a:xfrm>
              <a:prstGeom prst="rect">
                <a:avLst/>
              </a:prstGeom>
              <a:solidFill>
                <a:srgbClr val="1E293B"/>
              </a:solidFill>
              <a:ln/>
            </p:spPr>
          </p:sp>
          <p:sp>
            <p:nvSpPr>
              <p:cNvPr id="17" name="Shape 13"/>
              <p:cNvSpPr/>
              <p:nvPr/>
            </p:nvSpPr>
            <p:spPr>
              <a:xfrm>
                <a:off x="5000625" y="2518172"/>
                <a:ext cx="28575" cy="367903"/>
              </a:xfrm>
              <a:prstGeom prst="rect">
                <a:avLst/>
              </a:prstGeom>
              <a:solidFill>
                <a:srgbClr val="06B6D4"/>
              </a:solidFill>
              <a:ln/>
            </p:spPr>
          </p:sp>
        </p:grpSp>
        <p:sp>
          <p:nvSpPr>
            <p:cNvPr id="18" name="Text 14"/>
            <p:cNvSpPr/>
            <p:nvPr/>
          </p:nvSpPr>
          <p:spPr>
            <a:xfrm>
              <a:off x="4943475" y="4346972"/>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JetBrains Mono Bold" pitchFamily="34" charset="0"/>
                  <a:ea typeface="JetBrains Mono Bold" pitchFamily="34" charset="-122"/>
                  <a:cs typeface="Khmer OS Battambang" panose="02000500000000000000" pitchFamily="2" charset="0"/>
                </a:rPr>
                <a:t>bindings</a:t>
              </a:r>
              <a:r>
                <a:rPr lang="en-US" sz="850" dirty="0">
                  <a:solidFill>
                    <a:srgbClr val="F8FAFC"/>
                  </a:solidFill>
                  <a:latin typeface="Khmer Battambang"/>
                  <a:ea typeface="Kantumruy Pro" pitchFamily="34" charset="-122"/>
                  <a:cs typeface="Kantumruy Pro" pitchFamily="34" charset="-120"/>
                </a:rPr>
                <a:t>: </a:t>
              </a:r>
              <a:r>
                <a:rPr lang="en-US" sz="850" dirty="0" err="1">
                  <a:solidFill>
                    <a:srgbClr val="F8FAFC"/>
                  </a:solidFill>
                  <a:latin typeface="Khmer Battambang"/>
                  <a:ea typeface="Kantumruy Pro" pitchFamily="34" charset="-122"/>
                  <a:cs typeface="Kantumruy Pro" pitchFamily="34" charset="-120"/>
                </a:rPr>
                <a:t>សម្រាប</a:t>
              </a:r>
              <a:r>
                <a:rPr lang="en-US" sz="850" dirty="0">
                  <a:solidFill>
                    <a:srgbClr val="F8FAFC"/>
                  </a:solidFill>
                  <a:latin typeface="Khmer Battambang"/>
                  <a:ea typeface="Kantumruy Pro" pitchFamily="34" charset="-122"/>
                  <a:cs typeface="Kantumruy Pro" pitchFamily="34" charset="-120"/>
                </a:rPr>
                <a:t>់ Dependency Injection របស់ GetX</a:t>
              </a:r>
              <a:endParaRPr lang="en-US" sz="800" dirty="0">
                <a:latin typeface="Khmer Battambang"/>
              </a:endParaRPr>
            </a:p>
          </p:txBody>
        </p:sp>
      </p:grpSp>
      <p:sp>
        <p:nvSpPr>
          <p:cNvPr id="19" name="Text 15"/>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20" name="Text 16"/>
          <p:cNvSpPr/>
          <p:nvPr/>
        </p:nvSpPr>
        <p:spPr>
          <a:xfrm>
            <a:off x="8658225" y="4811316"/>
            <a:ext cx="57150"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4</a:t>
            </a:r>
            <a:endParaRPr lang="en-US" sz="750" dirty="0"/>
          </a:p>
        </p:txBody>
      </p:sp>
      <p:grpSp>
        <p:nvGrpSpPr>
          <p:cNvPr id="85" name="Group 84">
            <a:extLst>
              <a:ext uri="{FF2B5EF4-FFF2-40B4-BE49-F238E27FC236}">
                <a16:creationId xmlns:a16="http://schemas.microsoft.com/office/drawing/2014/main" id="{174ED576-127C-D180-4F67-F43E358A3B39}"/>
              </a:ext>
            </a:extLst>
          </p:cNvPr>
          <p:cNvGrpSpPr/>
          <p:nvPr/>
        </p:nvGrpSpPr>
        <p:grpSpPr>
          <a:xfrm>
            <a:off x="4937352" y="1321906"/>
            <a:ext cx="3714750" cy="388311"/>
            <a:chOff x="4943475" y="247831"/>
            <a:chExt cx="3714750" cy="388311"/>
          </a:xfrm>
        </p:grpSpPr>
        <p:grpSp>
          <p:nvGrpSpPr>
            <p:cNvPr id="41" name="Group 40">
              <a:extLst>
                <a:ext uri="{FF2B5EF4-FFF2-40B4-BE49-F238E27FC236}">
                  <a16:creationId xmlns:a16="http://schemas.microsoft.com/office/drawing/2014/main" id="{9F12493B-97CF-6C5E-7736-441774026494}"/>
                </a:ext>
              </a:extLst>
            </p:cNvPr>
            <p:cNvGrpSpPr/>
            <p:nvPr/>
          </p:nvGrpSpPr>
          <p:grpSpPr>
            <a:xfrm>
              <a:off x="4943475" y="247831"/>
              <a:ext cx="3714750" cy="367903"/>
              <a:chOff x="5000625" y="985838"/>
              <a:chExt cx="3714750" cy="367903"/>
            </a:xfrm>
          </p:grpSpPr>
          <p:sp>
            <p:nvSpPr>
              <p:cNvPr id="43" name="Shape 3">
                <a:extLst>
                  <a:ext uri="{FF2B5EF4-FFF2-40B4-BE49-F238E27FC236}">
                    <a16:creationId xmlns:a16="http://schemas.microsoft.com/office/drawing/2014/main" id="{AA7BC664-121E-3F51-900B-90B387B0260F}"/>
                  </a:ext>
                </a:extLst>
              </p:cNvPr>
              <p:cNvSpPr/>
              <p:nvPr/>
            </p:nvSpPr>
            <p:spPr>
              <a:xfrm>
                <a:off x="5000625" y="985838"/>
                <a:ext cx="3714750" cy="367903"/>
              </a:xfrm>
              <a:prstGeom prst="rect">
                <a:avLst/>
              </a:prstGeom>
              <a:solidFill>
                <a:srgbClr val="1E293B"/>
              </a:solidFill>
              <a:ln/>
            </p:spPr>
            <p:txBody>
              <a:bodyPr/>
              <a:lstStyle/>
              <a:p>
                <a:endParaRPr lang="en-US" dirty="0"/>
              </a:p>
            </p:txBody>
          </p:sp>
          <p:sp>
            <p:nvSpPr>
              <p:cNvPr id="44" name="Shape 4">
                <a:extLst>
                  <a:ext uri="{FF2B5EF4-FFF2-40B4-BE49-F238E27FC236}">
                    <a16:creationId xmlns:a16="http://schemas.microsoft.com/office/drawing/2014/main" id="{6F0A095F-1D8A-669B-EEDD-1E7DAE1C8295}"/>
                  </a:ext>
                </a:extLst>
              </p:cNvPr>
              <p:cNvSpPr/>
              <p:nvPr/>
            </p:nvSpPr>
            <p:spPr>
              <a:xfrm>
                <a:off x="5000625" y="985838"/>
                <a:ext cx="28575" cy="367903"/>
              </a:xfrm>
              <a:prstGeom prst="rect">
                <a:avLst/>
              </a:prstGeom>
              <a:solidFill>
                <a:srgbClr val="06B6D4"/>
              </a:solidFill>
              <a:ln/>
            </p:spPr>
          </p:sp>
        </p:grpSp>
        <p:sp>
          <p:nvSpPr>
            <p:cNvPr id="42" name="Text 5">
              <a:extLst>
                <a:ext uri="{FF2B5EF4-FFF2-40B4-BE49-F238E27FC236}">
                  <a16:creationId xmlns:a16="http://schemas.microsoft.com/office/drawing/2014/main" id="{86F54CA3-A186-FD5A-91F6-0D9568C464BA}"/>
                </a:ext>
              </a:extLst>
            </p:cNvPr>
            <p:cNvSpPr/>
            <p:nvPr/>
          </p:nvSpPr>
          <p:spPr>
            <a:xfrm>
              <a:off x="4943475" y="247831"/>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JetBrains Mono Bold" pitchFamily="34" charset="0"/>
                  <a:ea typeface="JetBrains Mono Bold" pitchFamily="34" charset="-122"/>
                </a:rPr>
                <a:t>Lib</a:t>
              </a:r>
              <a:r>
                <a:rPr lang="en-US" sz="800" b="1" dirty="0">
                  <a:solidFill>
                    <a:schemeClr val="bg1">
                      <a:lumMod val="95000"/>
                    </a:schemeClr>
                  </a:solidFill>
                  <a:latin typeface="JetBrains Mono Bold" pitchFamily="34" charset="0"/>
                  <a:ea typeface="JetBrains Mono Bold" pitchFamily="34" charset="-122"/>
                </a:rPr>
                <a:t>: Main directory </a:t>
              </a:r>
              <a:r>
                <a:rPr lang="en-US" sz="850" dirty="0">
                  <a:solidFill>
                    <a:schemeClr val="bg1">
                      <a:lumMod val="95000"/>
                    </a:schemeClr>
                  </a:solidFill>
                  <a:latin typeface="Kantumruy Pro" pitchFamily="34" charset="0"/>
                  <a:cs typeface="Kantumruy Pro" pitchFamily="34" charset="-120"/>
                </a:rPr>
                <a:t>for</a:t>
              </a:r>
              <a:r>
                <a:rPr lang="en-US" sz="800" b="1" dirty="0">
                  <a:solidFill>
                    <a:schemeClr val="bg1">
                      <a:lumMod val="95000"/>
                    </a:schemeClr>
                  </a:solidFill>
                  <a:latin typeface="JetBrains Mono Bold" pitchFamily="34" charset="0"/>
                  <a:ea typeface="JetBrains Mono Bold" pitchFamily="34" charset="-122"/>
                </a:rPr>
                <a:t> Flutter/Dart source code</a:t>
              </a:r>
              <a:endParaRPr lang="en-US" sz="800" dirty="0">
                <a:solidFill>
                  <a:schemeClr val="bg1">
                    <a:lumMod val="95000"/>
                  </a:schemeClr>
                </a:solidFill>
              </a:endParaRPr>
            </a:p>
          </p:txBody>
        </p:sp>
      </p:grpSp>
      <p:grpSp>
        <p:nvGrpSpPr>
          <p:cNvPr id="75" name="Group 74">
            <a:extLst>
              <a:ext uri="{FF2B5EF4-FFF2-40B4-BE49-F238E27FC236}">
                <a16:creationId xmlns:a16="http://schemas.microsoft.com/office/drawing/2014/main" id="{A66C600A-66FB-39CD-EF18-9E4FDA3212F1}"/>
              </a:ext>
            </a:extLst>
          </p:cNvPr>
          <p:cNvGrpSpPr/>
          <p:nvPr/>
        </p:nvGrpSpPr>
        <p:grpSpPr>
          <a:xfrm>
            <a:off x="4937352" y="1731782"/>
            <a:ext cx="3714750" cy="390180"/>
            <a:chOff x="4943475" y="657707"/>
            <a:chExt cx="3714750" cy="390180"/>
          </a:xfrm>
        </p:grpSpPr>
        <p:grpSp>
          <p:nvGrpSpPr>
            <p:cNvPr id="45" name="Group 44">
              <a:extLst>
                <a:ext uri="{FF2B5EF4-FFF2-40B4-BE49-F238E27FC236}">
                  <a16:creationId xmlns:a16="http://schemas.microsoft.com/office/drawing/2014/main" id="{23D529C7-BAB8-729D-4520-F18EBC1E83FC}"/>
                </a:ext>
              </a:extLst>
            </p:cNvPr>
            <p:cNvGrpSpPr/>
            <p:nvPr/>
          </p:nvGrpSpPr>
          <p:grpSpPr>
            <a:xfrm>
              <a:off x="4943475" y="679984"/>
              <a:ext cx="3714750" cy="367903"/>
              <a:chOff x="5000625" y="985838"/>
              <a:chExt cx="3714750" cy="367903"/>
            </a:xfrm>
          </p:grpSpPr>
          <p:sp>
            <p:nvSpPr>
              <p:cNvPr id="46" name="Shape 3">
                <a:extLst>
                  <a:ext uri="{FF2B5EF4-FFF2-40B4-BE49-F238E27FC236}">
                    <a16:creationId xmlns:a16="http://schemas.microsoft.com/office/drawing/2014/main" id="{56204BC8-AFCF-A7E1-27CE-C5BC0DFC7420}"/>
                  </a:ext>
                </a:extLst>
              </p:cNvPr>
              <p:cNvSpPr/>
              <p:nvPr/>
            </p:nvSpPr>
            <p:spPr>
              <a:xfrm>
                <a:off x="5000625" y="985838"/>
                <a:ext cx="3714750" cy="367903"/>
              </a:xfrm>
              <a:prstGeom prst="rect">
                <a:avLst/>
              </a:prstGeom>
              <a:solidFill>
                <a:srgbClr val="1E293B"/>
              </a:solidFill>
              <a:ln/>
            </p:spPr>
            <p:txBody>
              <a:bodyPr/>
              <a:lstStyle/>
              <a:p>
                <a:endParaRPr lang="en-US" dirty="0"/>
              </a:p>
            </p:txBody>
          </p:sp>
          <p:sp>
            <p:nvSpPr>
              <p:cNvPr id="47" name="Shape 4">
                <a:extLst>
                  <a:ext uri="{FF2B5EF4-FFF2-40B4-BE49-F238E27FC236}">
                    <a16:creationId xmlns:a16="http://schemas.microsoft.com/office/drawing/2014/main" id="{3FD1994A-7841-5C95-037D-CEF4E6C9EE10}"/>
                  </a:ext>
                </a:extLst>
              </p:cNvPr>
              <p:cNvSpPr/>
              <p:nvPr/>
            </p:nvSpPr>
            <p:spPr>
              <a:xfrm>
                <a:off x="5000625" y="985838"/>
                <a:ext cx="28575" cy="367903"/>
              </a:xfrm>
              <a:prstGeom prst="rect">
                <a:avLst/>
              </a:prstGeom>
              <a:solidFill>
                <a:srgbClr val="06B6D4"/>
              </a:solidFill>
              <a:ln/>
            </p:spPr>
          </p:sp>
        </p:grpSp>
        <p:sp>
          <p:nvSpPr>
            <p:cNvPr id="52" name="Text 5">
              <a:extLst>
                <a:ext uri="{FF2B5EF4-FFF2-40B4-BE49-F238E27FC236}">
                  <a16:creationId xmlns:a16="http://schemas.microsoft.com/office/drawing/2014/main" id="{FCEE47C9-1ED8-C592-881D-F9D523969EAD}"/>
                </a:ext>
              </a:extLst>
            </p:cNvPr>
            <p:cNvSpPr/>
            <p:nvPr/>
          </p:nvSpPr>
          <p:spPr>
            <a:xfrm>
              <a:off x="4943475" y="657707"/>
              <a:ext cx="3714750" cy="388311"/>
            </a:xfrm>
            <a:prstGeom prst="rect">
              <a:avLst/>
            </a:prstGeom>
            <a:noFill/>
            <a:ln/>
          </p:spPr>
          <p:txBody>
            <a:bodyPr wrap="square" lIns="127508" tIns="127508" rIns="127508" bIns="127508" rtlCol="0" anchor="t">
              <a:spAutoFit/>
            </a:bodyPr>
            <a:lstStyle/>
            <a:p>
              <a:pPr marL="0" indent="0" algn="l">
                <a:buNone/>
              </a:pPr>
              <a:r>
                <a:rPr lang="en-US" sz="800" b="1" dirty="0" err="1">
                  <a:solidFill>
                    <a:srgbClr val="06B6D4"/>
                  </a:solidFill>
                  <a:latin typeface="JetBrains Mono Bold" pitchFamily="34" charset="0"/>
                  <a:ea typeface="JetBrains Mono Bold" pitchFamily="34" charset="-122"/>
                </a:rPr>
                <a:t>main.dart</a:t>
              </a:r>
              <a:r>
                <a:rPr lang="en-US" sz="800" b="1" dirty="0">
                  <a:solidFill>
                    <a:srgbClr val="06B6D4"/>
                  </a:solidFill>
                  <a:latin typeface="JetBrains Mono Bold" pitchFamily="34" charset="0"/>
                  <a:ea typeface="JetBrains Mono Bold" pitchFamily="34" charset="-122"/>
                </a:rPr>
                <a:t> </a:t>
              </a:r>
              <a:r>
                <a:rPr lang="en-US" sz="800" b="1" dirty="0">
                  <a:solidFill>
                    <a:schemeClr val="bg1">
                      <a:lumMod val="95000"/>
                    </a:schemeClr>
                  </a:solidFill>
                  <a:latin typeface="JetBrains Mono Bold" pitchFamily="34" charset="0"/>
                  <a:ea typeface="JetBrains Mono Bold" pitchFamily="34" charset="-122"/>
                </a:rPr>
                <a:t>: Entry point</a:t>
              </a:r>
              <a:endParaRPr lang="en-US" sz="800" dirty="0">
                <a:solidFill>
                  <a:schemeClr val="bg1">
                    <a:lumMod val="95000"/>
                  </a:schemeClr>
                </a:solidFill>
              </a:endParaRPr>
            </a:p>
          </p:txBody>
        </p:sp>
      </p:grpSp>
      <p:grpSp>
        <p:nvGrpSpPr>
          <p:cNvPr id="76" name="Group 75">
            <a:extLst>
              <a:ext uri="{FF2B5EF4-FFF2-40B4-BE49-F238E27FC236}">
                <a16:creationId xmlns:a16="http://schemas.microsoft.com/office/drawing/2014/main" id="{E1197FC5-403A-B4B3-00AA-21AE3A86C2C2}"/>
              </a:ext>
            </a:extLst>
          </p:cNvPr>
          <p:cNvGrpSpPr/>
          <p:nvPr/>
        </p:nvGrpSpPr>
        <p:grpSpPr>
          <a:xfrm>
            <a:off x="4937352" y="2182051"/>
            <a:ext cx="3714750" cy="390180"/>
            <a:chOff x="4943475" y="1128713"/>
            <a:chExt cx="3714750" cy="390180"/>
          </a:xfrm>
        </p:grpSpPr>
        <p:grpSp>
          <p:nvGrpSpPr>
            <p:cNvPr id="53" name="Group 52">
              <a:extLst>
                <a:ext uri="{FF2B5EF4-FFF2-40B4-BE49-F238E27FC236}">
                  <a16:creationId xmlns:a16="http://schemas.microsoft.com/office/drawing/2014/main" id="{6D2112B1-F5DB-F75C-0D9B-CCD6A2C72C07}"/>
                </a:ext>
              </a:extLst>
            </p:cNvPr>
            <p:cNvGrpSpPr/>
            <p:nvPr/>
          </p:nvGrpSpPr>
          <p:grpSpPr>
            <a:xfrm>
              <a:off x="4943475" y="1150990"/>
              <a:ext cx="3714750" cy="367903"/>
              <a:chOff x="5000625" y="985838"/>
              <a:chExt cx="3714750" cy="367903"/>
            </a:xfrm>
          </p:grpSpPr>
          <p:sp>
            <p:nvSpPr>
              <p:cNvPr id="54" name="Shape 3">
                <a:extLst>
                  <a:ext uri="{FF2B5EF4-FFF2-40B4-BE49-F238E27FC236}">
                    <a16:creationId xmlns:a16="http://schemas.microsoft.com/office/drawing/2014/main" id="{B6250983-5670-5C22-2AFC-330FAE4B3F38}"/>
                  </a:ext>
                </a:extLst>
              </p:cNvPr>
              <p:cNvSpPr/>
              <p:nvPr/>
            </p:nvSpPr>
            <p:spPr>
              <a:xfrm>
                <a:off x="5000625" y="985838"/>
                <a:ext cx="3714750" cy="367903"/>
              </a:xfrm>
              <a:prstGeom prst="rect">
                <a:avLst/>
              </a:prstGeom>
              <a:solidFill>
                <a:srgbClr val="1E293B"/>
              </a:solidFill>
              <a:ln/>
            </p:spPr>
            <p:txBody>
              <a:bodyPr/>
              <a:lstStyle/>
              <a:p>
                <a:endParaRPr lang="en-US" dirty="0"/>
              </a:p>
            </p:txBody>
          </p:sp>
          <p:sp>
            <p:nvSpPr>
              <p:cNvPr id="55" name="Shape 4">
                <a:extLst>
                  <a:ext uri="{FF2B5EF4-FFF2-40B4-BE49-F238E27FC236}">
                    <a16:creationId xmlns:a16="http://schemas.microsoft.com/office/drawing/2014/main" id="{5E3CBF43-8D38-7B1D-1940-AB6B76999523}"/>
                  </a:ext>
                </a:extLst>
              </p:cNvPr>
              <p:cNvSpPr/>
              <p:nvPr/>
            </p:nvSpPr>
            <p:spPr>
              <a:xfrm>
                <a:off x="5000625" y="985838"/>
                <a:ext cx="28575" cy="367903"/>
              </a:xfrm>
              <a:prstGeom prst="rect">
                <a:avLst/>
              </a:prstGeom>
              <a:solidFill>
                <a:srgbClr val="06B6D4"/>
              </a:solidFill>
              <a:ln/>
            </p:spPr>
          </p:sp>
        </p:grpSp>
        <p:sp>
          <p:nvSpPr>
            <p:cNvPr id="56" name="Text 5">
              <a:extLst>
                <a:ext uri="{FF2B5EF4-FFF2-40B4-BE49-F238E27FC236}">
                  <a16:creationId xmlns:a16="http://schemas.microsoft.com/office/drawing/2014/main" id="{75CAB8DF-CE62-B1F4-4FC9-37FD935D6A88}"/>
                </a:ext>
              </a:extLst>
            </p:cNvPr>
            <p:cNvSpPr/>
            <p:nvPr/>
          </p:nvSpPr>
          <p:spPr>
            <a:xfrm>
              <a:off x="4943475" y="1128713"/>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JetBrains Mono Bold" pitchFamily="34" charset="0"/>
                  <a:ea typeface="JetBrains Mono Bold" pitchFamily="34" charset="-122"/>
                </a:rPr>
                <a:t>app/</a:t>
              </a:r>
              <a:r>
                <a:rPr lang="en-US" sz="800" b="1" dirty="0">
                  <a:solidFill>
                    <a:schemeClr val="bg1">
                      <a:lumMod val="95000"/>
                    </a:schemeClr>
                  </a:solidFill>
                  <a:latin typeface="JetBrains Mono Bold" pitchFamily="34" charset="0"/>
                  <a:ea typeface="JetBrains Mono Bold" pitchFamily="34" charset="-122"/>
                </a:rPr>
                <a:t>: Contains the application's main architecture</a:t>
              </a:r>
              <a:endParaRPr lang="en-US" sz="800" dirty="0">
                <a:solidFill>
                  <a:schemeClr val="bg1">
                    <a:lumMod val="95000"/>
                  </a:schemeClr>
                </a:solidFill>
              </a:endParaRPr>
            </a:p>
          </p:txBody>
        </p:sp>
      </p:grpSp>
      <p:grpSp>
        <p:nvGrpSpPr>
          <p:cNvPr id="61" name="Group 60">
            <a:extLst>
              <a:ext uri="{FF2B5EF4-FFF2-40B4-BE49-F238E27FC236}">
                <a16:creationId xmlns:a16="http://schemas.microsoft.com/office/drawing/2014/main" id="{03B3075F-BCEC-1F43-38F1-7B7D93B6332F}"/>
              </a:ext>
            </a:extLst>
          </p:cNvPr>
          <p:cNvGrpSpPr/>
          <p:nvPr/>
        </p:nvGrpSpPr>
        <p:grpSpPr>
          <a:xfrm>
            <a:off x="4937352" y="3134583"/>
            <a:ext cx="3714750" cy="388311"/>
            <a:chOff x="4943475" y="4346972"/>
            <a:chExt cx="3714750" cy="388311"/>
          </a:xfrm>
        </p:grpSpPr>
        <p:grpSp>
          <p:nvGrpSpPr>
            <p:cNvPr id="62" name="Group 61">
              <a:extLst>
                <a:ext uri="{FF2B5EF4-FFF2-40B4-BE49-F238E27FC236}">
                  <a16:creationId xmlns:a16="http://schemas.microsoft.com/office/drawing/2014/main" id="{E75F7B1C-5A68-9446-65D5-00609A5CEBEE}"/>
                </a:ext>
              </a:extLst>
            </p:cNvPr>
            <p:cNvGrpSpPr/>
            <p:nvPr/>
          </p:nvGrpSpPr>
          <p:grpSpPr>
            <a:xfrm>
              <a:off x="4943475" y="4346972"/>
              <a:ext cx="3714750" cy="367903"/>
              <a:chOff x="5000625" y="2518172"/>
              <a:chExt cx="3714750" cy="367903"/>
            </a:xfrm>
          </p:grpSpPr>
          <p:sp>
            <p:nvSpPr>
              <p:cNvPr id="64" name="Shape 12">
                <a:extLst>
                  <a:ext uri="{FF2B5EF4-FFF2-40B4-BE49-F238E27FC236}">
                    <a16:creationId xmlns:a16="http://schemas.microsoft.com/office/drawing/2014/main" id="{1EA4EB41-3545-6294-178E-447F62C9B190}"/>
                  </a:ext>
                </a:extLst>
              </p:cNvPr>
              <p:cNvSpPr/>
              <p:nvPr/>
            </p:nvSpPr>
            <p:spPr>
              <a:xfrm>
                <a:off x="5000625" y="2518172"/>
                <a:ext cx="3714750" cy="367903"/>
              </a:xfrm>
              <a:prstGeom prst="rect">
                <a:avLst/>
              </a:prstGeom>
              <a:solidFill>
                <a:srgbClr val="1E293B"/>
              </a:solidFill>
              <a:ln/>
            </p:spPr>
          </p:sp>
          <p:sp>
            <p:nvSpPr>
              <p:cNvPr id="65" name="Shape 13">
                <a:extLst>
                  <a:ext uri="{FF2B5EF4-FFF2-40B4-BE49-F238E27FC236}">
                    <a16:creationId xmlns:a16="http://schemas.microsoft.com/office/drawing/2014/main" id="{5F4910A7-FD11-F4A4-5D84-8BFD69666281}"/>
                  </a:ext>
                </a:extLst>
              </p:cNvPr>
              <p:cNvSpPr/>
              <p:nvPr/>
            </p:nvSpPr>
            <p:spPr>
              <a:xfrm>
                <a:off x="5000625" y="2518172"/>
                <a:ext cx="28575" cy="367903"/>
              </a:xfrm>
              <a:prstGeom prst="rect">
                <a:avLst/>
              </a:prstGeom>
              <a:solidFill>
                <a:srgbClr val="06B6D4"/>
              </a:solidFill>
              <a:ln/>
            </p:spPr>
          </p:sp>
        </p:grpSp>
        <p:sp>
          <p:nvSpPr>
            <p:cNvPr id="63" name="Text 14">
              <a:extLst>
                <a:ext uri="{FF2B5EF4-FFF2-40B4-BE49-F238E27FC236}">
                  <a16:creationId xmlns:a16="http://schemas.microsoft.com/office/drawing/2014/main" id="{D3263678-E1DB-127F-D111-0D77AE6C5EC2}"/>
                </a:ext>
              </a:extLst>
            </p:cNvPr>
            <p:cNvSpPr/>
            <p:nvPr/>
          </p:nvSpPr>
          <p:spPr>
            <a:xfrm>
              <a:off x="4943475" y="4346972"/>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JetBrains Mono Bold" pitchFamily="34" charset="0"/>
                  <a:ea typeface="JetBrains Mono Bold" pitchFamily="34" charset="-122"/>
                  <a:cs typeface="JetBrains Mono Bold" pitchFamily="34" charset="-120"/>
                </a:rPr>
                <a:t>config : </a:t>
              </a:r>
              <a:r>
                <a:rPr lang="km-KH" sz="800" b="1" dirty="0">
                  <a:solidFill>
                    <a:schemeClr val="bg1">
                      <a:lumMod val="95000"/>
                    </a:schemeClr>
                  </a:solidFill>
                  <a:latin typeface="JetBrains Mono Bold" pitchFamily="34" charset="0"/>
                  <a:ea typeface="JetBrains Mono Bold" pitchFamily="34" charset="-122"/>
                  <a:cs typeface="JetBrains Mono Bold" pitchFamily="34" charset="-120"/>
                </a:rPr>
                <a:t>ប្រើសម្រាប់ </a:t>
              </a:r>
              <a:r>
                <a:rPr lang="en-US" sz="800" b="1" dirty="0">
                  <a:solidFill>
                    <a:schemeClr val="bg1">
                      <a:lumMod val="95000"/>
                    </a:schemeClr>
                  </a:solidFill>
                  <a:latin typeface="JetBrains Mono Bold" pitchFamily="34" charset="0"/>
                  <a:ea typeface="JetBrains Mono Bold" pitchFamily="34" charset="-122"/>
                  <a:cs typeface="JetBrains Mono Bold" pitchFamily="34" charset="-120"/>
                </a:rPr>
                <a:t>API Configuration </a:t>
              </a:r>
              <a:r>
                <a:rPr lang="km-KH" sz="800" b="1" dirty="0">
                  <a:solidFill>
                    <a:schemeClr val="bg1">
                      <a:lumMod val="95000"/>
                    </a:schemeClr>
                  </a:solidFill>
                  <a:latin typeface="JetBrains Mono Bold" pitchFamily="34" charset="0"/>
                  <a:ea typeface="JetBrains Mono Bold" pitchFamily="34" charset="-122"/>
                  <a:cs typeface="JetBrains Mono Bold" pitchFamily="34" charset="-120"/>
                </a:rPr>
                <a:t>និង </a:t>
              </a:r>
              <a:r>
                <a:rPr lang="en-US" sz="800" b="1" dirty="0">
                  <a:solidFill>
                    <a:schemeClr val="bg1">
                      <a:lumMod val="95000"/>
                    </a:schemeClr>
                  </a:solidFill>
                  <a:latin typeface="JetBrains Mono Bold" pitchFamily="34" charset="0"/>
                  <a:ea typeface="JetBrains Mono Bold" pitchFamily="34" charset="-122"/>
                  <a:cs typeface="JetBrains Mono Bold" pitchFamily="34" charset="-120"/>
                </a:rPr>
                <a:t>Application Configuration</a:t>
              </a:r>
              <a:endParaRPr lang="en-US" sz="800" dirty="0">
                <a:solidFill>
                  <a:schemeClr val="bg1">
                    <a:lumMod val="95000"/>
                  </a:schemeClr>
                </a:solidFill>
              </a:endParaRPr>
            </a:p>
          </p:txBody>
        </p:sp>
      </p:grpSp>
      <p:grpSp>
        <p:nvGrpSpPr>
          <p:cNvPr id="87" name="Group 86">
            <a:extLst>
              <a:ext uri="{FF2B5EF4-FFF2-40B4-BE49-F238E27FC236}">
                <a16:creationId xmlns:a16="http://schemas.microsoft.com/office/drawing/2014/main" id="{1C592B06-619C-CACE-D42C-17FB1C4EDAAC}"/>
              </a:ext>
            </a:extLst>
          </p:cNvPr>
          <p:cNvGrpSpPr/>
          <p:nvPr/>
        </p:nvGrpSpPr>
        <p:grpSpPr>
          <a:xfrm>
            <a:off x="4937352" y="3589112"/>
            <a:ext cx="3714750" cy="388311"/>
            <a:chOff x="4943475" y="4346972"/>
            <a:chExt cx="3714750" cy="388311"/>
          </a:xfrm>
        </p:grpSpPr>
        <p:grpSp>
          <p:nvGrpSpPr>
            <p:cNvPr id="88" name="Group 87">
              <a:extLst>
                <a:ext uri="{FF2B5EF4-FFF2-40B4-BE49-F238E27FC236}">
                  <a16:creationId xmlns:a16="http://schemas.microsoft.com/office/drawing/2014/main" id="{B88FD4BF-C669-2525-D0CE-04617AB2B80B}"/>
                </a:ext>
              </a:extLst>
            </p:cNvPr>
            <p:cNvGrpSpPr/>
            <p:nvPr/>
          </p:nvGrpSpPr>
          <p:grpSpPr>
            <a:xfrm>
              <a:off x="4943475" y="4346972"/>
              <a:ext cx="3714750" cy="367903"/>
              <a:chOff x="5000625" y="2518172"/>
              <a:chExt cx="3714750" cy="367903"/>
            </a:xfrm>
          </p:grpSpPr>
          <p:sp>
            <p:nvSpPr>
              <p:cNvPr id="90" name="Shape 12">
                <a:extLst>
                  <a:ext uri="{FF2B5EF4-FFF2-40B4-BE49-F238E27FC236}">
                    <a16:creationId xmlns:a16="http://schemas.microsoft.com/office/drawing/2014/main" id="{1A501421-E0B1-CF96-A08E-57DE9DF9F12A}"/>
                  </a:ext>
                </a:extLst>
              </p:cNvPr>
              <p:cNvSpPr/>
              <p:nvPr/>
            </p:nvSpPr>
            <p:spPr>
              <a:xfrm>
                <a:off x="5000625" y="2518172"/>
                <a:ext cx="3714750" cy="367903"/>
              </a:xfrm>
              <a:prstGeom prst="rect">
                <a:avLst/>
              </a:prstGeom>
              <a:solidFill>
                <a:srgbClr val="1E293B"/>
              </a:solidFill>
              <a:ln/>
            </p:spPr>
          </p:sp>
          <p:sp>
            <p:nvSpPr>
              <p:cNvPr id="91" name="Shape 13">
                <a:extLst>
                  <a:ext uri="{FF2B5EF4-FFF2-40B4-BE49-F238E27FC236}">
                    <a16:creationId xmlns:a16="http://schemas.microsoft.com/office/drawing/2014/main" id="{AFD5C615-F918-1A33-2D74-1FE2238DC0E5}"/>
                  </a:ext>
                </a:extLst>
              </p:cNvPr>
              <p:cNvSpPr/>
              <p:nvPr/>
            </p:nvSpPr>
            <p:spPr>
              <a:xfrm>
                <a:off x="5000625" y="2518172"/>
                <a:ext cx="28575" cy="367903"/>
              </a:xfrm>
              <a:prstGeom prst="rect">
                <a:avLst/>
              </a:prstGeom>
              <a:solidFill>
                <a:srgbClr val="06B6D4"/>
              </a:solidFill>
              <a:ln/>
            </p:spPr>
          </p:sp>
        </p:grpSp>
        <p:sp>
          <p:nvSpPr>
            <p:cNvPr id="89" name="Text 14">
              <a:extLst>
                <a:ext uri="{FF2B5EF4-FFF2-40B4-BE49-F238E27FC236}">
                  <a16:creationId xmlns:a16="http://schemas.microsoft.com/office/drawing/2014/main" id="{38A7BB39-4C05-08B3-2FDF-FA00DE1F751A}"/>
                </a:ext>
              </a:extLst>
            </p:cNvPr>
            <p:cNvSpPr/>
            <p:nvPr/>
          </p:nvSpPr>
          <p:spPr>
            <a:xfrm>
              <a:off x="4943475" y="4346972"/>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JetBrains Mono Bold" pitchFamily="34" charset="-120"/>
                </a:rPr>
                <a:t>constants : </a:t>
              </a:r>
              <a:r>
                <a:rPr lang="km-KH" sz="800" b="1" dirty="0">
                  <a:solidFill>
                    <a:schemeClr val="bg1">
                      <a:lumMod val="95000"/>
                    </a:schemeClr>
                  </a:solidFill>
                  <a:latin typeface="Khmer Battambang"/>
                  <a:ea typeface="JetBrains Mono Bold" pitchFamily="34" charset="-122"/>
                  <a:cs typeface="JetBrains Mono Bold" pitchFamily="34" charset="-120"/>
                </a:rPr>
                <a:t>ប្រើសម្រាប់រក្សាទុក </a:t>
              </a:r>
              <a:r>
                <a:rPr lang="en-US" sz="800" b="1" dirty="0">
                  <a:solidFill>
                    <a:schemeClr val="bg1">
                      <a:lumMod val="95000"/>
                    </a:schemeClr>
                  </a:solidFill>
                  <a:latin typeface="Khmer Battambang"/>
                  <a:ea typeface="JetBrains Mono Bold" pitchFamily="34" charset="-122"/>
                  <a:cs typeface="JetBrains Mono Bold" pitchFamily="34" charset="-120"/>
                </a:rPr>
                <a:t>Shared Constants </a:t>
              </a:r>
              <a:r>
                <a:rPr lang="km-KH" sz="800" b="1" dirty="0">
                  <a:solidFill>
                    <a:schemeClr val="bg1">
                      <a:lumMod val="95000"/>
                    </a:schemeClr>
                  </a:solidFill>
                  <a:latin typeface="Khmer Battambang"/>
                  <a:ea typeface="JetBrains Mono Bold" pitchFamily="34" charset="-122"/>
                  <a:cs typeface="JetBrains Mono Bold" pitchFamily="34" charset="-120"/>
                </a:rPr>
                <a:t>ដូចជា </a:t>
              </a:r>
              <a:r>
                <a:rPr lang="en-US" sz="800" b="1" dirty="0">
                  <a:solidFill>
                    <a:schemeClr val="bg1">
                      <a:lumMod val="95000"/>
                    </a:schemeClr>
                  </a:solidFill>
                  <a:latin typeface="Khmer Battambang"/>
                  <a:ea typeface="JetBrains Mono Bold" pitchFamily="34" charset="-122"/>
                  <a:cs typeface="JetBrains Mono Bold" pitchFamily="34" charset="-120"/>
                </a:rPr>
                <a:t>App Colors</a:t>
              </a:r>
              <a:endParaRPr lang="en-US" sz="800" dirty="0">
                <a:solidFill>
                  <a:schemeClr val="bg1">
                    <a:lumMod val="95000"/>
                  </a:schemeClr>
                </a:solidFill>
                <a:latin typeface="Khmer Battambang"/>
              </a:endParaRPr>
            </a:p>
          </p:txBody>
        </p:sp>
      </p:grpSp>
      <p:sp>
        <p:nvSpPr>
          <p:cNvPr id="8" name="Text 2">
            <a:extLst>
              <a:ext uri="{FF2B5EF4-FFF2-40B4-BE49-F238E27FC236}">
                <a16:creationId xmlns:a16="http://schemas.microsoft.com/office/drawing/2014/main" id="{D3E3F736-178C-ED53-4CDE-97086AE1BAD8}"/>
              </a:ext>
            </a:extLst>
          </p:cNvPr>
          <p:cNvSpPr/>
          <p:nvPr/>
        </p:nvSpPr>
        <p:spPr>
          <a:xfrm>
            <a:off x="2260375" y="948169"/>
            <a:ext cx="1559832" cy="2343847"/>
          </a:xfrm>
          <a:prstGeom prst="rect">
            <a:avLst/>
          </a:prstGeom>
          <a:noFill/>
          <a:ln/>
        </p:spPr>
        <p:txBody>
          <a:bodyPr wrap="square" lIns="255143" tIns="255143" rIns="255143" bIns="255143" rtlCol="0" anchor="t">
            <a:spAutoFit/>
          </a:bodyPr>
          <a:lstStyle/>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lib/</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r>
              <a:rPr lang="en-US" sz="850" dirty="0" err="1">
                <a:solidFill>
                  <a:srgbClr val="06B6D4"/>
                </a:solidFill>
                <a:latin typeface="JetBrains Mono" pitchFamily="34" charset="0"/>
                <a:ea typeface="JetBrains Mono" pitchFamily="34" charset="-122"/>
                <a:cs typeface="JetBrains Mono" pitchFamily="34" charset="-120"/>
              </a:rPr>
              <a:t>main.dart</a:t>
            </a:r>
            <a:endParaRPr lang="en-US" sz="850" dirty="0">
              <a:solidFill>
                <a:srgbClr val="06B6D4"/>
              </a:solidFill>
              <a:latin typeface="JetBrains Mono" pitchFamily="34" charset="0"/>
              <a:ea typeface="JetBrains Mono" pitchFamily="34" charset="-122"/>
              <a:cs typeface="JetBrains Mono" pitchFamily="34" charset="-120"/>
            </a:endParaRP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Application Entry Point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app/</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Main Application Architecture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ACA8E-8C84-3C0C-D4E3-3839F5DB0500}"/>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DD9912CE-760B-8D0C-E1C2-D6A782263629}"/>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FC6D7E54-031F-EA95-0686-67BEEB9A0B8A}"/>
              </a:ext>
            </a:extLst>
          </p:cNvPr>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Flutter Project Structure</a:t>
            </a:r>
            <a:endParaRPr lang="en-US" sz="1600" dirty="0"/>
          </a:p>
        </p:txBody>
      </p:sp>
      <p:sp>
        <p:nvSpPr>
          <p:cNvPr id="5" name="Shape 1">
            <a:extLst>
              <a:ext uri="{FF2B5EF4-FFF2-40B4-BE49-F238E27FC236}">
                <a16:creationId xmlns:a16="http://schemas.microsoft.com/office/drawing/2014/main" id="{A8DC7DC7-C17C-A871-6D4E-E096CC583BB4}"/>
              </a:ext>
            </a:extLst>
          </p:cNvPr>
          <p:cNvSpPr/>
          <p:nvPr/>
        </p:nvSpPr>
        <p:spPr>
          <a:xfrm>
            <a:off x="428625" y="985838"/>
            <a:ext cx="4150519" cy="3729038"/>
          </a:xfrm>
          <a:prstGeom prst="rect">
            <a:avLst/>
          </a:prstGeom>
          <a:solidFill>
            <a:srgbClr val="1E293B"/>
          </a:solidFill>
          <a:ln w="9144">
            <a:solidFill>
              <a:srgbClr val="334155"/>
            </a:solidFill>
            <a:prstDash val="solid"/>
          </a:ln>
        </p:spPr>
        <p:txBody>
          <a:bodyPr/>
          <a:lstStyle/>
          <a:p>
            <a:endParaRPr lang="en-US" dirty="0"/>
          </a:p>
        </p:txBody>
      </p:sp>
      <p:sp>
        <p:nvSpPr>
          <p:cNvPr id="6" name="Text 2">
            <a:extLst>
              <a:ext uri="{FF2B5EF4-FFF2-40B4-BE49-F238E27FC236}">
                <a16:creationId xmlns:a16="http://schemas.microsoft.com/office/drawing/2014/main" id="{0235DB9F-46D9-CE0B-579A-A33FF937310D}"/>
              </a:ext>
            </a:extLst>
          </p:cNvPr>
          <p:cNvSpPr/>
          <p:nvPr/>
        </p:nvSpPr>
        <p:spPr>
          <a:xfrm>
            <a:off x="428626" y="985838"/>
            <a:ext cx="1559832" cy="2846100"/>
          </a:xfrm>
          <a:prstGeom prst="rect">
            <a:avLst/>
          </a:prstGeom>
          <a:noFill/>
          <a:ln/>
        </p:spPr>
        <p:txBody>
          <a:bodyPr wrap="square" lIns="255143" tIns="255143" rIns="255143" bIns="255143" rtlCol="0" anchor="t">
            <a:spAutoFit/>
          </a:bodyPr>
          <a:lstStyle/>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lib/</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app/</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bindings/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config/</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constants/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data/</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modules/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routes/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services/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utils/</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 widget/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r>
              <a:rPr lang="en-US" sz="850" dirty="0" err="1">
                <a:solidFill>
                  <a:srgbClr val="06B6D4"/>
                </a:solidFill>
                <a:latin typeface="JetBrains Mono" pitchFamily="34" charset="0"/>
                <a:ea typeface="JetBrains Mono" pitchFamily="34" charset="-122"/>
                <a:cs typeface="JetBrains Mono" pitchFamily="34" charset="-120"/>
              </a:rPr>
              <a:t>main.dart</a:t>
            </a:r>
            <a:endParaRPr lang="en-US" sz="850" dirty="0">
              <a:solidFill>
                <a:srgbClr val="06B6D4"/>
              </a:solidFill>
              <a:latin typeface="JetBrains Mono" pitchFamily="34" charset="0"/>
              <a:ea typeface="JetBrains Mono" pitchFamily="34" charset="-122"/>
              <a:cs typeface="JetBrains Mono" pitchFamily="34" charset="-120"/>
            </a:endParaRPr>
          </a:p>
          <a:p>
            <a:pPr>
              <a:lnSpc>
                <a:spcPct val="128000"/>
              </a:lnSpc>
            </a:pPr>
            <a:endParaRPr lang="en-US" sz="850" dirty="0">
              <a:solidFill>
                <a:srgbClr val="06B6D4"/>
              </a:solidFill>
              <a:latin typeface="JetBrains Mono" pitchFamily="34" charset="0"/>
              <a:ea typeface="JetBrains Mono" pitchFamily="34" charset="-122"/>
            </a:endParaRPr>
          </a:p>
          <a:p>
            <a:pPr>
              <a:lnSpc>
                <a:spcPct val="128000"/>
              </a:lnSpc>
            </a:pPr>
            <a:endParaRPr lang="en-US" sz="850" dirty="0"/>
          </a:p>
        </p:txBody>
      </p:sp>
      <p:grpSp>
        <p:nvGrpSpPr>
          <p:cNvPr id="78" name="Group 77">
            <a:extLst>
              <a:ext uri="{FF2B5EF4-FFF2-40B4-BE49-F238E27FC236}">
                <a16:creationId xmlns:a16="http://schemas.microsoft.com/office/drawing/2014/main" id="{98AD0BAF-5EE4-2CAD-58C8-1F93DC316457}"/>
              </a:ext>
            </a:extLst>
          </p:cNvPr>
          <p:cNvGrpSpPr/>
          <p:nvPr/>
        </p:nvGrpSpPr>
        <p:grpSpPr>
          <a:xfrm>
            <a:off x="4885416" y="1865291"/>
            <a:ext cx="3714750" cy="388311"/>
            <a:chOff x="4943475" y="3432748"/>
            <a:chExt cx="3714750" cy="388311"/>
          </a:xfrm>
        </p:grpSpPr>
        <p:grpSp>
          <p:nvGrpSpPr>
            <p:cNvPr id="22" name="Group 21">
              <a:extLst>
                <a:ext uri="{FF2B5EF4-FFF2-40B4-BE49-F238E27FC236}">
                  <a16:creationId xmlns:a16="http://schemas.microsoft.com/office/drawing/2014/main" id="{FBBFE2F9-E447-4A91-2C8B-0F12DD533871}"/>
                </a:ext>
              </a:extLst>
            </p:cNvPr>
            <p:cNvGrpSpPr/>
            <p:nvPr/>
          </p:nvGrpSpPr>
          <p:grpSpPr>
            <a:xfrm>
              <a:off x="4943475" y="3432748"/>
              <a:ext cx="3714750" cy="367903"/>
              <a:chOff x="5000625" y="985838"/>
              <a:chExt cx="3714750" cy="367903"/>
            </a:xfrm>
          </p:grpSpPr>
          <p:sp>
            <p:nvSpPr>
              <p:cNvPr id="7" name="Shape 3">
                <a:extLst>
                  <a:ext uri="{FF2B5EF4-FFF2-40B4-BE49-F238E27FC236}">
                    <a16:creationId xmlns:a16="http://schemas.microsoft.com/office/drawing/2014/main" id="{2978CA7E-F056-F7BF-A63D-0AB6E67796A9}"/>
                  </a:ext>
                </a:extLst>
              </p:cNvPr>
              <p:cNvSpPr/>
              <p:nvPr/>
            </p:nvSpPr>
            <p:spPr>
              <a:xfrm>
                <a:off x="5000625" y="985838"/>
                <a:ext cx="3714750" cy="367903"/>
              </a:xfrm>
              <a:prstGeom prst="rect">
                <a:avLst/>
              </a:prstGeom>
              <a:solidFill>
                <a:srgbClr val="1E293B"/>
              </a:solidFill>
              <a:ln/>
            </p:spPr>
          </p:sp>
          <p:sp>
            <p:nvSpPr>
              <p:cNvPr id="8" name="Shape 4">
                <a:extLst>
                  <a:ext uri="{FF2B5EF4-FFF2-40B4-BE49-F238E27FC236}">
                    <a16:creationId xmlns:a16="http://schemas.microsoft.com/office/drawing/2014/main" id="{EA28EA44-726A-B547-B516-E5EDC8EF6041}"/>
                  </a:ext>
                </a:extLst>
              </p:cNvPr>
              <p:cNvSpPr/>
              <p:nvPr/>
            </p:nvSpPr>
            <p:spPr>
              <a:xfrm>
                <a:off x="5000625" y="985838"/>
                <a:ext cx="28575" cy="367903"/>
              </a:xfrm>
              <a:prstGeom prst="rect">
                <a:avLst/>
              </a:prstGeom>
              <a:solidFill>
                <a:srgbClr val="06B6D4"/>
              </a:solidFill>
              <a:ln/>
            </p:spPr>
          </p:sp>
        </p:grpSp>
        <p:sp>
          <p:nvSpPr>
            <p:cNvPr id="9" name="Text 5">
              <a:extLst>
                <a:ext uri="{FF2B5EF4-FFF2-40B4-BE49-F238E27FC236}">
                  <a16:creationId xmlns:a16="http://schemas.microsoft.com/office/drawing/2014/main" id="{5ACC27AE-D154-50AB-90DF-6582436E755A}"/>
                </a:ext>
              </a:extLst>
            </p:cNvPr>
            <p:cNvSpPr/>
            <p:nvPr/>
          </p:nvSpPr>
          <p:spPr>
            <a:xfrm>
              <a:off x="4943475" y="3432748"/>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Khmer OS Siemreap" panose="02000500000000020004" pitchFamily="2" charset="0"/>
                </a:rPr>
                <a:t>modules</a:t>
              </a:r>
              <a:r>
                <a:rPr lang="en-US" sz="850" dirty="0">
                  <a:solidFill>
                    <a:srgbClr val="F8FAFC"/>
                  </a:solidFill>
                  <a:latin typeface="Khmer Battambang"/>
                  <a:ea typeface="Kantumruy Pro" pitchFamily="34" charset="-122"/>
                  <a:cs typeface="Kantumruy Pro" pitchFamily="34" charset="-120"/>
                </a:rPr>
                <a:t>: សម្រាប់ Feature ដូចជា Auth, Home, Posts, Comments</a:t>
              </a:r>
              <a:endParaRPr lang="en-US" sz="800" dirty="0">
                <a:latin typeface="Khmer Battambang"/>
              </a:endParaRPr>
            </a:p>
          </p:txBody>
        </p:sp>
      </p:grpSp>
      <p:grpSp>
        <p:nvGrpSpPr>
          <p:cNvPr id="32" name="Group 31">
            <a:extLst>
              <a:ext uri="{FF2B5EF4-FFF2-40B4-BE49-F238E27FC236}">
                <a16:creationId xmlns:a16="http://schemas.microsoft.com/office/drawing/2014/main" id="{BE364E14-F180-3737-78A5-955505418D78}"/>
              </a:ext>
            </a:extLst>
          </p:cNvPr>
          <p:cNvGrpSpPr/>
          <p:nvPr/>
        </p:nvGrpSpPr>
        <p:grpSpPr>
          <a:xfrm>
            <a:off x="4885416" y="2784885"/>
            <a:ext cx="3714750" cy="388311"/>
            <a:chOff x="4943475" y="3836194"/>
            <a:chExt cx="3714750" cy="388311"/>
          </a:xfrm>
        </p:grpSpPr>
        <p:grpSp>
          <p:nvGrpSpPr>
            <p:cNvPr id="21" name="Group 20">
              <a:extLst>
                <a:ext uri="{FF2B5EF4-FFF2-40B4-BE49-F238E27FC236}">
                  <a16:creationId xmlns:a16="http://schemas.microsoft.com/office/drawing/2014/main" id="{7345CAE2-1D55-461B-BE7C-084C33B635FE}"/>
                </a:ext>
              </a:extLst>
            </p:cNvPr>
            <p:cNvGrpSpPr/>
            <p:nvPr/>
          </p:nvGrpSpPr>
          <p:grpSpPr>
            <a:xfrm>
              <a:off x="4943475" y="3836194"/>
              <a:ext cx="3714750" cy="367903"/>
              <a:chOff x="5000625" y="2007394"/>
              <a:chExt cx="3714750" cy="367903"/>
            </a:xfrm>
          </p:grpSpPr>
          <p:sp>
            <p:nvSpPr>
              <p:cNvPr id="13" name="Shape 9">
                <a:extLst>
                  <a:ext uri="{FF2B5EF4-FFF2-40B4-BE49-F238E27FC236}">
                    <a16:creationId xmlns:a16="http://schemas.microsoft.com/office/drawing/2014/main" id="{B0712FE5-3C1A-F2B7-F77E-845212FCC4C3}"/>
                  </a:ext>
                </a:extLst>
              </p:cNvPr>
              <p:cNvSpPr/>
              <p:nvPr/>
            </p:nvSpPr>
            <p:spPr>
              <a:xfrm>
                <a:off x="5000625" y="2007394"/>
                <a:ext cx="3714750" cy="367903"/>
              </a:xfrm>
              <a:prstGeom prst="rect">
                <a:avLst/>
              </a:prstGeom>
              <a:solidFill>
                <a:srgbClr val="1E293B"/>
              </a:solidFill>
              <a:ln/>
            </p:spPr>
          </p:sp>
          <p:sp>
            <p:nvSpPr>
              <p:cNvPr id="14" name="Shape 10">
                <a:extLst>
                  <a:ext uri="{FF2B5EF4-FFF2-40B4-BE49-F238E27FC236}">
                    <a16:creationId xmlns:a16="http://schemas.microsoft.com/office/drawing/2014/main" id="{8E89ED35-5D2B-C79A-BC81-19D39F1C1330}"/>
                  </a:ext>
                </a:extLst>
              </p:cNvPr>
              <p:cNvSpPr/>
              <p:nvPr/>
            </p:nvSpPr>
            <p:spPr>
              <a:xfrm>
                <a:off x="5000625" y="2007394"/>
                <a:ext cx="28575" cy="367903"/>
              </a:xfrm>
              <a:prstGeom prst="rect">
                <a:avLst/>
              </a:prstGeom>
              <a:solidFill>
                <a:srgbClr val="06B6D4"/>
              </a:solidFill>
              <a:ln/>
            </p:spPr>
          </p:sp>
        </p:grpSp>
        <p:sp>
          <p:nvSpPr>
            <p:cNvPr id="15" name="Text 11">
              <a:extLst>
                <a:ext uri="{FF2B5EF4-FFF2-40B4-BE49-F238E27FC236}">
                  <a16:creationId xmlns:a16="http://schemas.microsoft.com/office/drawing/2014/main" id="{DB58B34B-9BCF-2090-5671-0E4958F3010A}"/>
                </a:ext>
              </a:extLst>
            </p:cNvPr>
            <p:cNvSpPr/>
            <p:nvPr/>
          </p:nvSpPr>
          <p:spPr>
            <a:xfrm>
              <a:off x="4943475" y="3836194"/>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Khmer OS Siemreap" panose="02000500000000020004" pitchFamily="2" charset="0"/>
                </a:rPr>
                <a:t>services</a:t>
              </a:r>
              <a:r>
                <a:rPr lang="en-US" sz="850" dirty="0">
                  <a:solidFill>
                    <a:srgbClr val="F8FAFC"/>
                  </a:solidFill>
                  <a:latin typeface="Khmer Battambang"/>
                  <a:ea typeface="Kantumruy Pro" pitchFamily="34" charset="-122"/>
                  <a:cs typeface="Kantumruy Pro" pitchFamily="34" charset="-120"/>
                </a:rPr>
                <a:t>: មាន API Service និង Storage Service</a:t>
              </a:r>
              <a:endParaRPr lang="en-US" sz="800" dirty="0">
                <a:latin typeface="Khmer Battambang"/>
              </a:endParaRPr>
            </a:p>
          </p:txBody>
        </p:sp>
      </p:grpSp>
      <p:sp>
        <p:nvSpPr>
          <p:cNvPr id="19" name="Text 15">
            <a:extLst>
              <a:ext uri="{FF2B5EF4-FFF2-40B4-BE49-F238E27FC236}">
                <a16:creationId xmlns:a16="http://schemas.microsoft.com/office/drawing/2014/main" id="{D4EF45E8-9050-5FB1-6D8A-3FCCBD752E90}"/>
              </a:ext>
            </a:extLst>
          </p:cNvPr>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20" name="Text 16">
            <a:extLst>
              <a:ext uri="{FF2B5EF4-FFF2-40B4-BE49-F238E27FC236}">
                <a16:creationId xmlns:a16="http://schemas.microsoft.com/office/drawing/2014/main" id="{D3BDF1AE-E007-B04C-758A-03112D1F186D}"/>
              </a:ext>
            </a:extLst>
          </p:cNvPr>
          <p:cNvSpPr/>
          <p:nvPr/>
        </p:nvSpPr>
        <p:spPr>
          <a:xfrm>
            <a:off x="8658225" y="4811316"/>
            <a:ext cx="155492" cy="115416"/>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4(1)</a:t>
            </a:r>
            <a:endParaRPr lang="en-US" sz="750" dirty="0"/>
          </a:p>
        </p:txBody>
      </p:sp>
      <p:grpSp>
        <p:nvGrpSpPr>
          <p:cNvPr id="80" name="Group 79">
            <a:extLst>
              <a:ext uri="{FF2B5EF4-FFF2-40B4-BE49-F238E27FC236}">
                <a16:creationId xmlns:a16="http://schemas.microsoft.com/office/drawing/2014/main" id="{36835A7E-1548-B07C-A0BD-2904FBF34056}"/>
              </a:ext>
            </a:extLst>
          </p:cNvPr>
          <p:cNvGrpSpPr/>
          <p:nvPr/>
        </p:nvGrpSpPr>
        <p:grpSpPr>
          <a:xfrm>
            <a:off x="4885416" y="1402984"/>
            <a:ext cx="3744233" cy="380617"/>
            <a:chOff x="4943475" y="4346972"/>
            <a:chExt cx="3744233" cy="380617"/>
          </a:xfrm>
        </p:grpSpPr>
        <p:grpSp>
          <p:nvGrpSpPr>
            <p:cNvPr id="81" name="Group 80">
              <a:extLst>
                <a:ext uri="{FF2B5EF4-FFF2-40B4-BE49-F238E27FC236}">
                  <a16:creationId xmlns:a16="http://schemas.microsoft.com/office/drawing/2014/main" id="{86210C0B-C610-96CA-1C3E-DF65D5010458}"/>
                </a:ext>
              </a:extLst>
            </p:cNvPr>
            <p:cNvGrpSpPr/>
            <p:nvPr/>
          </p:nvGrpSpPr>
          <p:grpSpPr>
            <a:xfrm>
              <a:off x="4943475" y="4346972"/>
              <a:ext cx="3714750" cy="367903"/>
              <a:chOff x="5000625" y="2518172"/>
              <a:chExt cx="3714750" cy="367903"/>
            </a:xfrm>
          </p:grpSpPr>
          <p:sp>
            <p:nvSpPr>
              <p:cNvPr id="83" name="Shape 12">
                <a:extLst>
                  <a:ext uri="{FF2B5EF4-FFF2-40B4-BE49-F238E27FC236}">
                    <a16:creationId xmlns:a16="http://schemas.microsoft.com/office/drawing/2014/main" id="{4834D82F-4EDD-91D4-2567-3486D003C181}"/>
                  </a:ext>
                </a:extLst>
              </p:cNvPr>
              <p:cNvSpPr/>
              <p:nvPr/>
            </p:nvSpPr>
            <p:spPr>
              <a:xfrm>
                <a:off x="5000625" y="2518172"/>
                <a:ext cx="3714750" cy="367903"/>
              </a:xfrm>
              <a:prstGeom prst="rect">
                <a:avLst/>
              </a:prstGeom>
              <a:solidFill>
                <a:srgbClr val="1E293B"/>
              </a:solidFill>
              <a:ln/>
            </p:spPr>
          </p:sp>
          <p:sp>
            <p:nvSpPr>
              <p:cNvPr id="84" name="Shape 13">
                <a:extLst>
                  <a:ext uri="{FF2B5EF4-FFF2-40B4-BE49-F238E27FC236}">
                    <a16:creationId xmlns:a16="http://schemas.microsoft.com/office/drawing/2014/main" id="{A8307C88-1529-03D5-3287-5CAC04D44500}"/>
                  </a:ext>
                </a:extLst>
              </p:cNvPr>
              <p:cNvSpPr/>
              <p:nvPr/>
            </p:nvSpPr>
            <p:spPr>
              <a:xfrm>
                <a:off x="5000625" y="2518172"/>
                <a:ext cx="28575" cy="367903"/>
              </a:xfrm>
              <a:prstGeom prst="rect">
                <a:avLst/>
              </a:prstGeom>
              <a:solidFill>
                <a:srgbClr val="06B6D4"/>
              </a:solidFill>
              <a:ln/>
            </p:spPr>
          </p:sp>
        </p:grpSp>
        <p:sp>
          <p:nvSpPr>
            <p:cNvPr id="82" name="Text 14">
              <a:extLst>
                <a:ext uri="{FF2B5EF4-FFF2-40B4-BE49-F238E27FC236}">
                  <a16:creationId xmlns:a16="http://schemas.microsoft.com/office/drawing/2014/main" id="{BE73D107-A29B-B285-3F7B-7778AF9C7F1B}"/>
                </a:ext>
              </a:extLst>
            </p:cNvPr>
            <p:cNvSpPr/>
            <p:nvPr/>
          </p:nvSpPr>
          <p:spPr>
            <a:xfrm>
              <a:off x="4943475" y="4346972"/>
              <a:ext cx="3744233" cy="380617"/>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JetBrains Mono Bold" pitchFamily="34" charset="-120"/>
                </a:rPr>
                <a:t> data : </a:t>
              </a:r>
              <a:r>
                <a:rPr lang="km-KH" sz="800" b="1" dirty="0">
                  <a:solidFill>
                    <a:schemeClr val="bg1">
                      <a:lumMod val="95000"/>
                    </a:schemeClr>
                  </a:solidFill>
                  <a:latin typeface="Khmer Battambang"/>
                  <a:ea typeface="JetBrains Mono Bold" pitchFamily="34" charset="-122"/>
                  <a:cs typeface="JetBrains Mono Bold" pitchFamily="34" charset="-120"/>
                </a:rPr>
                <a:t>គឺសម្រាប់ </a:t>
              </a:r>
              <a:r>
                <a:rPr lang="en-US" sz="800" b="1" dirty="0">
                  <a:solidFill>
                    <a:schemeClr val="bg1">
                      <a:lumMod val="95000"/>
                    </a:schemeClr>
                  </a:solidFill>
                  <a:latin typeface="Khmer Battambang"/>
                  <a:ea typeface="JetBrains Mono Bold" pitchFamily="34" charset="-122"/>
                  <a:cs typeface="JetBrains Mono Bold" pitchFamily="34" charset="-120"/>
                </a:rPr>
                <a:t>Data Layer </a:t>
              </a:r>
              <a:r>
                <a:rPr lang="km-KH" sz="800" b="1" dirty="0">
                  <a:solidFill>
                    <a:schemeClr val="bg1">
                      <a:lumMod val="95000"/>
                    </a:schemeClr>
                  </a:solidFill>
                  <a:latin typeface="Khmer Battambang"/>
                  <a:ea typeface="JetBrains Mono Bold" pitchFamily="34" charset="-122"/>
                  <a:cs typeface="JetBrains Mono Bold" pitchFamily="34" charset="-120"/>
                </a:rPr>
                <a:t>ដែលមាន </a:t>
              </a:r>
              <a:r>
                <a:rPr lang="en-US" sz="800" b="1" dirty="0">
                  <a:solidFill>
                    <a:schemeClr val="bg1">
                      <a:lumMod val="95000"/>
                    </a:schemeClr>
                  </a:solidFill>
                  <a:latin typeface="Khmer Battambang"/>
                  <a:ea typeface="JetBrains Mono Bold" pitchFamily="34" charset="-122"/>
                  <a:cs typeface="JetBrains Mono Bold" pitchFamily="34" charset="-120"/>
                </a:rPr>
                <a:t>Models, Providers ,</a:t>
              </a:r>
              <a:r>
                <a:rPr lang="km-KH" sz="800" b="1" dirty="0">
                  <a:solidFill>
                    <a:schemeClr val="bg1">
                      <a:lumMod val="95000"/>
                    </a:schemeClr>
                  </a:solidFill>
                  <a:latin typeface="Khmer Battambang"/>
                  <a:ea typeface="JetBrains Mono Bold" pitchFamily="34" charset="-122"/>
                  <a:cs typeface="JetBrains Mono Bold" pitchFamily="34" charset="-120"/>
                </a:rPr>
                <a:t> </a:t>
              </a:r>
              <a:r>
                <a:rPr lang="en-US" sz="800" b="1" dirty="0">
                  <a:solidFill>
                    <a:schemeClr val="bg1">
                      <a:lumMod val="95000"/>
                    </a:schemeClr>
                  </a:solidFill>
                  <a:latin typeface="Khmer Battambang"/>
                  <a:ea typeface="JetBrains Mono Bold" pitchFamily="34" charset="-122"/>
                  <a:cs typeface="JetBrains Mono Bold" pitchFamily="34" charset="-120"/>
                </a:rPr>
                <a:t>API-related classes</a:t>
              </a:r>
              <a:endParaRPr lang="en-US" sz="800" dirty="0">
                <a:solidFill>
                  <a:schemeClr val="bg1">
                    <a:lumMod val="95000"/>
                  </a:schemeClr>
                </a:solidFill>
                <a:latin typeface="Khmer Battambang"/>
              </a:endParaRPr>
            </a:p>
          </p:txBody>
        </p:sp>
      </p:grpSp>
      <p:grpSp>
        <p:nvGrpSpPr>
          <p:cNvPr id="48" name="Group 47">
            <a:extLst>
              <a:ext uri="{FF2B5EF4-FFF2-40B4-BE49-F238E27FC236}">
                <a16:creationId xmlns:a16="http://schemas.microsoft.com/office/drawing/2014/main" id="{BF3626ED-6AF7-DDE9-BEE2-91FD3312E015}"/>
              </a:ext>
            </a:extLst>
          </p:cNvPr>
          <p:cNvGrpSpPr/>
          <p:nvPr/>
        </p:nvGrpSpPr>
        <p:grpSpPr>
          <a:xfrm>
            <a:off x="4885416" y="2314884"/>
            <a:ext cx="3714750" cy="388311"/>
            <a:chOff x="4943475" y="4346972"/>
            <a:chExt cx="3714750" cy="388311"/>
          </a:xfrm>
        </p:grpSpPr>
        <p:grpSp>
          <p:nvGrpSpPr>
            <p:cNvPr id="49" name="Group 48">
              <a:extLst>
                <a:ext uri="{FF2B5EF4-FFF2-40B4-BE49-F238E27FC236}">
                  <a16:creationId xmlns:a16="http://schemas.microsoft.com/office/drawing/2014/main" id="{1353EE9F-8BD2-2CDC-C4E2-DE3512098BF2}"/>
                </a:ext>
              </a:extLst>
            </p:cNvPr>
            <p:cNvGrpSpPr/>
            <p:nvPr/>
          </p:nvGrpSpPr>
          <p:grpSpPr>
            <a:xfrm>
              <a:off x="4943475" y="4346972"/>
              <a:ext cx="3714750" cy="367903"/>
              <a:chOff x="5000625" y="2518172"/>
              <a:chExt cx="3714750" cy="367903"/>
            </a:xfrm>
          </p:grpSpPr>
          <p:sp>
            <p:nvSpPr>
              <p:cNvPr id="51" name="Shape 12">
                <a:extLst>
                  <a:ext uri="{FF2B5EF4-FFF2-40B4-BE49-F238E27FC236}">
                    <a16:creationId xmlns:a16="http://schemas.microsoft.com/office/drawing/2014/main" id="{BDE0BECD-11A4-9CE1-33AE-27326A461122}"/>
                  </a:ext>
                </a:extLst>
              </p:cNvPr>
              <p:cNvSpPr/>
              <p:nvPr/>
            </p:nvSpPr>
            <p:spPr>
              <a:xfrm>
                <a:off x="5000625" y="2518172"/>
                <a:ext cx="3714750" cy="367903"/>
              </a:xfrm>
              <a:prstGeom prst="rect">
                <a:avLst/>
              </a:prstGeom>
              <a:solidFill>
                <a:srgbClr val="1E293B"/>
              </a:solidFill>
              <a:ln/>
            </p:spPr>
          </p:sp>
          <p:sp>
            <p:nvSpPr>
              <p:cNvPr id="66" name="Shape 13">
                <a:extLst>
                  <a:ext uri="{FF2B5EF4-FFF2-40B4-BE49-F238E27FC236}">
                    <a16:creationId xmlns:a16="http://schemas.microsoft.com/office/drawing/2014/main" id="{858926DF-EFB1-6476-1AE8-F2E2C108EE8D}"/>
                  </a:ext>
                </a:extLst>
              </p:cNvPr>
              <p:cNvSpPr/>
              <p:nvPr/>
            </p:nvSpPr>
            <p:spPr>
              <a:xfrm>
                <a:off x="5000625" y="2518172"/>
                <a:ext cx="28575" cy="367903"/>
              </a:xfrm>
              <a:prstGeom prst="rect">
                <a:avLst/>
              </a:prstGeom>
              <a:solidFill>
                <a:srgbClr val="06B6D4"/>
              </a:solidFill>
              <a:ln/>
            </p:spPr>
          </p:sp>
        </p:grpSp>
        <p:sp>
          <p:nvSpPr>
            <p:cNvPr id="50" name="Text 14">
              <a:extLst>
                <a:ext uri="{FF2B5EF4-FFF2-40B4-BE49-F238E27FC236}">
                  <a16:creationId xmlns:a16="http://schemas.microsoft.com/office/drawing/2014/main" id="{414D85AA-0EB0-6CDB-2BDF-8A3B14A4AC4B}"/>
                </a:ext>
              </a:extLst>
            </p:cNvPr>
            <p:cNvSpPr/>
            <p:nvPr/>
          </p:nvSpPr>
          <p:spPr>
            <a:xfrm>
              <a:off x="4943475" y="4346972"/>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JetBrains Mono Bold" pitchFamily="34" charset="-120"/>
                </a:rPr>
                <a:t>routes : </a:t>
              </a:r>
              <a:r>
                <a:rPr lang="km-KH" sz="800" b="1" dirty="0">
                  <a:solidFill>
                    <a:schemeClr val="bg1">
                      <a:lumMod val="95000"/>
                    </a:schemeClr>
                  </a:solidFill>
                  <a:latin typeface="Khmer Battambang"/>
                  <a:ea typeface="JetBrains Mono Bold" pitchFamily="34" charset="-122"/>
                  <a:cs typeface="JetBrains Mono Bold" pitchFamily="34" charset="-120"/>
                </a:rPr>
                <a:t>គ្រប់គ្រង </a:t>
              </a:r>
              <a:r>
                <a:rPr lang="en-US" sz="800" b="1" dirty="0">
                  <a:solidFill>
                    <a:schemeClr val="bg1">
                      <a:lumMod val="95000"/>
                    </a:schemeClr>
                  </a:solidFill>
                  <a:latin typeface="Khmer Battambang"/>
                  <a:ea typeface="JetBrains Mono Bold" pitchFamily="34" charset="-122"/>
                  <a:cs typeface="JetBrains Mono Bold" pitchFamily="34" charset="-120"/>
                </a:rPr>
                <a:t>Navigation </a:t>
              </a:r>
              <a:r>
                <a:rPr lang="km-KH" sz="800" b="1" dirty="0">
                  <a:solidFill>
                    <a:schemeClr val="bg1">
                      <a:lumMod val="95000"/>
                    </a:schemeClr>
                  </a:solidFill>
                  <a:latin typeface="Khmer Battambang"/>
                  <a:ea typeface="JetBrains Mono Bold" pitchFamily="34" charset="-122"/>
                  <a:cs typeface="JetBrains Mono Bold" pitchFamily="34" charset="-120"/>
                </a:rPr>
                <a:t>និង </a:t>
              </a:r>
              <a:r>
                <a:rPr lang="en-US" sz="800" b="1" dirty="0">
                  <a:solidFill>
                    <a:schemeClr val="bg1">
                      <a:lumMod val="95000"/>
                    </a:schemeClr>
                  </a:solidFill>
                  <a:latin typeface="Khmer Battambang"/>
                  <a:ea typeface="JetBrains Mono Bold" pitchFamily="34" charset="-122"/>
                  <a:cs typeface="JetBrains Mono Bold" pitchFamily="34" charset="-120"/>
                </a:rPr>
                <a:t>Routing </a:t>
              </a:r>
              <a:r>
                <a:rPr lang="km-KH" sz="800" b="1" dirty="0">
                  <a:solidFill>
                    <a:schemeClr val="bg1">
                      <a:lumMod val="95000"/>
                    </a:schemeClr>
                  </a:solidFill>
                  <a:latin typeface="Khmer Battambang"/>
                  <a:ea typeface="JetBrains Mono Bold" pitchFamily="34" charset="-122"/>
                  <a:cs typeface="JetBrains Mono Bold" pitchFamily="34" charset="-120"/>
                </a:rPr>
                <a:t>របស់ </a:t>
              </a:r>
              <a:r>
                <a:rPr lang="en-US" sz="800" b="1" dirty="0">
                  <a:solidFill>
                    <a:schemeClr val="bg1">
                      <a:lumMod val="95000"/>
                    </a:schemeClr>
                  </a:solidFill>
                  <a:latin typeface="Khmer Battambang"/>
                  <a:ea typeface="JetBrains Mono Bold" pitchFamily="34" charset="-122"/>
                  <a:cs typeface="JetBrains Mono Bold" pitchFamily="34" charset="-120"/>
                </a:rPr>
                <a:t>Application</a:t>
              </a:r>
              <a:endParaRPr lang="en-US" sz="800" dirty="0">
                <a:solidFill>
                  <a:schemeClr val="bg1">
                    <a:lumMod val="95000"/>
                  </a:schemeClr>
                </a:solidFill>
                <a:latin typeface="Khmer Battambang"/>
              </a:endParaRPr>
            </a:p>
          </p:txBody>
        </p:sp>
      </p:grpSp>
      <p:grpSp>
        <p:nvGrpSpPr>
          <p:cNvPr id="67" name="Group 66">
            <a:extLst>
              <a:ext uri="{FF2B5EF4-FFF2-40B4-BE49-F238E27FC236}">
                <a16:creationId xmlns:a16="http://schemas.microsoft.com/office/drawing/2014/main" id="{3AF4F025-C21C-D764-5156-D9237F40FD3C}"/>
              </a:ext>
            </a:extLst>
          </p:cNvPr>
          <p:cNvGrpSpPr/>
          <p:nvPr/>
        </p:nvGrpSpPr>
        <p:grpSpPr>
          <a:xfrm>
            <a:off x="4899703" y="3234478"/>
            <a:ext cx="3714750" cy="388311"/>
            <a:chOff x="4943475" y="4346972"/>
            <a:chExt cx="3714750" cy="388311"/>
          </a:xfrm>
        </p:grpSpPr>
        <p:grpSp>
          <p:nvGrpSpPr>
            <p:cNvPr id="68" name="Group 67">
              <a:extLst>
                <a:ext uri="{FF2B5EF4-FFF2-40B4-BE49-F238E27FC236}">
                  <a16:creationId xmlns:a16="http://schemas.microsoft.com/office/drawing/2014/main" id="{4787C9E5-A7A2-E15A-BC7B-ADDA04AF98C4}"/>
                </a:ext>
              </a:extLst>
            </p:cNvPr>
            <p:cNvGrpSpPr/>
            <p:nvPr/>
          </p:nvGrpSpPr>
          <p:grpSpPr>
            <a:xfrm>
              <a:off x="4943475" y="4346972"/>
              <a:ext cx="3714750" cy="367903"/>
              <a:chOff x="5000625" y="2518172"/>
              <a:chExt cx="3714750" cy="367903"/>
            </a:xfrm>
          </p:grpSpPr>
          <p:sp>
            <p:nvSpPr>
              <p:cNvPr id="77" name="Shape 12">
                <a:extLst>
                  <a:ext uri="{FF2B5EF4-FFF2-40B4-BE49-F238E27FC236}">
                    <a16:creationId xmlns:a16="http://schemas.microsoft.com/office/drawing/2014/main" id="{CE2814B2-E4A3-89FE-15DF-BD7EEAE0E1D5}"/>
                  </a:ext>
                </a:extLst>
              </p:cNvPr>
              <p:cNvSpPr/>
              <p:nvPr/>
            </p:nvSpPr>
            <p:spPr>
              <a:xfrm>
                <a:off x="5000625" y="2518172"/>
                <a:ext cx="3714750" cy="367903"/>
              </a:xfrm>
              <a:prstGeom prst="rect">
                <a:avLst/>
              </a:prstGeom>
              <a:solidFill>
                <a:srgbClr val="1E293B"/>
              </a:solidFill>
              <a:ln/>
            </p:spPr>
          </p:sp>
          <p:sp>
            <p:nvSpPr>
              <p:cNvPr id="79" name="Shape 13">
                <a:extLst>
                  <a:ext uri="{FF2B5EF4-FFF2-40B4-BE49-F238E27FC236}">
                    <a16:creationId xmlns:a16="http://schemas.microsoft.com/office/drawing/2014/main" id="{89873D88-77CD-D484-015A-EB6CCA8CD4DE}"/>
                  </a:ext>
                </a:extLst>
              </p:cNvPr>
              <p:cNvSpPr/>
              <p:nvPr/>
            </p:nvSpPr>
            <p:spPr>
              <a:xfrm>
                <a:off x="5000625" y="2518172"/>
                <a:ext cx="28575" cy="367903"/>
              </a:xfrm>
              <a:prstGeom prst="rect">
                <a:avLst/>
              </a:prstGeom>
              <a:solidFill>
                <a:srgbClr val="06B6D4"/>
              </a:solidFill>
              <a:ln/>
            </p:spPr>
          </p:sp>
        </p:grpSp>
        <p:sp>
          <p:nvSpPr>
            <p:cNvPr id="69" name="Text 14">
              <a:extLst>
                <a:ext uri="{FF2B5EF4-FFF2-40B4-BE49-F238E27FC236}">
                  <a16:creationId xmlns:a16="http://schemas.microsoft.com/office/drawing/2014/main" id="{F7A605DB-C937-4915-E037-173611D2B8B3}"/>
                </a:ext>
              </a:extLst>
            </p:cNvPr>
            <p:cNvSpPr/>
            <p:nvPr/>
          </p:nvSpPr>
          <p:spPr>
            <a:xfrm>
              <a:off x="4943475" y="4346972"/>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JetBrains Mono Bold" pitchFamily="34" charset="-120"/>
                </a:rPr>
                <a:t>utils : </a:t>
              </a:r>
              <a:r>
                <a:rPr lang="km-KH" sz="800" b="1" dirty="0">
                  <a:solidFill>
                    <a:schemeClr val="bg1">
                      <a:lumMod val="95000"/>
                    </a:schemeClr>
                  </a:solidFill>
                  <a:latin typeface="Khmer Battambang"/>
                  <a:ea typeface="JetBrains Mono Bold" pitchFamily="34" charset="-122"/>
                  <a:cs typeface="JetBrains Mono Bold" pitchFamily="34" charset="-120"/>
                </a:rPr>
                <a:t>មាន </a:t>
              </a:r>
              <a:r>
                <a:rPr lang="en-US" sz="800" b="1" dirty="0">
                  <a:solidFill>
                    <a:schemeClr val="bg1">
                      <a:lumMod val="95000"/>
                    </a:schemeClr>
                  </a:solidFill>
                  <a:latin typeface="Khmer Battambang"/>
                  <a:ea typeface="JetBrains Mono Bold" pitchFamily="34" charset="-122"/>
                  <a:cs typeface="JetBrains Mono Bold" pitchFamily="34" charset="-120"/>
                </a:rPr>
                <a:t>Helper Functions, Validators </a:t>
              </a:r>
              <a:r>
                <a:rPr lang="km-KH" sz="800" b="1" dirty="0">
                  <a:solidFill>
                    <a:schemeClr val="bg1">
                      <a:lumMod val="95000"/>
                    </a:schemeClr>
                  </a:solidFill>
                  <a:latin typeface="Khmer Battambang"/>
                  <a:ea typeface="JetBrains Mono Bold" pitchFamily="34" charset="-122"/>
                  <a:cs typeface="JetBrains Mono Bold" pitchFamily="34" charset="-120"/>
                </a:rPr>
                <a:t>និង </a:t>
              </a:r>
              <a:r>
                <a:rPr lang="en-US" sz="800" b="1" dirty="0">
                  <a:solidFill>
                    <a:schemeClr val="bg1">
                      <a:lumMod val="95000"/>
                    </a:schemeClr>
                  </a:solidFill>
                  <a:latin typeface="Khmer Battambang"/>
                  <a:ea typeface="JetBrains Mono Bold" pitchFamily="34" charset="-122"/>
                  <a:cs typeface="JetBrains Mono Bold" pitchFamily="34" charset="-120"/>
                </a:rPr>
                <a:t>Extensions</a:t>
              </a:r>
              <a:endParaRPr lang="en-US" sz="800" dirty="0">
                <a:solidFill>
                  <a:schemeClr val="bg1">
                    <a:lumMod val="95000"/>
                  </a:schemeClr>
                </a:solidFill>
                <a:latin typeface="Khmer Battambang"/>
              </a:endParaRPr>
            </a:p>
          </p:txBody>
        </p:sp>
      </p:grpSp>
      <p:grpSp>
        <p:nvGrpSpPr>
          <p:cNvPr id="85" name="Group 84">
            <a:extLst>
              <a:ext uri="{FF2B5EF4-FFF2-40B4-BE49-F238E27FC236}">
                <a16:creationId xmlns:a16="http://schemas.microsoft.com/office/drawing/2014/main" id="{744E9657-4893-D1A9-DA1B-21C160580320}"/>
              </a:ext>
            </a:extLst>
          </p:cNvPr>
          <p:cNvGrpSpPr/>
          <p:nvPr/>
        </p:nvGrpSpPr>
        <p:grpSpPr>
          <a:xfrm>
            <a:off x="4899703" y="3704479"/>
            <a:ext cx="3714750" cy="388311"/>
            <a:chOff x="4943475" y="4346972"/>
            <a:chExt cx="3714750" cy="388311"/>
          </a:xfrm>
        </p:grpSpPr>
        <p:grpSp>
          <p:nvGrpSpPr>
            <p:cNvPr id="86" name="Group 85">
              <a:extLst>
                <a:ext uri="{FF2B5EF4-FFF2-40B4-BE49-F238E27FC236}">
                  <a16:creationId xmlns:a16="http://schemas.microsoft.com/office/drawing/2014/main" id="{96C2FF1E-1782-9B99-2995-BC3A8C6B948D}"/>
                </a:ext>
              </a:extLst>
            </p:cNvPr>
            <p:cNvGrpSpPr/>
            <p:nvPr/>
          </p:nvGrpSpPr>
          <p:grpSpPr>
            <a:xfrm>
              <a:off x="4943475" y="4346972"/>
              <a:ext cx="3714750" cy="367903"/>
              <a:chOff x="5000625" y="2518172"/>
              <a:chExt cx="3714750" cy="367903"/>
            </a:xfrm>
          </p:grpSpPr>
          <p:sp>
            <p:nvSpPr>
              <p:cNvPr id="88" name="Shape 12">
                <a:extLst>
                  <a:ext uri="{FF2B5EF4-FFF2-40B4-BE49-F238E27FC236}">
                    <a16:creationId xmlns:a16="http://schemas.microsoft.com/office/drawing/2014/main" id="{B62DD5DC-CB88-8D66-2A25-8CFD0D637A5A}"/>
                  </a:ext>
                </a:extLst>
              </p:cNvPr>
              <p:cNvSpPr/>
              <p:nvPr/>
            </p:nvSpPr>
            <p:spPr>
              <a:xfrm>
                <a:off x="5000625" y="2518172"/>
                <a:ext cx="3714750" cy="367903"/>
              </a:xfrm>
              <a:prstGeom prst="rect">
                <a:avLst/>
              </a:prstGeom>
              <a:solidFill>
                <a:srgbClr val="1E293B"/>
              </a:solidFill>
              <a:ln/>
            </p:spPr>
          </p:sp>
          <p:sp>
            <p:nvSpPr>
              <p:cNvPr id="89" name="Shape 13">
                <a:extLst>
                  <a:ext uri="{FF2B5EF4-FFF2-40B4-BE49-F238E27FC236}">
                    <a16:creationId xmlns:a16="http://schemas.microsoft.com/office/drawing/2014/main" id="{B461E881-40DA-E920-C50A-ECC215B6C3BC}"/>
                  </a:ext>
                </a:extLst>
              </p:cNvPr>
              <p:cNvSpPr/>
              <p:nvPr/>
            </p:nvSpPr>
            <p:spPr>
              <a:xfrm>
                <a:off x="5000625" y="2518172"/>
                <a:ext cx="28575" cy="367903"/>
              </a:xfrm>
              <a:prstGeom prst="rect">
                <a:avLst/>
              </a:prstGeom>
              <a:solidFill>
                <a:srgbClr val="06B6D4"/>
              </a:solidFill>
              <a:ln/>
            </p:spPr>
          </p:sp>
        </p:grpSp>
        <p:sp>
          <p:nvSpPr>
            <p:cNvPr id="87" name="Text 14">
              <a:extLst>
                <a:ext uri="{FF2B5EF4-FFF2-40B4-BE49-F238E27FC236}">
                  <a16:creationId xmlns:a16="http://schemas.microsoft.com/office/drawing/2014/main" id="{8AA1E867-4969-0B77-9BF0-01C473A6C228}"/>
                </a:ext>
              </a:extLst>
            </p:cNvPr>
            <p:cNvSpPr/>
            <p:nvPr/>
          </p:nvSpPr>
          <p:spPr>
            <a:xfrm>
              <a:off x="4943475" y="4346972"/>
              <a:ext cx="3714750" cy="388311"/>
            </a:xfrm>
            <a:prstGeom prst="rect">
              <a:avLst/>
            </a:prstGeom>
            <a:noFill/>
            <a:ln/>
          </p:spPr>
          <p:txBody>
            <a:bodyPr wrap="square" lIns="127508" tIns="127508" rIns="127508" bIns="127508" rtlCol="0" anchor="t">
              <a:spAutoFit/>
            </a:bodyPr>
            <a:lstStyle/>
            <a:p>
              <a:pPr marL="0" indent="0" algn="l">
                <a:buNone/>
              </a:pPr>
              <a:r>
                <a:rPr lang="en-US" sz="800" b="1" dirty="0">
                  <a:solidFill>
                    <a:srgbClr val="06B6D4"/>
                  </a:solidFill>
                  <a:latin typeface="Khmer Battambang"/>
                  <a:ea typeface="JetBrains Mono Bold" pitchFamily="34" charset="-122"/>
                  <a:cs typeface="JetBrains Mono Bold" pitchFamily="34" charset="-120"/>
                </a:rPr>
                <a:t>widget: </a:t>
              </a:r>
              <a:r>
                <a:rPr lang="km-KH" sz="800" b="1" dirty="0">
                  <a:solidFill>
                    <a:schemeClr val="bg1">
                      <a:lumMod val="95000"/>
                    </a:schemeClr>
                  </a:solidFill>
                  <a:latin typeface="Khmer Battambang"/>
                  <a:ea typeface="JetBrains Mono Bold" pitchFamily="34" charset="-122"/>
                  <a:cs typeface="JetBrains Mono Bold" pitchFamily="34" charset="-120"/>
                </a:rPr>
                <a:t>មាន </a:t>
              </a:r>
              <a:r>
                <a:rPr lang="en-US" sz="800" b="1" dirty="0">
                  <a:solidFill>
                    <a:schemeClr val="bg1">
                      <a:lumMod val="95000"/>
                    </a:schemeClr>
                  </a:solidFill>
                  <a:latin typeface="Khmer Battambang"/>
                  <a:ea typeface="JetBrains Mono Bold" pitchFamily="34" charset="-122"/>
                  <a:cs typeface="JetBrains Mono Bold" pitchFamily="34" charset="-120"/>
                </a:rPr>
                <a:t>Reusable Widgets </a:t>
              </a:r>
              <a:r>
                <a:rPr lang="km-KH" sz="800" b="1" dirty="0">
                  <a:solidFill>
                    <a:schemeClr val="bg1">
                      <a:lumMod val="95000"/>
                    </a:schemeClr>
                  </a:solidFill>
                  <a:latin typeface="Khmer Battambang"/>
                  <a:ea typeface="JetBrains Mono Bold" pitchFamily="34" charset="-122"/>
                  <a:cs typeface="JetBrains Mono Bold" pitchFamily="34" charset="-120"/>
                </a:rPr>
                <a:t>ដែលអាចយកទៅប្រើនៅក្នុង </a:t>
              </a:r>
              <a:r>
                <a:rPr lang="en-US" sz="800" b="1" dirty="0">
                  <a:solidFill>
                    <a:schemeClr val="bg1">
                      <a:lumMod val="95000"/>
                    </a:schemeClr>
                  </a:solidFill>
                  <a:latin typeface="Khmer Battambang"/>
                  <a:ea typeface="JetBrains Mono Bold" pitchFamily="34" charset="-122"/>
                  <a:cs typeface="JetBrains Mono Bold" pitchFamily="34" charset="-120"/>
                </a:rPr>
                <a:t>Screen </a:t>
              </a:r>
              <a:r>
                <a:rPr lang="km-KH" sz="800" b="1" dirty="0">
                  <a:solidFill>
                    <a:schemeClr val="bg1">
                      <a:lumMod val="95000"/>
                    </a:schemeClr>
                  </a:solidFill>
                  <a:latin typeface="Khmer Battambang"/>
                  <a:ea typeface="JetBrains Mono Bold" pitchFamily="34" charset="-122"/>
                  <a:cs typeface="JetBrains Mono Bold" pitchFamily="34" charset="-120"/>
                </a:rPr>
                <a:t>ផ្សេងៗបាន</a:t>
              </a:r>
              <a:endParaRPr lang="en-US" sz="800" dirty="0">
                <a:solidFill>
                  <a:schemeClr val="bg1">
                    <a:lumMod val="95000"/>
                  </a:schemeClr>
                </a:solidFill>
                <a:latin typeface="Khmer Battambang"/>
              </a:endParaRPr>
            </a:p>
          </p:txBody>
        </p:sp>
      </p:grpSp>
      <p:sp>
        <p:nvSpPr>
          <p:cNvPr id="10" name="Text 2">
            <a:extLst>
              <a:ext uri="{FF2B5EF4-FFF2-40B4-BE49-F238E27FC236}">
                <a16:creationId xmlns:a16="http://schemas.microsoft.com/office/drawing/2014/main" id="{28D2EFCA-450E-BB24-5136-FDE297B0B7C5}"/>
              </a:ext>
            </a:extLst>
          </p:cNvPr>
          <p:cNvSpPr/>
          <p:nvPr/>
        </p:nvSpPr>
        <p:spPr>
          <a:xfrm>
            <a:off x="2239397" y="985838"/>
            <a:ext cx="1559832" cy="2343847"/>
          </a:xfrm>
          <a:prstGeom prst="rect">
            <a:avLst/>
          </a:prstGeom>
          <a:noFill/>
          <a:ln/>
        </p:spPr>
        <p:txBody>
          <a:bodyPr wrap="square" lIns="255143" tIns="255143" rIns="255143" bIns="255143" rtlCol="0" anchor="t">
            <a:spAutoFit/>
          </a:bodyPr>
          <a:lstStyle/>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lib/</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r>
              <a:rPr lang="en-US" sz="850" dirty="0" err="1">
                <a:solidFill>
                  <a:srgbClr val="06B6D4"/>
                </a:solidFill>
                <a:latin typeface="JetBrains Mono" pitchFamily="34" charset="0"/>
                <a:ea typeface="JetBrains Mono" pitchFamily="34" charset="-122"/>
                <a:cs typeface="JetBrains Mono" pitchFamily="34" charset="-120"/>
              </a:rPr>
              <a:t>main.dart</a:t>
            </a:r>
            <a:endParaRPr lang="en-US" sz="850" dirty="0">
              <a:solidFill>
                <a:srgbClr val="06B6D4"/>
              </a:solidFill>
              <a:latin typeface="JetBrains Mono" pitchFamily="34" charset="0"/>
              <a:ea typeface="JetBrains Mono" pitchFamily="34" charset="-122"/>
              <a:cs typeface="JetBrains Mono" pitchFamily="34" charset="-120"/>
            </a:endParaRP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Application Entry Point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app/</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a:t>
            </a:r>
          </a:p>
          <a:p>
            <a:pPr>
              <a:lnSpc>
                <a:spcPct val="128000"/>
              </a:lnSpc>
            </a:pPr>
            <a:r>
              <a:rPr lang="en-US" sz="850" dirty="0">
                <a:solidFill>
                  <a:srgbClr val="06B6D4"/>
                </a:solidFill>
                <a:latin typeface="JetBrains Mono" pitchFamily="34" charset="0"/>
                <a:ea typeface="JetBrains Mono" pitchFamily="34" charset="-122"/>
                <a:cs typeface="JetBrains Mono" pitchFamily="34" charset="-120"/>
              </a:rPr>
              <a:t>   Main Application Architecture</a:t>
            </a:r>
            <a:endParaRPr lang="en-US" sz="850" dirty="0"/>
          </a:p>
        </p:txBody>
      </p:sp>
    </p:spTree>
    <p:extLst>
      <p:ext uri="{BB962C8B-B14F-4D97-AF65-F5344CB8AC3E}">
        <p14:creationId xmlns:p14="http://schemas.microsoft.com/office/powerpoint/2010/main" val="1667853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46221"/>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Application Architecture</a:t>
            </a:r>
            <a:endParaRPr lang="en-US" sz="1600" dirty="0"/>
          </a:p>
        </p:txBody>
      </p:sp>
      <p:sp>
        <p:nvSpPr>
          <p:cNvPr id="5" name="Shape 1"/>
          <p:cNvSpPr/>
          <p:nvPr/>
        </p:nvSpPr>
        <p:spPr>
          <a:xfrm>
            <a:off x="3143250" y="528935"/>
            <a:ext cx="2857500" cy="420410"/>
          </a:xfrm>
          <a:prstGeom prst="rect">
            <a:avLst/>
          </a:prstGeom>
          <a:solidFill>
            <a:srgbClr val="1E293B"/>
          </a:solidFill>
          <a:ln w="9144">
            <a:solidFill>
              <a:srgbClr val="06B6D4"/>
            </a:solidFill>
            <a:prstDash val="solid"/>
          </a:ln>
        </p:spPr>
      </p:sp>
      <p:sp>
        <p:nvSpPr>
          <p:cNvPr id="6" name="Text 2"/>
          <p:cNvSpPr/>
          <p:nvPr/>
        </p:nvSpPr>
        <p:spPr>
          <a:xfrm>
            <a:off x="3143250" y="528935"/>
            <a:ext cx="2857500" cy="420410"/>
          </a:xfrm>
          <a:prstGeom prst="rect">
            <a:avLst/>
          </a:prstGeom>
          <a:noFill/>
          <a:ln/>
        </p:spPr>
        <p:txBody>
          <a:bodyPr wrap="square" lIns="127508" tIns="127508" rIns="127508" bIns="127508" rtlCol="0" anchor="t">
            <a:spAutoFit/>
          </a:bodyPr>
          <a:lstStyle/>
          <a:p>
            <a:pPr marL="0" indent="0" algn="ctr">
              <a:buNone/>
            </a:pPr>
            <a:r>
              <a:rPr lang="en-US" sz="800" b="1" dirty="0">
                <a:solidFill>
                  <a:srgbClr val="06B6D4"/>
                </a:solidFill>
                <a:latin typeface="JetBrains Mono Bold" pitchFamily="34" charset="0"/>
                <a:ea typeface="JetBrains Mono Bold" pitchFamily="34" charset="-122"/>
                <a:cs typeface="JetBrains Mono Bold" pitchFamily="34" charset="-120"/>
              </a:rPr>
              <a:t>Flutter UI View</a:t>
            </a:r>
            <a:endParaRPr lang="en-US" sz="800" dirty="0"/>
          </a:p>
        </p:txBody>
      </p:sp>
      <p:sp>
        <p:nvSpPr>
          <p:cNvPr id="7" name="Text 3"/>
          <p:cNvSpPr/>
          <p:nvPr/>
        </p:nvSpPr>
        <p:spPr>
          <a:xfrm>
            <a:off x="4507706" y="950238"/>
            <a:ext cx="128588" cy="200025"/>
          </a:xfrm>
          <a:prstGeom prst="rect">
            <a:avLst/>
          </a:prstGeom>
          <a:noFill/>
          <a:ln/>
        </p:spPr>
        <p:txBody>
          <a:bodyPr wrap="none" lIns="0" tIns="0" rIns="0" bIns="0" rtlCol="0" anchor="t">
            <a:spAutoFit/>
          </a:bodyPr>
          <a:lstStyle/>
          <a:p>
            <a:pPr marL="0" indent="0" algn="l">
              <a:buNone/>
            </a:pPr>
            <a:r>
              <a:rPr lang="en-US" sz="1250" dirty="0">
                <a:solidFill>
                  <a:srgbClr val="94A3B8"/>
                </a:solidFill>
                <a:latin typeface="Kantumruy Pro" pitchFamily="34" charset="0"/>
                <a:ea typeface="Kantumruy Pro" pitchFamily="34" charset="-122"/>
                <a:cs typeface="Kantumruy Pro" pitchFamily="34" charset="-120"/>
              </a:rPr>
              <a:t>↓</a:t>
            </a:r>
            <a:endParaRPr lang="en-US" sz="1250" dirty="0"/>
          </a:p>
        </p:txBody>
      </p:sp>
      <p:sp>
        <p:nvSpPr>
          <p:cNvPr id="8" name="Shape 4"/>
          <p:cNvSpPr/>
          <p:nvPr/>
        </p:nvSpPr>
        <p:spPr>
          <a:xfrm>
            <a:off x="3143250" y="1257419"/>
            <a:ext cx="2857500" cy="382191"/>
          </a:xfrm>
          <a:prstGeom prst="rect">
            <a:avLst/>
          </a:prstGeom>
          <a:solidFill>
            <a:srgbClr val="1E293B"/>
          </a:solidFill>
          <a:ln w="9144">
            <a:solidFill>
              <a:srgbClr val="06B6D4"/>
            </a:solidFill>
            <a:prstDash val="solid"/>
          </a:ln>
        </p:spPr>
        <p:txBody>
          <a:bodyPr/>
          <a:lstStyle/>
          <a:p>
            <a:endParaRPr lang="en-US" dirty="0"/>
          </a:p>
        </p:txBody>
      </p:sp>
      <p:sp>
        <p:nvSpPr>
          <p:cNvPr id="9" name="Text 5"/>
          <p:cNvSpPr/>
          <p:nvPr/>
        </p:nvSpPr>
        <p:spPr>
          <a:xfrm>
            <a:off x="3143250" y="1257419"/>
            <a:ext cx="2857500" cy="382191"/>
          </a:xfrm>
          <a:prstGeom prst="rect">
            <a:avLst/>
          </a:prstGeom>
          <a:noFill/>
          <a:ln/>
        </p:spPr>
        <p:txBody>
          <a:bodyPr wrap="square" lIns="127508" tIns="127508" rIns="127508" bIns="127508" rtlCol="0" anchor="t">
            <a:spAutoFit/>
          </a:bodyPr>
          <a:lstStyle/>
          <a:p>
            <a:pPr marL="0" indent="0" algn="ctr">
              <a:buNone/>
            </a:pPr>
            <a:r>
              <a:rPr lang="en-US" sz="800" b="1" dirty="0" err="1">
                <a:solidFill>
                  <a:srgbClr val="06B6D4"/>
                </a:solidFill>
                <a:latin typeface="JetBrains Mono Bold" pitchFamily="34" charset="0"/>
                <a:ea typeface="JetBrains Mono Bold" pitchFamily="34" charset="-122"/>
                <a:cs typeface="JetBrains Mono Bold" pitchFamily="34" charset="-120"/>
              </a:rPr>
              <a:t>GetX</a:t>
            </a:r>
            <a:r>
              <a:rPr lang="en-US" sz="800" b="1" dirty="0">
                <a:solidFill>
                  <a:srgbClr val="06B6D4"/>
                </a:solidFill>
                <a:latin typeface="JetBrains Mono Bold" pitchFamily="34" charset="0"/>
                <a:ea typeface="JetBrains Mono Bold" pitchFamily="34" charset="-122"/>
                <a:cs typeface="JetBrains Mono Bold" pitchFamily="34" charset="-120"/>
              </a:rPr>
              <a:t> Controller Sate + Logic</a:t>
            </a:r>
            <a:endParaRPr lang="en-US" sz="800" dirty="0"/>
          </a:p>
        </p:txBody>
      </p:sp>
      <p:sp>
        <p:nvSpPr>
          <p:cNvPr id="10" name="Text 6"/>
          <p:cNvSpPr/>
          <p:nvPr/>
        </p:nvSpPr>
        <p:spPr>
          <a:xfrm>
            <a:off x="4507706" y="1659612"/>
            <a:ext cx="128588" cy="200025"/>
          </a:xfrm>
          <a:prstGeom prst="rect">
            <a:avLst/>
          </a:prstGeom>
          <a:noFill/>
          <a:ln/>
        </p:spPr>
        <p:txBody>
          <a:bodyPr wrap="none" lIns="0" tIns="0" rIns="0" bIns="0" rtlCol="0" anchor="t">
            <a:spAutoFit/>
          </a:bodyPr>
          <a:lstStyle/>
          <a:p>
            <a:pPr marL="0" indent="0" algn="l">
              <a:buNone/>
            </a:pPr>
            <a:r>
              <a:rPr lang="en-US" sz="1250" dirty="0">
                <a:solidFill>
                  <a:srgbClr val="94A3B8"/>
                </a:solidFill>
                <a:latin typeface="Kantumruy Pro" pitchFamily="34" charset="0"/>
                <a:ea typeface="Kantumruy Pro" pitchFamily="34" charset="-122"/>
                <a:cs typeface="Kantumruy Pro" pitchFamily="34" charset="-120"/>
              </a:rPr>
              <a:t>↓</a:t>
            </a:r>
            <a:endParaRPr lang="en-US" sz="1250" dirty="0"/>
          </a:p>
        </p:txBody>
      </p:sp>
      <p:grpSp>
        <p:nvGrpSpPr>
          <p:cNvPr id="22" name="Group 21">
            <a:extLst>
              <a:ext uri="{FF2B5EF4-FFF2-40B4-BE49-F238E27FC236}">
                <a16:creationId xmlns:a16="http://schemas.microsoft.com/office/drawing/2014/main" id="{1DF8ED92-FCBF-97FD-5A2C-54FDF2B97933}"/>
              </a:ext>
            </a:extLst>
          </p:cNvPr>
          <p:cNvGrpSpPr/>
          <p:nvPr/>
        </p:nvGrpSpPr>
        <p:grpSpPr>
          <a:xfrm>
            <a:off x="3143250" y="1966793"/>
            <a:ext cx="2857500" cy="382191"/>
            <a:chOff x="3143250" y="2641163"/>
            <a:chExt cx="2857500" cy="382191"/>
          </a:xfrm>
        </p:grpSpPr>
        <p:sp>
          <p:nvSpPr>
            <p:cNvPr id="11" name="Shape 7"/>
            <p:cNvSpPr/>
            <p:nvPr/>
          </p:nvSpPr>
          <p:spPr>
            <a:xfrm>
              <a:off x="3143250" y="2641163"/>
              <a:ext cx="2857500" cy="382191"/>
            </a:xfrm>
            <a:prstGeom prst="rect">
              <a:avLst/>
            </a:prstGeom>
            <a:solidFill>
              <a:srgbClr val="1E293B"/>
            </a:solidFill>
            <a:ln w="9144">
              <a:solidFill>
                <a:srgbClr val="06B6D4"/>
              </a:solidFill>
              <a:prstDash val="solid"/>
            </a:ln>
          </p:spPr>
        </p:sp>
        <p:sp>
          <p:nvSpPr>
            <p:cNvPr id="12" name="Text 8"/>
            <p:cNvSpPr/>
            <p:nvPr/>
          </p:nvSpPr>
          <p:spPr>
            <a:xfrm>
              <a:off x="3143250" y="2641163"/>
              <a:ext cx="2857500" cy="382191"/>
            </a:xfrm>
            <a:prstGeom prst="rect">
              <a:avLst/>
            </a:prstGeom>
            <a:noFill/>
            <a:ln/>
          </p:spPr>
          <p:txBody>
            <a:bodyPr wrap="square" lIns="127508" tIns="127508" rIns="127508" bIns="127508" rtlCol="0" anchor="t">
              <a:spAutoFit/>
            </a:bodyPr>
            <a:lstStyle/>
            <a:p>
              <a:pPr marL="0" indent="0" algn="ctr">
                <a:buNone/>
              </a:pPr>
              <a:r>
                <a:rPr lang="en-US" sz="800" b="1" dirty="0">
                  <a:solidFill>
                    <a:srgbClr val="06B6D4"/>
                  </a:solidFill>
                  <a:latin typeface="JetBrains Mono Bold" pitchFamily="34" charset="0"/>
                  <a:ea typeface="JetBrains Mono Bold" pitchFamily="34" charset="-122"/>
                  <a:cs typeface="JetBrains Mono Bold" pitchFamily="34" charset="-120"/>
                </a:rPr>
                <a:t>Provider API Operations </a:t>
              </a:r>
              <a:endParaRPr lang="en-US" sz="800" dirty="0"/>
            </a:p>
          </p:txBody>
        </p:sp>
      </p:grpSp>
      <p:sp>
        <p:nvSpPr>
          <p:cNvPr id="13" name="Text 9"/>
          <p:cNvSpPr/>
          <p:nvPr/>
        </p:nvSpPr>
        <p:spPr>
          <a:xfrm>
            <a:off x="4507706" y="2448997"/>
            <a:ext cx="128588" cy="200025"/>
          </a:xfrm>
          <a:prstGeom prst="rect">
            <a:avLst/>
          </a:prstGeom>
          <a:noFill/>
          <a:ln/>
        </p:spPr>
        <p:txBody>
          <a:bodyPr wrap="none" lIns="0" tIns="0" rIns="0" bIns="0" rtlCol="0" anchor="t">
            <a:spAutoFit/>
          </a:bodyPr>
          <a:lstStyle/>
          <a:p>
            <a:pPr marL="0" indent="0" algn="l">
              <a:buNone/>
            </a:pPr>
            <a:r>
              <a:rPr lang="en-US" sz="1250" dirty="0">
                <a:solidFill>
                  <a:srgbClr val="94A3B8"/>
                </a:solidFill>
                <a:latin typeface="Kantumruy Pro" pitchFamily="34" charset="0"/>
                <a:ea typeface="Kantumruy Pro" pitchFamily="34" charset="-122"/>
                <a:cs typeface="Kantumruy Pro" pitchFamily="34" charset="-120"/>
              </a:rPr>
              <a:t>↓</a:t>
            </a:r>
            <a:endParaRPr lang="en-US" sz="1250" dirty="0"/>
          </a:p>
        </p:txBody>
      </p:sp>
      <p:sp>
        <p:nvSpPr>
          <p:cNvPr id="14" name="Shape 10"/>
          <p:cNvSpPr/>
          <p:nvPr/>
        </p:nvSpPr>
        <p:spPr>
          <a:xfrm>
            <a:off x="3143250" y="3434358"/>
            <a:ext cx="2857500" cy="382191"/>
          </a:xfrm>
          <a:prstGeom prst="rect">
            <a:avLst/>
          </a:prstGeom>
          <a:solidFill>
            <a:srgbClr val="1E293B"/>
          </a:solidFill>
          <a:ln w="9144">
            <a:solidFill>
              <a:srgbClr val="F59E0B"/>
            </a:solidFill>
            <a:prstDash val="solid"/>
          </a:ln>
        </p:spPr>
      </p:sp>
      <p:sp>
        <p:nvSpPr>
          <p:cNvPr id="15" name="Text 11"/>
          <p:cNvSpPr/>
          <p:nvPr/>
        </p:nvSpPr>
        <p:spPr>
          <a:xfrm>
            <a:off x="3143250" y="3434358"/>
            <a:ext cx="2857500" cy="382191"/>
          </a:xfrm>
          <a:prstGeom prst="rect">
            <a:avLst/>
          </a:prstGeom>
          <a:noFill/>
          <a:ln/>
        </p:spPr>
        <p:txBody>
          <a:bodyPr wrap="square" lIns="127508" tIns="127508" rIns="127508" bIns="127508" rtlCol="0" anchor="t">
            <a:spAutoFit/>
          </a:bodyPr>
          <a:lstStyle/>
          <a:p>
            <a:pPr marL="0" indent="0" algn="ctr">
              <a:buNone/>
            </a:pPr>
            <a:r>
              <a:rPr lang="en-US" sz="800" b="1" dirty="0">
                <a:solidFill>
                  <a:srgbClr val="F59E0B"/>
                </a:solidFill>
                <a:latin typeface="JetBrains Mono Bold" pitchFamily="34" charset="0"/>
                <a:ea typeface="JetBrains Mono Bold" pitchFamily="34" charset="-122"/>
                <a:cs typeface="JetBrains Mono Bold" pitchFamily="34" charset="-120"/>
              </a:rPr>
              <a:t>Laravel REST API </a:t>
            </a:r>
            <a:endParaRPr lang="en-US" sz="800" dirty="0"/>
          </a:p>
        </p:txBody>
      </p:sp>
      <p:sp>
        <p:nvSpPr>
          <p:cNvPr id="16" name="Text 12"/>
          <p:cNvSpPr/>
          <p:nvPr/>
        </p:nvSpPr>
        <p:spPr>
          <a:xfrm>
            <a:off x="4507706" y="3916561"/>
            <a:ext cx="128588" cy="200025"/>
          </a:xfrm>
          <a:prstGeom prst="rect">
            <a:avLst/>
          </a:prstGeom>
          <a:noFill/>
          <a:ln/>
        </p:spPr>
        <p:txBody>
          <a:bodyPr wrap="none" lIns="0" tIns="0" rIns="0" bIns="0" rtlCol="0" anchor="t">
            <a:spAutoFit/>
          </a:bodyPr>
          <a:lstStyle/>
          <a:p>
            <a:pPr marL="0" indent="0" algn="l">
              <a:buNone/>
            </a:pPr>
            <a:r>
              <a:rPr lang="en-US" sz="1250" dirty="0">
                <a:solidFill>
                  <a:srgbClr val="94A3B8"/>
                </a:solidFill>
                <a:latin typeface="Kantumruy Pro" pitchFamily="34" charset="0"/>
                <a:ea typeface="Kantumruy Pro" pitchFamily="34" charset="-122"/>
                <a:cs typeface="Kantumruy Pro" pitchFamily="34" charset="-120"/>
              </a:rPr>
              <a:t>↓</a:t>
            </a:r>
            <a:endParaRPr lang="en-US" sz="1250" dirty="0"/>
          </a:p>
        </p:txBody>
      </p:sp>
      <p:sp>
        <p:nvSpPr>
          <p:cNvPr id="17" name="Shape 13"/>
          <p:cNvSpPr/>
          <p:nvPr/>
        </p:nvSpPr>
        <p:spPr>
          <a:xfrm>
            <a:off x="3143250" y="4223742"/>
            <a:ext cx="2857500" cy="382191"/>
          </a:xfrm>
          <a:prstGeom prst="rect">
            <a:avLst/>
          </a:prstGeom>
          <a:solidFill>
            <a:srgbClr val="1E293B"/>
          </a:solidFill>
          <a:ln w="9144">
            <a:solidFill>
              <a:srgbClr val="F59E0B"/>
            </a:solidFill>
            <a:prstDash val="solid"/>
          </a:ln>
        </p:spPr>
      </p:sp>
      <p:sp>
        <p:nvSpPr>
          <p:cNvPr id="18" name="Text 14"/>
          <p:cNvSpPr/>
          <p:nvPr/>
        </p:nvSpPr>
        <p:spPr>
          <a:xfrm>
            <a:off x="3143250" y="4223742"/>
            <a:ext cx="2857500" cy="382191"/>
          </a:xfrm>
          <a:prstGeom prst="rect">
            <a:avLst/>
          </a:prstGeom>
          <a:noFill/>
          <a:ln/>
        </p:spPr>
        <p:txBody>
          <a:bodyPr wrap="square" lIns="127508" tIns="127508" rIns="127508" bIns="127508" rtlCol="0" anchor="t">
            <a:spAutoFit/>
          </a:bodyPr>
          <a:lstStyle/>
          <a:p>
            <a:pPr marL="0" indent="0" algn="ctr">
              <a:buNone/>
            </a:pPr>
            <a:r>
              <a:rPr lang="en-US" sz="800" b="1" dirty="0">
                <a:solidFill>
                  <a:srgbClr val="F59E0B"/>
                </a:solidFill>
                <a:latin typeface="JetBrains Mono Bold" pitchFamily="34" charset="0"/>
                <a:ea typeface="JetBrains Mono Bold" pitchFamily="34" charset="-122"/>
                <a:cs typeface="JetBrains Mono Bold" pitchFamily="34" charset="-120"/>
              </a:rPr>
              <a:t>MySQL Database</a:t>
            </a:r>
            <a:endParaRPr lang="en-US" sz="800" dirty="0"/>
          </a:p>
        </p:txBody>
      </p:sp>
      <p:sp>
        <p:nvSpPr>
          <p:cNvPr id="19" name="Text 15"/>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20" name="Text 16"/>
          <p:cNvSpPr/>
          <p:nvPr/>
        </p:nvSpPr>
        <p:spPr>
          <a:xfrm>
            <a:off x="8658225" y="4811316"/>
            <a:ext cx="57150"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3</a:t>
            </a:r>
            <a:endParaRPr lang="en-US" sz="750" dirty="0"/>
          </a:p>
        </p:txBody>
      </p:sp>
      <p:grpSp>
        <p:nvGrpSpPr>
          <p:cNvPr id="23" name="Group 22">
            <a:extLst>
              <a:ext uri="{FF2B5EF4-FFF2-40B4-BE49-F238E27FC236}">
                <a16:creationId xmlns:a16="http://schemas.microsoft.com/office/drawing/2014/main" id="{995C30F9-7487-DC51-3EB0-D6AEE8EBF67F}"/>
              </a:ext>
            </a:extLst>
          </p:cNvPr>
          <p:cNvGrpSpPr/>
          <p:nvPr/>
        </p:nvGrpSpPr>
        <p:grpSpPr>
          <a:xfrm>
            <a:off x="3154680" y="2698313"/>
            <a:ext cx="2857500" cy="382191"/>
            <a:chOff x="3143250" y="2641163"/>
            <a:chExt cx="2857500" cy="382191"/>
          </a:xfrm>
        </p:grpSpPr>
        <p:sp>
          <p:nvSpPr>
            <p:cNvPr id="24" name="Shape 7">
              <a:extLst>
                <a:ext uri="{FF2B5EF4-FFF2-40B4-BE49-F238E27FC236}">
                  <a16:creationId xmlns:a16="http://schemas.microsoft.com/office/drawing/2014/main" id="{FCEC6D7D-6F11-C4F4-09AD-CF439ED358D0}"/>
                </a:ext>
              </a:extLst>
            </p:cNvPr>
            <p:cNvSpPr/>
            <p:nvPr/>
          </p:nvSpPr>
          <p:spPr>
            <a:xfrm>
              <a:off x="3143250" y="2641163"/>
              <a:ext cx="2857500" cy="382191"/>
            </a:xfrm>
            <a:prstGeom prst="rect">
              <a:avLst/>
            </a:prstGeom>
            <a:solidFill>
              <a:srgbClr val="1E293B"/>
            </a:solidFill>
            <a:ln w="9144">
              <a:solidFill>
                <a:srgbClr val="06B6D4"/>
              </a:solidFill>
              <a:prstDash val="solid"/>
            </a:ln>
          </p:spPr>
          <p:txBody>
            <a:bodyPr/>
            <a:lstStyle/>
            <a:p>
              <a:endParaRPr lang="en-US" dirty="0"/>
            </a:p>
          </p:txBody>
        </p:sp>
        <p:sp>
          <p:nvSpPr>
            <p:cNvPr id="25" name="Text 8">
              <a:extLst>
                <a:ext uri="{FF2B5EF4-FFF2-40B4-BE49-F238E27FC236}">
                  <a16:creationId xmlns:a16="http://schemas.microsoft.com/office/drawing/2014/main" id="{E92F71FD-E951-D850-A4F0-E259447CDA8B}"/>
                </a:ext>
              </a:extLst>
            </p:cNvPr>
            <p:cNvSpPr/>
            <p:nvPr/>
          </p:nvSpPr>
          <p:spPr>
            <a:xfrm>
              <a:off x="3143250" y="2641163"/>
              <a:ext cx="2857500" cy="382191"/>
            </a:xfrm>
            <a:prstGeom prst="rect">
              <a:avLst/>
            </a:prstGeom>
            <a:noFill/>
            <a:ln/>
          </p:spPr>
          <p:txBody>
            <a:bodyPr wrap="square" lIns="127508" tIns="127508" rIns="127508" bIns="127508" rtlCol="0" anchor="t">
              <a:spAutoFit/>
            </a:bodyPr>
            <a:lstStyle/>
            <a:p>
              <a:pPr marL="0" indent="0" algn="ctr">
                <a:buNone/>
              </a:pPr>
              <a:r>
                <a:rPr lang="en-US" sz="800" b="1" dirty="0">
                  <a:solidFill>
                    <a:srgbClr val="06B6D4"/>
                  </a:solidFill>
                  <a:latin typeface="JetBrains Mono Bold" pitchFamily="34" charset="0"/>
                  <a:ea typeface="JetBrains Mono Bold" pitchFamily="34" charset="-122"/>
                  <a:cs typeface="JetBrains Mono Bold" pitchFamily="34" charset="-120"/>
                </a:rPr>
                <a:t>Provider API Service Dio</a:t>
              </a:r>
              <a:endParaRPr lang="en-US" sz="800" dirty="0"/>
            </a:p>
          </p:txBody>
        </p:sp>
      </p:grpSp>
      <p:sp>
        <p:nvSpPr>
          <p:cNvPr id="26" name="Text 9">
            <a:extLst>
              <a:ext uri="{FF2B5EF4-FFF2-40B4-BE49-F238E27FC236}">
                <a16:creationId xmlns:a16="http://schemas.microsoft.com/office/drawing/2014/main" id="{74FD39AA-77E5-6224-787A-E7D2E1C24E61}"/>
              </a:ext>
            </a:extLst>
          </p:cNvPr>
          <p:cNvSpPr/>
          <p:nvPr/>
        </p:nvSpPr>
        <p:spPr>
          <a:xfrm>
            <a:off x="4519136" y="3180517"/>
            <a:ext cx="128588" cy="200025"/>
          </a:xfrm>
          <a:prstGeom prst="rect">
            <a:avLst/>
          </a:prstGeom>
          <a:noFill/>
          <a:ln/>
        </p:spPr>
        <p:txBody>
          <a:bodyPr wrap="none" lIns="0" tIns="0" rIns="0" bIns="0" rtlCol="0" anchor="t">
            <a:spAutoFit/>
          </a:bodyPr>
          <a:lstStyle/>
          <a:p>
            <a:pPr marL="0" indent="0" algn="l">
              <a:buNone/>
            </a:pPr>
            <a:r>
              <a:rPr lang="en-US" sz="1250" dirty="0">
                <a:solidFill>
                  <a:srgbClr val="94A3B8"/>
                </a:solidFill>
                <a:latin typeface="Kantumruy Pro" pitchFamily="34" charset="0"/>
                <a:ea typeface="Kantumruy Pro" pitchFamily="34" charset="-122"/>
                <a:cs typeface="Kantumruy Pro" pitchFamily="34" charset="-120"/>
              </a:rPr>
              <a: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Authentication System</a:t>
            </a:r>
            <a:endParaRPr lang="en-US" sz="1600" dirty="0"/>
          </a:p>
        </p:txBody>
      </p:sp>
      <p:grpSp>
        <p:nvGrpSpPr>
          <p:cNvPr id="2" name="Group 1">
            <a:extLst>
              <a:ext uri="{FF2B5EF4-FFF2-40B4-BE49-F238E27FC236}">
                <a16:creationId xmlns:a16="http://schemas.microsoft.com/office/drawing/2014/main" id="{01D98C36-57EF-3A6A-7A41-0E88B715DC8B}"/>
              </a:ext>
            </a:extLst>
          </p:cNvPr>
          <p:cNvGrpSpPr/>
          <p:nvPr/>
        </p:nvGrpSpPr>
        <p:grpSpPr>
          <a:xfrm>
            <a:off x="496663" y="1486465"/>
            <a:ext cx="1428750" cy="474232"/>
            <a:chOff x="714375" y="2364581"/>
            <a:chExt cx="1428750" cy="474232"/>
          </a:xfrm>
        </p:grpSpPr>
        <p:sp>
          <p:nvSpPr>
            <p:cNvPr id="5" name="Shape 1"/>
            <p:cNvSpPr/>
            <p:nvPr/>
          </p:nvSpPr>
          <p:spPr>
            <a:xfrm>
              <a:off x="714375" y="2364581"/>
              <a:ext cx="1428750" cy="453628"/>
            </a:xfrm>
            <a:prstGeom prst="rect">
              <a:avLst/>
            </a:prstGeom>
            <a:solidFill>
              <a:srgbClr val="1E293B"/>
            </a:solidFill>
            <a:ln w="9144">
              <a:solidFill>
                <a:srgbClr val="334155"/>
              </a:solidFill>
              <a:prstDash val="solid"/>
            </a:ln>
          </p:spPr>
        </p:sp>
        <p:sp>
          <p:nvSpPr>
            <p:cNvPr id="6" name="Text 2"/>
            <p:cNvSpPr/>
            <p:nvPr/>
          </p:nvSpPr>
          <p:spPr>
            <a:xfrm>
              <a:off x="714375" y="2364581"/>
              <a:ext cx="1428750" cy="474232"/>
            </a:xfrm>
            <a:prstGeom prst="rect">
              <a:avLst/>
            </a:prstGeom>
            <a:noFill/>
            <a:ln/>
          </p:spPr>
          <p:txBody>
            <a:bodyPr wrap="square" lIns="170053" tIns="170053" rIns="170053" bIns="170053" rtlCol="0" anchor="t">
              <a:spAutoFit/>
            </a:bodyPr>
            <a:lstStyle/>
            <a:p>
              <a:pPr marL="0" indent="0" algn="ctr">
                <a:buNone/>
              </a:pPr>
              <a:r>
                <a:rPr lang="en-US" sz="850" dirty="0">
                  <a:solidFill>
                    <a:srgbClr val="F8FAFC"/>
                  </a:solidFill>
                  <a:latin typeface="JetBrains Mono" pitchFamily="34" charset="0"/>
                  <a:ea typeface="JetBrains Mono" pitchFamily="34" charset="-122"/>
                  <a:cs typeface="JetBrains Mono" pitchFamily="34" charset="-120"/>
                </a:rPr>
                <a:t>Register/Login</a:t>
              </a:r>
              <a:endParaRPr lang="en-US" sz="850" dirty="0"/>
            </a:p>
          </p:txBody>
        </p:sp>
      </p:grpSp>
      <p:sp>
        <p:nvSpPr>
          <p:cNvPr id="7" name="Text 3"/>
          <p:cNvSpPr/>
          <p:nvPr/>
        </p:nvSpPr>
        <p:spPr>
          <a:xfrm>
            <a:off x="2144469" y="1577548"/>
            <a:ext cx="228600" cy="271463"/>
          </a:xfrm>
          <a:prstGeom prst="rect">
            <a:avLst/>
          </a:prstGeom>
          <a:noFill/>
          <a:ln/>
        </p:spPr>
        <p:txBody>
          <a:bodyPr wrap="none" lIns="0" tIns="0" rIns="0" bIns="0" rtlCol="0" anchor="t">
            <a:spAutoFit/>
          </a:bodyPr>
          <a:lstStyle/>
          <a:p>
            <a:pPr marL="0" indent="0" algn="l">
              <a:buNone/>
            </a:pPr>
            <a:r>
              <a:rPr lang="en-US" sz="1600" b="1" dirty="0">
                <a:solidFill>
                  <a:srgbClr val="06B6D4"/>
                </a:solidFill>
                <a:latin typeface="Kantumruy Pro Bold" pitchFamily="34" charset="0"/>
                <a:ea typeface="Kantumruy Pro Bold" pitchFamily="34" charset="-122"/>
                <a:cs typeface="Kantumruy Pro Bold" pitchFamily="34" charset="-120"/>
              </a:rPr>
              <a:t>→</a:t>
            </a:r>
            <a:endParaRPr lang="en-US" sz="1600" dirty="0"/>
          </a:p>
        </p:txBody>
      </p:sp>
      <p:sp>
        <p:nvSpPr>
          <p:cNvPr id="8" name="Shape 4"/>
          <p:cNvSpPr/>
          <p:nvPr/>
        </p:nvSpPr>
        <p:spPr>
          <a:xfrm>
            <a:off x="2592126" y="1486465"/>
            <a:ext cx="1428750" cy="453628"/>
          </a:xfrm>
          <a:prstGeom prst="rect">
            <a:avLst/>
          </a:prstGeom>
          <a:solidFill>
            <a:srgbClr val="1E293B"/>
          </a:solidFill>
          <a:ln w="9144">
            <a:solidFill>
              <a:srgbClr val="F59E0B"/>
            </a:solidFill>
            <a:prstDash val="solid"/>
          </a:ln>
        </p:spPr>
      </p:sp>
      <p:sp>
        <p:nvSpPr>
          <p:cNvPr id="9" name="Text 5"/>
          <p:cNvSpPr/>
          <p:nvPr/>
        </p:nvSpPr>
        <p:spPr>
          <a:xfrm>
            <a:off x="2592126" y="1486465"/>
            <a:ext cx="1428750" cy="453628"/>
          </a:xfrm>
          <a:prstGeom prst="rect">
            <a:avLst/>
          </a:prstGeom>
          <a:noFill/>
          <a:ln/>
        </p:spPr>
        <p:txBody>
          <a:bodyPr wrap="square" lIns="170053" tIns="170053" rIns="170053" bIns="170053" rtlCol="0" anchor="t">
            <a:spAutoFit/>
          </a:bodyPr>
          <a:lstStyle/>
          <a:p>
            <a:pPr marL="0" indent="0" algn="ctr">
              <a:buNone/>
            </a:pPr>
            <a:r>
              <a:rPr lang="en-US" sz="850" dirty="0">
                <a:solidFill>
                  <a:srgbClr val="F59E0B"/>
                </a:solidFill>
                <a:latin typeface="JetBrains Mono" pitchFamily="34" charset="0"/>
                <a:ea typeface="JetBrains Mono" pitchFamily="34" charset="-122"/>
                <a:cs typeface="JetBrains Mono" pitchFamily="34" charset="-120"/>
              </a:rPr>
              <a:t>Laravel Sanctum</a:t>
            </a:r>
            <a:endParaRPr lang="en-US" sz="850" dirty="0"/>
          </a:p>
        </p:txBody>
      </p:sp>
      <p:sp>
        <p:nvSpPr>
          <p:cNvPr id="10" name="Text 6"/>
          <p:cNvSpPr/>
          <p:nvPr/>
        </p:nvSpPr>
        <p:spPr>
          <a:xfrm>
            <a:off x="4239932" y="1577548"/>
            <a:ext cx="228600" cy="271463"/>
          </a:xfrm>
          <a:prstGeom prst="rect">
            <a:avLst/>
          </a:prstGeom>
          <a:noFill/>
          <a:ln/>
        </p:spPr>
        <p:txBody>
          <a:bodyPr wrap="none" lIns="0" tIns="0" rIns="0" bIns="0" rtlCol="0" anchor="t">
            <a:spAutoFit/>
          </a:bodyPr>
          <a:lstStyle/>
          <a:p>
            <a:pPr marL="0" indent="0" algn="l">
              <a:buNone/>
            </a:pPr>
            <a:r>
              <a:rPr lang="en-US" sz="1600" b="1" dirty="0">
                <a:solidFill>
                  <a:srgbClr val="06B6D4"/>
                </a:solidFill>
                <a:latin typeface="Kantumruy Pro Bold" pitchFamily="34" charset="0"/>
                <a:ea typeface="Kantumruy Pro Bold" pitchFamily="34" charset="-122"/>
                <a:cs typeface="Kantumruy Pro Bold" pitchFamily="34" charset="-120"/>
              </a:rPr>
              <a:t>→</a:t>
            </a:r>
            <a:endParaRPr lang="en-US" sz="1600" dirty="0"/>
          </a:p>
        </p:txBody>
      </p:sp>
      <p:sp>
        <p:nvSpPr>
          <p:cNvPr id="11" name="Shape 7"/>
          <p:cNvSpPr/>
          <p:nvPr/>
        </p:nvSpPr>
        <p:spPr>
          <a:xfrm>
            <a:off x="4687589" y="1486465"/>
            <a:ext cx="1428750" cy="453628"/>
          </a:xfrm>
          <a:prstGeom prst="rect">
            <a:avLst/>
          </a:prstGeom>
          <a:solidFill>
            <a:srgbClr val="1E293B"/>
          </a:solidFill>
          <a:ln w="9144">
            <a:solidFill>
              <a:srgbClr val="334155"/>
            </a:solidFill>
            <a:prstDash val="solid"/>
          </a:ln>
        </p:spPr>
      </p:sp>
      <p:sp>
        <p:nvSpPr>
          <p:cNvPr id="12" name="Text 8"/>
          <p:cNvSpPr/>
          <p:nvPr/>
        </p:nvSpPr>
        <p:spPr>
          <a:xfrm>
            <a:off x="4687589" y="1486465"/>
            <a:ext cx="1428750" cy="453628"/>
          </a:xfrm>
          <a:prstGeom prst="rect">
            <a:avLst/>
          </a:prstGeom>
          <a:noFill/>
          <a:ln/>
        </p:spPr>
        <p:txBody>
          <a:bodyPr wrap="square" lIns="170053" tIns="170053" rIns="170053" bIns="170053" rtlCol="0" anchor="t">
            <a:spAutoFit/>
          </a:bodyPr>
          <a:lstStyle/>
          <a:p>
            <a:pPr marL="0" indent="0" algn="ctr">
              <a:buNone/>
            </a:pPr>
            <a:r>
              <a:rPr lang="en-US" sz="850" dirty="0">
                <a:solidFill>
                  <a:srgbClr val="F8FAFC"/>
                </a:solidFill>
                <a:latin typeface="JetBrains Mono" pitchFamily="34" charset="0"/>
                <a:ea typeface="JetBrains Mono" pitchFamily="34" charset="-122"/>
                <a:cs typeface="JetBrains Mono" pitchFamily="34" charset="-120"/>
              </a:rPr>
              <a:t>Bearer Token</a:t>
            </a:r>
            <a:endParaRPr lang="en-US" sz="850" dirty="0"/>
          </a:p>
        </p:txBody>
      </p:sp>
      <p:sp>
        <p:nvSpPr>
          <p:cNvPr id="13" name="Text 9"/>
          <p:cNvSpPr/>
          <p:nvPr/>
        </p:nvSpPr>
        <p:spPr>
          <a:xfrm>
            <a:off x="6335395" y="1577548"/>
            <a:ext cx="228600" cy="271463"/>
          </a:xfrm>
          <a:prstGeom prst="rect">
            <a:avLst/>
          </a:prstGeom>
          <a:noFill/>
          <a:ln/>
        </p:spPr>
        <p:txBody>
          <a:bodyPr wrap="none" lIns="0" tIns="0" rIns="0" bIns="0" rtlCol="0" anchor="t">
            <a:spAutoFit/>
          </a:bodyPr>
          <a:lstStyle/>
          <a:p>
            <a:pPr marL="0" indent="0" algn="l">
              <a:buNone/>
            </a:pPr>
            <a:r>
              <a:rPr lang="en-US" sz="1600" b="1" dirty="0">
                <a:solidFill>
                  <a:srgbClr val="06B6D4"/>
                </a:solidFill>
                <a:latin typeface="Kantumruy Pro Bold" pitchFamily="34" charset="0"/>
                <a:ea typeface="Kantumruy Pro Bold" pitchFamily="34" charset="-122"/>
                <a:cs typeface="Kantumruy Pro Bold" pitchFamily="34" charset="-120"/>
              </a:rPr>
              <a:t>→</a:t>
            </a:r>
            <a:endParaRPr lang="en-US" sz="1600" dirty="0"/>
          </a:p>
        </p:txBody>
      </p:sp>
      <p:sp>
        <p:nvSpPr>
          <p:cNvPr id="14" name="Shape 10"/>
          <p:cNvSpPr/>
          <p:nvPr/>
        </p:nvSpPr>
        <p:spPr>
          <a:xfrm>
            <a:off x="6783051" y="1486465"/>
            <a:ext cx="1428750" cy="453628"/>
          </a:xfrm>
          <a:prstGeom prst="rect">
            <a:avLst/>
          </a:prstGeom>
          <a:solidFill>
            <a:srgbClr val="1E293B"/>
          </a:solidFill>
          <a:ln w="9144">
            <a:solidFill>
              <a:srgbClr val="F59E0B"/>
            </a:solidFill>
            <a:prstDash val="solid"/>
          </a:ln>
        </p:spPr>
      </p:sp>
      <p:sp>
        <p:nvSpPr>
          <p:cNvPr id="15" name="Text 11"/>
          <p:cNvSpPr/>
          <p:nvPr/>
        </p:nvSpPr>
        <p:spPr>
          <a:xfrm>
            <a:off x="6783051" y="1486465"/>
            <a:ext cx="1428750" cy="453628"/>
          </a:xfrm>
          <a:prstGeom prst="rect">
            <a:avLst/>
          </a:prstGeom>
          <a:noFill/>
          <a:ln/>
        </p:spPr>
        <p:txBody>
          <a:bodyPr wrap="square" lIns="170053" tIns="170053" rIns="170053" bIns="170053" rtlCol="0" anchor="t">
            <a:spAutoFit/>
          </a:bodyPr>
          <a:lstStyle/>
          <a:p>
            <a:pPr marL="0" indent="0" algn="ctr">
              <a:buNone/>
            </a:pPr>
            <a:r>
              <a:rPr lang="en-US" sz="850" dirty="0">
                <a:solidFill>
                  <a:srgbClr val="F59E0B"/>
                </a:solidFill>
                <a:latin typeface="JetBrains Mono" pitchFamily="34" charset="0"/>
                <a:ea typeface="JetBrains Mono" pitchFamily="34" charset="-122"/>
                <a:cs typeface="JetBrains Mono" pitchFamily="34" charset="-120"/>
              </a:rPr>
              <a:t>GetStorage</a:t>
            </a:r>
            <a:endParaRPr lang="en-US" sz="850" dirty="0"/>
          </a:p>
        </p:txBody>
      </p:sp>
      <p:sp>
        <p:nvSpPr>
          <p:cNvPr id="16" name="Shape 12"/>
          <p:cNvSpPr/>
          <p:nvPr/>
        </p:nvSpPr>
        <p:spPr>
          <a:xfrm>
            <a:off x="2512814" y="4482703"/>
            <a:ext cx="610791" cy="232172"/>
          </a:xfrm>
          <a:prstGeom prst="roundRect">
            <a:avLst/>
          </a:prstGeom>
          <a:solidFill>
            <a:srgbClr val="334155"/>
          </a:solidFill>
          <a:ln/>
        </p:spPr>
      </p:sp>
      <p:sp>
        <p:nvSpPr>
          <p:cNvPr id="17" name="Text 13"/>
          <p:cNvSpPr/>
          <p:nvPr/>
        </p:nvSpPr>
        <p:spPr>
          <a:xfrm>
            <a:off x="2512814" y="4482703"/>
            <a:ext cx="610791" cy="232172"/>
          </a:xfrm>
          <a:prstGeom prst="rect">
            <a:avLst/>
          </a:prstGeom>
          <a:noFill/>
          <a:ln/>
        </p:spPr>
        <p:txBody>
          <a:bodyPr wrap="none" lIns="136017" tIns="68072" rIns="136017" bIns="68072" rtlCol="0" anchor="t">
            <a:spAutoFit/>
          </a:bodyPr>
          <a:lstStyle/>
          <a:p>
            <a:pPr marL="0" indent="0" algn="l">
              <a:buNone/>
            </a:pPr>
            <a:r>
              <a:rPr lang="en-US" sz="750" dirty="0">
                <a:solidFill>
                  <a:srgbClr val="F8FAFC"/>
                </a:solidFill>
                <a:latin typeface="Kantumruy Pro" pitchFamily="34" charset="0"/>
                <a:ea typeface="Kantumruy Pro" pitchFamily="34" charset="-122"/>
                <a:cs typeface="Kantumruy Pro" pitchFamily="34" charset="-120"/>
              </a:rPr>
              <a:t>Register</a:t>
            </a:r>
            <a:endParaRPr lang="en-US" sz="750" dirty="0"/>
          </a:p>
        </p:txBody>
      </p:sp>
      <p:sp>
        <p:nvSpPr>
          <p:cNvPr id="18" name="Shape 14"/>
          <p:cNvSpPr/>
          <p:nvPr/>
        </p:nvSpPr>
        <p:spPr>
          <a:xfrm>
            <a:off x="3266480" y="4482703"/>
            <a:ext cx="478631" cy="232172"/>
          </a:xfrm>
          <a:prstGeom prst="roundRect">
            <a:avLst/>
          </a:prstGeom>
          <a:solidFill>
            <a:srgbClr val="334155"/>
          </a:solidFill>
          <a:ln/>
        </p:spPr>
      </p:sp>
      <p:sp>
        <p:nvSpPr>
          <p:cNvPr id="19" name="Text 15"/>
          <p:cNvSpPr/>
          <p:nvPr/>
        </p:nvSpPr>
        <p:spPr>
          <a:xfrm>
            <a:off x="3266480" y="4482703"/>
            <a:ext cx="478631" cy="232172"/>
          </a:xfrm>
          <a:prstGeom prst="rect">
            <a:avLst/>
          </a:prstGeom>
          <a:noFill/>
          <a:ln/>
        </p:spPr>
        <p:txBody>
          <a:bodyPr wrap="none" lIns="136017" tIns="68072" rIns="136017" bIns="68072" rtlCol="0" anchor="t">
            <a:spAutoFit/>
          </a:bodyPr>
          <a:lstStyle/>
          <a:p>
            <a:pPr marL="0" indent="0" algn="l">
              <a:buNone/>
            </a:pPr>
            <a:r>
              <a:rPr lang="en-US" sz="750" dirty="0">
                <a:solidFill>
                  <a:srgbClr val="F8FAFC"/>
                </a:solidFill>
                <a:latin typeface="Kantumruy Pro" pitchFamily="34" charset="0"/>
                <a:ea typeface="Kantumruy Pro" pitchFamily="34" charset="-122"/>
                <a:cs typeface="Kantumruy Pro" pitchFamily="34" charset="-120"/>
              </a:rPr>
              <a:t>Login</a:t>
            </a:r>
            <a:endParaRPr lang="en-US" sz="750" dirty="0"/>
          </a:p>
        </p:txBody>
      </p:sp>
      <p:sp>
        <p:nvSpPr>
          <p:cNvPr id="20" name="Shape 16"/>
          <p:cNvSpPr/>
          <p:nvPr/>
        </p:nvSpPr>
        <p:spPr>
          <a:xfrm>
            <a:off x="3887986" y="4482703"/>
            <a:ext cx="1039416" cy="232172"/>
          </a:xfrm>
          <a:prstGeom prst="roundRect">
            <a:avLst/>
          </a:prstGeom>
          <a:solidFill>
            <a:srgbClr val="334155"/>
          </a:solidFill>
          <a:ln/>
        </p:spPr>
      </p:sp>
      <p:sp>
        <p:nvSpPr>
          <p:cNvPr id="21" name="Text 17"/>
          <p:cNvSpPr/>
          <p:nvPr/>
        </p:nvSpPr>
        <p:spPr>
          <a:xfrm>
            <a:off x="3887986" y="4482703"/>
            <a:ext cx="1039416" cy="232172"/>
          </a:xfrm>
          <a:prstGeom prst="rect">
            <a:avLst/>
          </a:prstGeom>
          <a:noFill/>
          <a:ln/>
        </p:spPr>
        <p:txBody>
          <a:bodyPr wrap="none" lIns="136017" tIns="68072" rIns="136017" bIns="68072" rtlCol="0" anchor="t">
            <a:spAutoFit/>
          </a:bodyPr>
          <a:lstStyle/>
          <a:p>
            <a:pPr marL="0" indent="0" algn="l">
              <a:buNone/>
            </a:pPr>
            <a:r>
              <a:rPr lang="en-US" sz="750" dirty="0">
                <a:solidFill>
                  <a:srgbClr val="F8FAFC"/>
                </a:solidFill>
                <a:latin typeface="Kantumruy Pro" pitchFamily="34" charset="0"/>
                <a:ea typeface="Kantumruy Pro" pitchFamily="34" charset="-122"/>
                <a:cs typeface="Kantumruy Pro" pitchFamily="34" charset="-120"/>
              </a:rPr>
              <a:t>Get Current User</a:t>
            </a:r>
            <a:endParaRPr lang="en-US" sz="750" dirty="0"/>
          </a:p>
        </p:txBody>
      </p:sp>
      <p:sp>
        <p:nvSpPr>
          <p:cNvPr id="22" name="Shape 18"/>
          <p:cNvSpPr/>
          <p:nvPr/>
        </p:nvSpPr>
        <p:spPr>
          <a:xfrm>
            <a:off x="5070277" y="4482703"/>
            <a:ext cx="550069" cy="232172"/>
          </a:xfrm>
          <a:prstGeom prst="roundRect">
            <a:avLst/>
          </a:prstGeom>
          <a:solidFill>
            <a:srgbClr val="334155"/>
          </a:solidFill>
          <a:ln/>
        </p:spPr>
      </p:sp>
      <p:sp>
        <p:nvSpPr>
          <p:cNvPr id="23" name="Text 19"/>
          <p:cNvSpPr/>
          <p:nvPr/>
        </p:nvSpPr>
        <p:spPr>
          <a:xfrm>
            <a:off x="5070277" y="4482703"/>
            <a:ext cx="550069" cy="232172"/>
          </a:xfrm>
          <a:prstGeom prst="rect">
            <a:avLst/>
          </a:prstGeom>
          <a:noFill/>
          <a:ln/>
        </p:spPr>
        <p:txBody>
          <a:bodyPr wrap="none" lIns="136017" tIns="68072" rIns="136017" bIns="68072" rtlCol="0" anchor="t">
            <a:spAutoFit/>
          </a:bodyPr>
          <a:lstStyle/>
          <a:p>
            <a:pPr marL="0" indent="0" algn="l">
              <a:buNone/>
            </a:pPr>
            <a:r>
              <a:rPr lang="en-US" sz="750" dirty="0">
                <a:solidFill>
                  <a:srgbClr val="F8FAFC"/>
                </a:solidFill>
                <a:latin typeface="Kantumruy Pro" pitchFamily="34" charset="0"/>
                <a:ea typeface="Kantumruy Pro" pitchFamily="34" charset="-122"/>
                <a:cs typeface="Kantumruy Pro" pitchFamily="34" charset="-120"/>
              </a:rPr>
              <a:t>Logout</a:t>
            </a:r>
            <a:endParaRPr lang="en-US" sz="750" dirty="0"/>
          </a:p>
        </p:txBody>
      </p:sp>
      <p:sp>
        <p:nvSpPr>
          <p:cNvPr id="24" name="Shape 20"/>
          <p:cNvSpPr/>
          <p:nvPr/>
        </p:nvSpPr>
        <p:spPr>
          <a:xfrm>
            <a:off x="5763220" y="4482703"/>
            <a:ext cx="867966" cy="232172"/>
          </a:xfrm>
          <a:prstGeom prst="roundRect">
            <a:avLst/>
          </a:prstGeom>
          <a:solidFill>
            <a:srgbClr val="334155"/>
          </a:solidFill>
          <a:ln/>
        </p:spPr>
      </p:sp>
      <p:sp>
        <p:nvSpPr>
          <p:cNvPr id="25" name="Text 21"/>
          <p:cNvSpPr/>
          <p:nvPr/>
        </p:nvSpPr>
        <p:spPr>
          <a:xfrm>
            <a:off x="5763220" y="4482703"/>
            <a:ext cx="867966" cy="232172"/>
          </a:xfrm>
          <a:prstGeom prst="rect">
            <a:avLst/>
          </a:prstGeom>
          <a:noFill/>
          <a:ln/>
        </p:spPr>
        <p:txBody>
          <a:bodyPr wrap="none" lIns="136017" tIns="68072" rIns="136017" bIns="68072" rtlCol="0" anchor="t">
            <a:spAutoFit/>
          </a:bodyPr>
          <a:lstStyle/>
          <a:p>
            <a:pPr marL="0" indent="0" algn="l">
              <a:buNone/>
            </a:pPr>
            <a:r>
              <a:rPr lang="en-US" sz="750" dirty="0">
                <a:solidFill>
                  <a:srgbClr val="F8FAFC"/>
                </a:solidFill>
                <a:latin typeface="Kantumruy Pro" pitchFamily="34" charset="0"/>
                <a:ea typeface="Kantumruy Pro" pitchFamily="34" charset="-122"/>
                <a:cs typeface="Kantumruy Pro" pitchFamily="34" charset="-120"/>
              </a:rPr>
              <a:t>Protected API</a:t>
            </a:r>
            <a:endParaRPr lang="en-US" sz="750" dirty="0"/>
          </a:p>
        </p:txBody>
      </p:sp>
      <p:sp>
        <p:nvSpPr>
          <p:cNvPr id="26" name="Text 22"/>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27" name="Text 23"/>
          <p:cNvSpPr/>
          <p:nvPr/>
        </p:nvSpPr>
        <p:spPr>
          <a:xfrm>
            <a:off x="8658225" y="4811316"/>
            <a:ext cx="57150"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5</a:t>
            </a:r>
            <a:endParaRPr lang="en-US" sz="750" dirty="0"/>
          </a:p>
        </p:txBody>
      </p:sp>
      <p:sp>
        <p:nvSpPr>
          <p:cNvPr id="35" name="Text 9">
            <a:extLst>
              <a:ext uri="{FF2B5EF4-FFF2-40B4-BE49-F238E27FC236}">
                <a16:creationId xmlns:a16="http://schemas.microsoft.com/office/drawing/2014/main" id="{C0539EDD-726B-5B0D-BC61-4505CD71B970}"/>
              </a:ext>
            </a:extLst>
          </p:cNvPr>
          <p:cNvSpPr/>
          <p:nvPr/>
        </p:nvSpPr>
        <p:spPr>
          <a:xfrm rot="5400000">
            <a:off x="7383125" y="2049263"/>
            <a:ext cx="228600" cy="271463"/>
          </a:xfrm>
          <a:prstGeom prst="rect">
            <a:avLst/>
          </a:prstGeom>
          <a:noFill/>
          <a:ln/>
        </p:spPr>
        <p:txBody>
          <a:bodyPr wrap="none" lIns="0" tIns="0" rIns="0" bIns="0" rtlCol="0" anchor="t">
            <a:spAutoFit/>
          </a:bodyPr>
          <a:lstStyle/>
          <a:p>
            <a:pPr marL="0" indent="0" algn="l">
              <a:buNone/>
            </a:pPr>
            <a:r>
              <a:rPr lang="en-US" sz="1600" b="1" dirty="0">
                <a:solidFill>
                  <a:srgbClr val="06B6D4"/>
                </a:solidFill>
                <a:latin typeface="Kantumruy Pro Bold" pitchFamily="34" charset="0"/>
                <a:ea typeface="Kantumruy Pro Bold" pitchFamily="34" charset="-122"/>
                <a:cs typeface="Kantumruy Pro Bold" pitchFamily="34" charset="-120"/>
              </a:rPr>
              <a:t>→</a:t>
            </a:r>
            <a:endParaRPr lang="en-US" sz="1600" dirty="0"/>
          </a:p>
        </p:txBody>
      </p:sp>
      <p:sp>
        <p:nvSpPr>
          <p:cNvPr id="37" name="Shape 7">
            <a:extLst>
              <a:ext uri="{FF2B5EF4-FFF2-40B4-BE49-F238E27FC236}">
                <a16:creationId xmlns:a16="http://schemas.microsoft.com/office/drawing/2014/main" id="{AE055745-4B7F-58BD-B12F-EE0053ED85C2}"/>
              </a:ext>
            </a:extLst>
          </p:cNvPr>
          <p:cNvSpPr/>
          <p:nvPr/>
        </p:nvSpPr>
        <p:spPr>
          <a:xfrm>
            <a:off x="6783051" y="2390578"/>
            <a:ext cx="1428750" cy="453628"/>
          </a:xfrm>
          <a:prstGeom prst="rect">
            <a:avLst/>
          </a:prstGeom>
          <a:solidFill>
            <a:srgbClr val="1E293B"/>
          </a:solidFill>
          <a:ln w="9144">
            <a:solidFill>
              <a:srgbClr val="334155"/>
            </a:solidFill>
            <a:prstDash val="solid"/>
          </a:ln>
        </p:spPr>
      </p:sp>
      <p:sp>
        <p:nvSpPr>
          <p:cNvPr id="39" name="Text 8">
            <a:extLst>
              <a:ext uri="{FF2B5EF4-FFF2-40B4-BE49-F238E27FC236}">
                <a16:creationId xmlns:a16="http://schemas.microsoft.com/office/drawing/2014/main" id="{F2C747B9-0AFD-7C5A-0643-5AA1CA0606DC}"/>
              </a:ext>
            </a:extLst>
          </p:cNvPr>
          <p:cNvSpPr/>
          <p:nvPr/>
        </p:nvSpPr>
        <p:spPr>
          <a:xfrm>
            <a:off x="6783051" y="2390578"/>
            <a:ext cx="1428750" cy="474232"/>
          </a:xfrm>
          <a:prstGeom prst="rect">
            <a:avLst/>
          </a:prstGeom>
          <a:noFill/>
          <a:ln/>
        </p:spPr>
        <p:txBody>
          <a:bodyPr wrap="square" lIns="170053" tIns="170053" rIns="170053" bIns="170053" rtlCol="0" anchor="t">
            <a:spAutoFit/>
          </a:bodyPr>
          <a:lstStyle/>
          <a:p>
            <a:pPr marL="0" indent="0" algn="ctr">
              <a:buNone/>
            </a:pPr>
            <a:r>
              <a:rPr lang="en-US" sz="850" dirty="0">
                <a:solidFill>
                  <a:srgbClr val="F8FAFC"/>
                </a:solidFill>
                <a:latin typeface="JetBrains Mono" pitchFamily="34" charset="0"/>
                <a:ea typeface="JetBrains Mono" pitchFamily="34" charset="-122"/>
                <a:cs typeface="JetBrains Mono" pitchFamily="34" charset="-120"/>
              </a:rPr>
              <a:t>Protected API</a:t>
            </a:r>
            <a:endParaRPr lang="en-US" sz="850" dirty="0"/>
          </a:p>
        </p:txBody>
      </p:sp>
      <p:sp>
        <p:nvSpPr>
          <p:cNvPr id="43" name="Text 8">
            <a:extLst>
              <a:ext uri="{FF2B5EF4-FFF2-40B4-BE49-F238E27FC236}">
                <a16:creationId xmlns:a16="http://schemas.microsoft.com/office/drawing/2014/main" id="{D5017424-5CDC-47EA-B7B4-D58681E68F3A}"/>
              </a:ext>
            </a:extLst>
          </p:cNvPr>
          <p:cNvSpPr/>
          <p:nvPr/>
        </p:nvSpPr>
        <p:spPr>
          <a:xfrm>
            <a:off x="4033681" y="2991289"/>
            <a:ext cx="878681" cy="497316"/>
          </a:xfrm>
          <a:prstGeom prst="rect">
            <a:avLst/>
          </a:prstGeom>
          <a:noFill/>
          <a:ln/>
        </p:spPr>
        <p:txBody>
          <a:bodyPr wrap="square" lIns="170053" tIns="170053" rIns="170053" bIns="170053" rtlCol="0" anchor="t">
            <a:spAutoFit/>
          </a:bodyPr>
          <a:lstStyle/>
          <a:p>
            <a:pPr marL="0" indent="0" algn="ctr">
              <a:buNone/>
            </a:pPr>
            <a:r>
              <a:rPr lang="en-US" sz="1000" dirty="0">
                <a:solidFill>
                  <a:srgbClr val="F8FAFC"/>
                </a:solidFill>
                <a:latin typeface="JetBrains Mono" pitchFamily="34" charset="0"/>
                <a:ea typeface="JetBrains Mono" pitchFamily="34" charset="-122"/>
                <a:cs typeface="JetBrains Mono" pitchFamily="34" charset="-120"/>
              </a:rPr>
              <a:t>Features</a:t>
            </a:r>
            <a:endParaRPr lang="en-US" sz="1000" dirty="0"/>
          </a:p>
        </p:txBody>
      </p:sp>
      <p:cxnSp>
        <p:nvCxnSpPr>
          <p:cNvPr id="51" name="Straight Arrow Connector 50">
            <a:extLst>
              <a:ext uri="{FF2B5EF4-FFF2-40B4-BE49-F238E27FC236}">
                <a16:creationId xmlns:a16="http://schemas.microsoft.com/office/drawing/2014/main" id="{EA64D4DE-AD26-2646-4C7D-D12D3515261B}"/>
              </a:ext>
            </a:extLst>
          </p:cNvPr>
          <p:cNvCxnSpPr/>
          <p:nvPr/>
        </p:nvCxnSpPr>
        <p:spPr>
          <a:xfrm flipH="1">
            <a:off x="2815771" y="3331029"/>
            <a:ext cx="1424161" cy="1151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B355103-932B-1E7C-C7C7-6E749E526A05}"/>
              </a:ext>
            </a:extLst>
          </p:cNvPr>
          <p:cNvCxnSpPr/>
          <p:nvPr/>
        </p:nvCxnSpPr>
        <p:spPr>
          <a:xfrm flipH="1">
            <a:off x="3585029" y="3331029"/>
            <a:ext cx="776514" cy="1151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29B14CC-0CC6-0DDD-5AB8-6AC56D32447C}"/>
              </a:ext>
            </a:extLst>
          </p:cNvPr>
          <p:cNvCxnSpPr>
            <a:endCxn id="20" idx="0"/>
          </p:cNvCxnSpPr>
          <p:nvPr/>
        </p:nvCxnSpPr>
        <p:spPr>
          <a:xfrm flipH="1">
            <a:off x="4407694" y="3331029"/>
            <a:ext cx="60838" cy="1151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B4339F85-70AC-E22E-A37A-89FACE379004}"/>
              </a:ext>
            </a:extLst>
          </p:cNvPr>
          <p:cNvCxnSpPr>
            <a:endCxn id="22" idx="0"/>
          </p:cNvCxnSpPr>
          <p:nvPr/>
        </p:nvCxnSpPr>
        <p:spPr>
          <a:xfrm>
            <a:off x="4572000" y="3331029"/>
            <a:ext cx="773312" cy="1151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1CD01EB-D2FD-0283-23E1-7F106C02FFA8}"/>
              </a:ext>
            </a:extLst>
          </p:cNvPr>
          <p:cNvCxnSpPr>
            <a:endCxn id="24" idx="0"/>
          </p:cNvCxnSpPr>
          <p:nvPr/>
        </p:nvCxnSpPr>
        <p:spPr>
          <a:xfrm>
            <a:off x="4687589" y="3331029"/>
            <a:ext cx="1509614" cy="1151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Post Management</a:t>
            </a:r>
            <a:endParaRPr lang="en-US" sz="1600" dirty="0"/>
          </a:p>
        </p:txBody>
      </p:sp>
      <p:sp>
        <p:nvSpPr>
          <p:cNvPr id="6" name="Text 2"/>
          <p:cNvSpPr/>
          <p:nvPr/>
        </p:nvSpPr>
        <p:spPr>
          <a:xfrm>
            <a:off x="2820079" y="1541232"/>
            <a:ext cx="3571875" cy="246459"/>
          </a:xfrm>
          <a:prstGeom prst="rect">
            <a:avLst/>
          </a:prstGeom>
          <a:noFill/>
          <a:ln/>
        </p:spPr>
        <p:txBody>
          <a:bodyPr wrap="square" lIns="0" tIns="0" rIns="0" bIns="85090" rtlCol="0" anchor="t">
            <a:spAutoFit/>
          </a:bodyPr>
          <a:lstStyle/>
          <a:p>
            <a:pPr marL="0" indent="0" algn="l">
              <a:buNone/>
            </a:pPr>
            <a:r>
              <a:rPr lang="en-US" sz="1000" b="1" dirty="0">
                <a:solidFill>
                  <a:srgbClr val="06B6D4"/>
                </a:solidFill>
                <a:latin typeface="Kantumruy Pro Bold" pitchFamily="34" charset="0"/>
                <a:ea typeface="Kantumruy Pro Bold" pitchFamily="34" charset="-122"/>
                <a:cs typeface="Kantumruy Pro Bold" pitchFamily="34" charset="-120"/>
              </a:rPr>
              <a:t>Post Features</a:t>
            </a:r>
            <a:endParaRPr lang="en-US" sz="1000" dirty="0"/>
          </a:p>
        </p:txBody>
      </p:sp>
      <p:sp>
        <p:nvSpPr>
          <p:cNvPr id="7" name="Text 3"/>
          <p:cNvSpPr/>
          <p:nvPr/>
        </p:nvSpPr>
        <p:spPr>
          <a:xfrm>
            <a:off x="2820079" y="1930566"/>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ea typeface="Kantumruy Pro" pitchFamily="34" charset="-122"/>
                <a:cs typeface="Kantumruy Pro" pitchFamily="34" charset="-120"/>
              </a:rPr>
              <a:t>View &amp; Search Posts</a:t>
            </a:r>
            <a:endParaRPr lang="en-US" sz="850" dirty="0"/>
          </a:p>
        </p:txBody>
      </p:sp>
      <p:sp>
        <p:nvSpPr>
          <p:cNvPr id="8" name="Text 4"/>
          <p:cNvSpPr/>
          <p:nvPr/>
        </p:nvSpPr>
        <p:spPr>
          <a:xfrm>
            <a:off x="2820079" y="2148451"/>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ea typeface="Kantumruy Pro" pitchFamily="34" charset="-122"/>
                <a:cs typeface="Kantumruy Pro" pitchFamily="34" charset="-120"/>
              </a:rPr>
              <a:t>View Post Details</a:t>
            </a:r>
            <a:endParaRPr lang="en-US" sz="850" dirty="0"/>
          </a:p>
        </p:txBody>
      </p:sp>
      <p:sp>
        <p:nvSpPr>
          <p:cNvPr id="9" name="Text 5"/>
          <p:cNvSpPr/>
          <p:nvPr/>
        </p:nvSpPr>
        <p:spPr>
          <a:xfrm>
            <a:off x="2820079" y="2366335"/>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ea typeface="Kantumruy Pro" pitchFamily="34" charset="-122"/>
                <a:cs typeface="Kantumruy Pro" pitchFamily="34" charset="-120"/>
              </a:rPr>
              <a:t>Create &amp; Edit Post</a:t>
            </a:r>
            <a:endParaRPr lang="en-US" sz="850" dirty="0"/>
          </a:p>
        </p:txBody>
      </p:sp>
      <p:sp>
        <p:nvSpPr>
          <p:cNvPr id="10" name="Text 6"/>
          <p:cNvSpPr/>
          <p:nvPr/>
        </p:nvSpPr>
        <p:spPr>
          <a:xfrm>
            <a:off x="2820079" y="2584220"/>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ea typeface="Kantumruy Pro" pitchFamily="34" charset="-122"/>
                <a:cs typeface="Kantumruy Pro" pitchFamily="34" charset="-120"/>
              </a:rPr>
              <a:t>Delete Post</a:t>
            </a:r>
            <a:endParaRPr lang="en-US" sz="850" dirty="0"/>
          </a:p>
        </p:txBody>
      </p:sp>
      <p:sp>
        <p:nvSpPr>
          <p:cNvPr id="11" name="Text 7"/>
          <p:cNvSpPr/>
          <p:nvPr/>
        </p:nvSpPr>
        <p:spPr>
          <a:xfrm>
            <a:off x="2820079" y="2802104"/>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ea typeface="Kantumruy Pro" pitchFamily="34" charset="-122"/>
                <a:cs typeface="Kantumruy Pro" pitchFamily="34" charset="-120"/>
              </a:rPr>
              <a:t>Pull-to-Refresh</a:t>
            </a:r>
            <a:endParaRPr lang="en-US" sz="850" dirty="0"/>
          </a:p>
        </p:txBody>
      </p:sp>
      <p:sp>
        <p:nvSpPr>
          <p:cNvPr id="13" name="Text 9"/>
          <p:cNvSpPr/>
          <p:nvPr/>
        </p:nvSpPr>
        <p:spPr>
          <a:xfrm>
            <a:off x="2696698" y="1937827"/>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14" name="Text 10"/>
          <p:cNvSpPr/>
          <p:nvPr/>
        </p:nvSpPr>
        <p:spPr>
          <a:xfrm>
            <a:off x="2696698" y="2155712"/>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15" name="Text 11"/>
          <p:cNvSpPr/>
          <p:nvPr/>
        </p:nvSpPr>
        <p:spPr>
          <a:xfrm>
            <a:off x="2696698" y="2373596"/>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16" name="Text 12"/>
          <p:cNvSpPr/>
          <p:nvPr/>
        </p:nvSpPr>
        <p:spPr>
          <a:xfrm>
            <a:off x="2696698" y="2591481"/>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17" name="Text 13"/>
          <p:cNvSpPr/>
          <p:nvPr/>
        </p:nvSpPr>
        <p:spPr>
          <a:xfrm>
            <a:off x="2696698" y="2809365"/>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29" name="Text 25"/>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p:cNvSpPr/>
          <p:nvPr/>
        </p:nvSpPr>
        <p:spPr>
          <a:xfrm>
            <a:off x="8658225" y="4811316"/>
            <a:ext cx="57150"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6</a:t>
            </a:r>
            <a:endParaRPr lang="en-US" sz="750" dirty="0"/>
          </a:p>
        </p:txBody>
      </p:sp>
      <p:sp>
        <p:nvSpPr>
          <p:cNvPr id="31" name="Text 6">
            <a:extLst>
              <a:ext uri="{FF2B5EF4-FFF2-40B4-BE49-F238E27FC236}">
                <a16:creationId xmlns:a16="http://schemas.microsoft.com/office/drawing/2014/main" id="{306768A6-0CE0-BB83-B78C-F7E9268F5805}"/>
              </a:ext>
            </a:extLst>
          </p:cNvPr>
          <p:cNvSpPr/>
          <p:nvPr/>
        </p:nvSpPr>
        <p:spPr>
          <a:xfrm>
            <a:off x="2820078" y="3014942"/>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cs typeface="Kantumruy Pro" pitchFamily="34" charset="-120"/>
              </a:rPr>
              <a:t>Comment</a:t>
            </a:r>
            <a:endParaRPr lang="en-US" sz="850" dirty="0"/>
          </a:p>
        </p:txBody>
      </p:sp>
      <p:sp>
        <p:nvSpPr>
          <p:cNvPr id="35" name="Text 13">
            <a:extLst>
              <a:ext uri="{FF2B5EF4-FFF2-40B4-BE49-F238E27FC236}">
                <a16:creationId xmlns:a16="http://schemas.microsoft.com/office/drawing/2014/main" id="{FE6C8851-2506-2684-C950-ED0F8395BCE6}"/>
              </a:ext>
            </a:extLst>
          </p:cNvPr>
          <p:cNvSpPr/>
          <p:nvPr/>
        </p:nvSpPr>
        <p:spPr>
          <a:xfrm>
            <a:off x="2696698" y="3037964"/>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37" name="Text 13">
            <a:extLst>
              <a:ext uri="{FF2B5EF4-FFF2-40B4-BE49-F238E27FC236}">
                <a16:creationId xmlns:a16="http://schemas.microsoft.com/office/drawing/2014/main" id="{FF783F92-9052-83A4-2106-DF45206E7B63}"/>
              </a:ext>
            </a:extLst>
          </p:cNvPr>
          <p:cNvSpPr/>
          <p:nvPr/>
        </p:nvSpPr>
        <p:spPr>
          <a:xfrm>
            <a:off x="2696698" y="3252275"/>
            <a:ext cx="114300" cy="132159"/>
          </a:xfrm>
          <a:prstGeom prst="rect">
            <a:avLst/>
          </a:prstGeom>
          <a:noFill/>
          <a:ln/>
        </p:spPr>
        <p:txBody>
          <a:bodyPr wrap="none" lIns="0" tIns="0" rIns="0" bIns="0" rtlCol="0" anchor="t">
            <a:spAutoFit/>
          </a:bodyPr>
          <a:lstStyle/>
          <a:p>
            <a:pPr marL="0" indent="0" algn="l">
              <a:buNone/>
            </a:pPr>
            <a:r>
              <a:rPr lang="en-US" sz="850" dirty="0">
                <a:solidFill>
                  <a:srgbClr val="F59E0B"/>
                </a:solidFill>
                <a:latin typeface="Kantumruy Pro" pitchFamily="34" charset="0"/>
                <a:ea typeface="Kantumruy Pro" pitchFamily="34" charset="-122"/>
                <a:cs typeface="Kantumruy Pro" pitchFamily="34" charset="-120"/>
              </a:rPr>
              <a:t>→</a:t>
            </a:r>
            <a:endParaRPr lang="en-US" sz="850" dirty="0"/>
          </a:p>
        </p:txBody>
      </p:sp>
      <p:sp>
        <p:nvSpPr>
          <p:cNvPr id="39" name="Text 6">
            <a:extLst>
              <a:ext uri="{FF2B5EF4-FFF2-40B4-BE49-F238E27FC236}">
                <a16:creationId xmlns:a16="http://schemas.microsoft.com/office/drawing/2014/main" id="{3AE1FC21-6A6C-EAA9-B7B9-92579AAA8437}"/>
              </a:ext>
            </a:extLst>
          </p:cNvPr>
          <p:cNvSpPr/>
          <p:nvPr/>
        </p:nvSpPr>
        <p:spPr>
          <a:xfrm>
            <a:off x="2820077" y="3245014"/>
            <a:ext cx="3571875" cy="132159"/>
          </a:xfrm>
          <a:prstGeom prst="rect">
            <a:avLst/>
          </a:prstGeom>
          <a:noFill/>
          <a:ln/>
        </p:spPr>
        <p:txBody>
          <a:bodyPr wrap="square" lIns="204089" tIns="0" rIns="0" bIns="0" rtlCol="0" anchor="t">
            <a:spAutoFit/>
          </a:bodyPr>
          <a:lstStyle/>
          <a:p>
            <a:pPr marL="0" indent="0" algn="l">
              <a:buNone/>
            </a:pPr>
            <a:r>
              <a:rPr lang="en-US" sz="850" dirty="0">
                <a:solidFill>
                  <a:srgbClr val="F8FAFC"/>
                </a:solidFill>
                <a:latin typeface="Kantumruy Pro" pitchFamily="34" charset="0"/>
                <a:cs typeface="Kantumruy Pro" pitchFamily="34" charset="-120"/>
              </a:rPr>
              <a:t>Upload Image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BEF56-DC2E-8899-E5CC-C3315AC69CD7}"/>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9238B14A-D19B-FF9E-5284-8D87C67507FA}"/>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DEB9660B-DE92-A6FE-EFF6-7181CDEA16D3}"/>
              </a:ext>
            </a:extLst>
          </p:cNvPr>
          <p:cNvSpPr/>
          <p:nvPr/>
        </p:nvSpPr>
        <p:spPr>
          <a:xfrm>
            <a:off x="428625" y="428625"/>
            <a:ext cx="8286750" cy="246221"/>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Image Upload</a:t>
            </a:r>
            <a:endParaRPr lang="en-US" sz="1600" dirty="0"/>
          </a:p>
        </p:txBody>
      </p:sp>
      <p:sp>
        <p:nvSpPr>
          <p:cNvPr id="5" name="Shape 1">
            <a:extLst>
              <a:ext uri="{FF2B5EF4-FFF2-40B4-BE49-F238E27FC236}">
                <a16:creationId xmlns:a16="http://schemas.microsoft.com/office/drawing/2014/main" id="{210778C2-80BA-C5E9-41B3-AC0279D28D46}"/>
              </a:ext>
            </a:extLst>
          </p:cNvPr>
          <p:cNvSpPr/>
          <p:nvPr/>
        </p:nvSpPr>
        <p:spPr>
          <a:xfrm>
            <a:off x="428624" y="985838"/>
            <a:ext cx="8286749" cy="3729038"/>
          </a:xfrm>
          <a:prstGeom prst="rect">
            <a:avLst/>
          </a:prstGeom>
          <a:solidFill>
            <a:srgbClr val="1E293B"/>
          </a:solidFill>
          <a:ln w="9144">
            <a:solidFill>
              <a:srgbClr val="334155"/>
            </a:solidFill>
            <a:prstDash val="solid"/>
          </a:ln>
        </p:spPr>
        <p:txBody>
          <a:bodyPr/>
          <a:lstStyle/>
          <a:p>
            <a:endParaRPr lang="en-US" dirty="0"/>
          </a:p>
        </p:txBody>
      </p:sp>
      <p:sp>
        <p:nvSpPr>
          <p:cNvPr id="6" name="Text 2">
            <a:extLst>
              <a:ext uri="{FF2B5EF4-FFF2-40B4-BE49-F238E27FC236}">
                <a16:creationId xmlns:a16="http://schemas.microsoft.com/office/drawing/2014/main" id="{19DCE0EC-CDAC-EF59-4E45-FD6039AF36D9}"/>
              </a:ext>
            </a:extLst>
          </p:cNvPr>
          <p:cNvSpPr/>
          <p:nvPr/>
        </p:nvSpPr>
        <p:spPr>
          <a:xfrm>
            <a:off x="707226" y="1288674"/>
            <a:ext cx="1265692" cy="239809"/>
          </a:xfrm>
          <a:prstGeom prst="rect">
            <a:avLst/>
          </a:prstGeom>
          <a:noFill/>
          <a:ln/>
        </p:spPr>
        <p:txBody>
          <a:bodyPr wrap="square" lIns="0" tIns="0" rIns="0" bIns="85090" rtlCol="0" anchor="t">
            <a:spAutoFit/>
          </a:bodyPr>
          <a:lstStyle/>
          <a:p>
            <a:pPr marL="0" indent="0" algn="l">
              <a:buNone/>
            </a:pPr>
            <a:r>
              <a:rPr lang="en-US" sz="1000" b="1" dirty="0">
                <a:solidFill>
                  <a:srgbClr val="06B6D4"/>
                </a:solidFill>
                <a:latin typeface="Kantumruy Pro Bold" pitchFamily="34" charset="0"/>
                <a:ea typeface="Kantumruy Pro Bold" pitchFamily="34" charset="-122"/>
                <a:cs typeface="Kantumruy Pro Bold" pitchFamily="34" charset="-120"/>
              </a:rPr>
              <a:t>Image Upload Flow</a:t>
            </a:r>
            <a:endParaRPr lang="en-US" sz="1000" dirty="0"/>
          </a:p>
        </p:txBody>
      </p:sp>
      <p:sp>
        <p:nvSpPr>
          <p:cNvPr id="29" name="Text 25">
            <a:extLst>
              <a:ext uri="{FF2B5EF4-FFF2-40B4-BE49-F238E27FC236}">
                <a16:creationId xmlns:a16="http://schemas.microsoft.com/office/drawing/2014/main" id="{7B828611-A33E-30E5-B2CA-BA9659D6BF0A}"/>
              </a:ext>
            </a:extLst>
          </p:cNvPr>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a:extLst>
              <a:ext uri="{FF2B5EF4-FFF2-40B4-BE49-F238E27FC236}">
                <a16:creationId xmlns:a16="http://schemas.microsoft.com/office/drawing/2014/main" id="{C8D953DA-8BF6-1C78-D0CC-14AE4396986E}"/>
              </a:ext>
            </a:extLst>
          </p:cNvPr>
          <p:cNvSpPr/>
          <p:nvPr/>
        </p:nvSpPr>
        <p:spPr>
          <a:xfrm>
            <a:off x="8658225" y="4811316"/>
            <a:ext cx="57150"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6</a:t>
            </a:r>
            <a:endParaRPr lang="en-US" sz="750" dirty="0"/>
          </a:p>
        </p:txBody>
      </p:sp>
      <p:sp>
        <p:nvSpPr>
          <p:cNvPr id="12" name="TextBox 11">
            <a:extLst>
              <a:ext uri="{FF2B5EF4-FFF2-40B4-BE49-F238E27FC236}">
                <a16:creationId xmlns:a16="http://schemas.microsoft.com/office/drawing/2014/main" id="{D65A2E5C-886B-575A-CFB3-205CC5946B6A}"/>
              </a:ext>
            </a:extLst>
          </p:cNvPr>
          <p:cNvSpPr txBox="1"/>
          <p:nvPr/>
        </p:nvSpPr>
        <p:spPr>
          <a:xfrm>
            <a:off x="963988" y="1528483"/>
            <a:ext cx="1427462" cy="2446824"/>
          </a:xfrm>
          <a:prstGeom prst="rect">
            <a:avLst/>
          </a:prstGeom>
          <a:noFill/>
        </p:spPr>
        <p:txBody>
          <a:bodyPr wrap="square">
            <a:spAutoFit/>
          </a:bodyPr>
          <a:lstStyle/>
          <a:p>
            <a:r>
              <a:rPr lang="en-US" sz="900" dirty="0">
                <a:solidFill>
                  <a:schemeClr val="accent1">
                    <a:lumMod val="20000"/>
                    <a:lumOff val="80000"/>
                  </a:schemeClr>
                </a:solidFill>
              </a:rPr>
              <a:t>User</a:t>
            </a:r>
          </a:p>
          <a:p>
            <a:r>
              <a:rPr lang="en-US" sz="900" dirty="0">
                <a:solidFill>
                  <a:schemeClr val="accent1">
                    <a:lumMod val="20000"/>
                    <a:lumOff val="80000"/>
                  </a:schemeClr>
                </a:solidFill>
              </a:rPr>
              <a:t> ↓</a:t>
            </a:r>
          </a:p>
          <a:p>
            <a:r>
              <a:rPr lang="en-US" sz="900" dirty="0">
                <a:solidFill>
                  <a:schemeClr val="accent1">
                    <a:lumMod val="20000"/>
                    <a:lumOff val="80000"/>
                  </a:schemeClr>
                </a:solidFill>
              </a:rPr>
              <a:t>Image Picker</a:t>
            </a:r>
          </a:p>
          <a:p>
            <a:r>
              <a:rPr lang="en-US" sz="900" dirty="0">
                <a:solidFill>
                  <a:schemeClr val="accent1">
                    <a:lumMod val="20000"/>
                    <a:lumOff val="80000"/>
                  </a:schemeClr>
                </a:solidFill>
              </a:rPr>
              <a:t> ↓</a:t>
            </a:r>
          </a:p>
          <a:p>
            <a:r>
              <a:rPr lang="en-US" sz="900" dirty="0">
                <a:solidFill>
                  <a:schemeClr val="accent1">
                    <a:lumMod val="20000"/>
                    <a:lumOff val="80000"/>
                  </a:schemeClr>
                </a:solidFill>
              </a:rPr>
              <a:t>Image Cropper</a:t>
            </a:r>
          </a:p>
          <a:p>
            <a:r>
              <a:rPr lang="en-US" sz="900" dirty="0">
                <a:solidFill>
                  <a:schemeClr val="accent1">
                    <a:lumMod val="20000"/>
                    <a:lumOff val="80000"/>
                  </a:schemeClr>
                </a:solidFill>
              </a:rPr>
              <a:t> ↓</a:t>
            </a:r>
          </a:p>
          <a:p>
            <a:r>
              <a:rPr lang="en-US" sz="900" dirty="0">
                <a:solidFill>
                  <a:schemeClr val="accent1">
                    <a:lumMod val="20000"/>
                    <a:lumOff val="80000"/>
                  </a:schemeClr>
                </a:solidFill>
              </a:rPr>
              <a:t>Image Preview</a:t>
            </a:r>
          </a:p>
          <a:p>
            <a:r>
              <a:rPr lang="en-US" sz="900" dirty="0">
                <a:solidFill>
                  <a:schemeClr val="accent1">
                    <a:lumMod val="20000"/>
                    <a:lumOff val="80000"/>
                  </a:schemeClr>
                </a:solidFill>
              </a:rPr>
              <a:t> ↓</a:t>
            </a:r>
          </a:p>
          <a:p>
            <a:r>
              <a:rPr lang="en-US" sz="900" dirty="0">
                <a:solidFill>
                  <a:schemeClr val="accent1">
                    <a:lumMod val="20000"/>
                    <a:lumOff val="80000"/>
                  </a:schemeClr>
                </a:solidFill>
              </a:rPr>
              <a:t>Multipart Request</a:t>
            </a:r>
          </a:p>
          <a:p>
            <a:r>
              <a:rPr lang="en-US" sz="900" dirty="0">
                <a:solidFill>
                  <a:schemeClr val="accent1">
                    <a:lumMod val="20000"/>
                    <a:lumOff val="80000"/>
                  </a:schemeClr>
                </a:solidFill>
              </a:rPr>
              <a:t> ↓</a:t>
            </a:r>
          </a:p>
          <a:p>
            <a:r>
              <a:rPr lang="en-US" sz="900" dirty="0">
                <a:solidFill>
                  <a:schemeClr val="accent1">
                    <a:lumMod val="20000"/>
                    <a:lumOff val="80000"/>
                  </a:schemeClr>
                </a:solidFill>
              </a:rPr>
              <a:t>Dio</a:t>
            </a:r>
          </a:p>
          <a:p>
            <a:r>
              <a:rPr lang="en-US" sz="900" dirty="0">
                <a:solidFill>
                  <a:schemeClr val="accent1">
                    <a:lumMod val="20000"/>
                    <a:lumOff val="80000"/>
                  </a:schemeClr>
                </a:solidFill>
              </a:rPr>
              <a:t> ↓</a:t>
            </a:r>
          </a:p>
          <a:p>
            <a:r>
              <a:rPr lang="en-US" sz="900" dirty="0">
                <a:solidFill>
                  <a:schemeClr val="accent1">
                    <a:lumMod val="20000"/>
                    <a:lumOff val="80000"/>
                  </a:schemeClr>
                </a:solidFill>
              </a:rPr>
              <a:t>Laravel</a:t>
            </a:r>
          </a:p>
          <a:p>
            <a:r>
              <a:rPr lang="en-US" sz="900" dirty="0">
                <a:solidFill>
                  <a:schemeClr val="accent1">
                    <a:lumMod val="20000"/>
                    <a:lumOff val="80000"/>
                  </a:schemeClr>
                </a:solidFill>
              </a:rPr>
              <a:t> ↓</a:t>
            </a:r>
          </a:p>
          <a:p>
            <a:r>
              <a:rPr lang="en-US" sz="900" dirty="0">
                <a:solidFill>
                  <a:schemeClr val="accent1">
                    <a:lumMod val="20000"/>
                    <a:lumOff val="80000"/>
                  </a:schemeClr>
                </a:solidFill>
              </a:rPr>
              <a:t>Storage</a:t>
            </a:r>
          </a:p>
          <a:p>
            <a:r>
              <a:rPr lang="en-US" sz="900" dirty="0">
                <a:solidFill>
                  <a:schemeClr val="accent1">
                    <a:lumMod val="20000"/>
                    <a:lumOff val="80000"/>
                  </a:schemeClr>
                </a:solidFill>
              </a:rPr>
              <a:t> ↓</a:t>
            </a:r>
          </a:p>
          <a:p>
            <a:r>
              <a:rPr lang="en-US" sz="900" dirty="0">
                <a:solidFill>
                  <a:schemeClr val="accent1">
                    <a:lumMod val="20000"/>
                    <a:lumOff val="80000"/>
                  </a:schemeClr>
                </a:solidFill>
              </a:rPr>
              <a:t>Database</a:t>
            </a:r>
          </a:p>
        </p:txBody>
      </p:sp>
    </p:spTree>
    <p:extLst>
      <p:ext uri="{BB962C8B-B14F-4D97-AF65-F5344CB8AC3E}">
        <p14:creationId xmlns:p14="http://schemas.microsoft.com/office/powerpoint/2010/main" val="2580401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3" name="Image 0" descr="preencoded.png">
            <a:extLst>
              <a:ext uri="{FF2B5EF4-FFF2-40B4-BE49-F238E27FC236}">
                <a16:creationId xmlns:a16="http://schemas.microsoft.com/office/drawing/2014/main" id="{EC4D1A1A-5A9A-7466-8BC8-BC50975B3BB3}"/>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46221"/>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Backend &amp; Database</a:t>
            </a:r>
            <a:endParaRPr lang="en-US" sz="1600" dirty="0"/>
          </a:p>
        </p:txBody>
      </p:sp>
      <p:sp>
        <p:nvSpPr>
          <p:cNvPr id="30" name="Text 26"/>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1" name="Text 27"/>
          <p:cNvSpPr/>
          <p:nvPr/>
        </p:nvSpPr>
        <p:spPr>
          <a:xfrm>
            <a:off x="8661797" y="4811316"/>
            <a:ext cx="53578"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7</a:t>
            </a:r>
            <a:endParaRPr lang="en-US" sz="750" dirty="0"/>
          </a:p>
        </p:txBody>
      </p:sp>
      <p:sp>
        <p:nvSpPr>
          <p:cNvPr id="5" name="TextBox 4">
            <a:extLst>
              <a:ext uri="{FF2B5EF4-FFF2-40B4-BE49-F238E27FC236}">
                <a16:creationId xmlns:a16="http://schemas.microsoft.com/office/drawing/2014/main" id="{E49D98A7-292A-4D57-6833-B461C6053AF3}"/>
              </a:ext>
            </a:extLst>
          </p:cNvPr>
          <p:cNvSpPr txBox="1"/>
          <p:nvPr/>
        </p:nvSpPr>
        <p:spPr>
          <a:xfrm>
            <a:off x="376159" y="1366108"/>
            <a:ext cx="2352050" cy="2446824"/>
          </a:xfrm>
          <a:prstGeom prst="rect">
            <a:avLst/>
          </a:prstGeom>
          <a:noFill/>
        </p:spPr>
        <p:txBody>
          <a:bodyPr wrap="square">
            <a:spAutoFit/>
          </a:bodyPr>
          <a:lstStyle/>
          <a:p>
            <a:r>
              <a:rPr lang="en-US" sz="900" dirty="0">
                <a:solidFill>
                  <a:schemeClr val="accent1">
                    <a:lumMod val="20000"/>
                    <a:lumOff val="80000"/>
                  </a:schemeClr>
                </a:solidFill>
              </a:rPr>
              <a:t>Authentication</a:t>
            </a:r>
          </a:p>
          <a:p>
            <a:r>
              <a:rPr lang="en-US" sz="900" dirty="0">
                <a:solidFill>
                  <a:schemeClr val="accent1">
                    <a:lumMod val="20000"/>
                    <a:lumOff val="80000"/>
                  </a:schemeClr>
                </a:solidFill>
              </a:rPr>
              <a:t>├── POST /</a:t>
            </a:r>
            <a:r>
              <a:rPr lang="en-US" sz="900" dirty="0" err="1">
                <a:solidFill>
                  <a:schemeClr val="accent1">
                    <a:lumMod val="20000"/>
                    <a:lumOff val="80000"/>
                  </a:schemeClr>
                </a:solidFill>
              </a:rPr>
              <a:t>api</a:t>
            </a:r>
            <a:r>
              <a:rPr lang="en-US" sz="900" dirty="0">
                <a:solidFill>
                  <a:schemeClr val="accent1">
                    <a:lumMod val="20000"/>
                    <a:lumOff val="80000"/>
                  </a:schemeClr>
                </a:solidFill>
              </a:rPr>
              <a:t>/register</a:t>
            </a:r>
          </a:p>
          <a:p>
            <a:r>
              <a:rPr lang="en-US" sz="900" dirty="0">
                <a:solidFill>
                  <a:schemeClr val="accent1">
                    <a:lumMod val="20000"/>
                    <a:lumOff val="80000"/>
                  </a:schemeClr>
                </a:solidFill>
              </a:rPr>
              <a:t>├── POST /</a:t>
            </a:r>
            <a:r>
              <a:rPr lang="en-US" sz="900" dirty="0" err="1">
                <a:solidFill>
                  <a:schemeClr val="accent1">
                    <a:lumMod val="20000"/>
                    <a:lumOff val="80000"/>
                  </a:schemeClr>
                </a:solidFill>
              </a:rPr>
              <a:t>api</a:t>
            </a:r>
            <a:r>
              <a:rPr lang="en-US" sz="900" dirty="0">
                <a:solidFill>
                  <a:schemeClr val="accent1">
                    <a:lumMod val="20000"/>
                    <a:lumOff val="80000"/>
                  </a:schemeClr>
                </a:solidFill>
              </a:rPr>
              <a:t>/login</a:t>
            </a:r>
          </a:p>
          <a:p>
            <a:r>
              <a:rPr lang="en-US" sz="900" dirty="0">
                <a:solidFill>
                  <a:schemeClr val="accent1">
                    <a:lumMod val="20000"/>
                    <a:lumOff val="80000"/>
                  </a:schemeClr>
                </a:solidFill>
              </a:rPr>
              <a:t>├── POST /</a:t>
            </a:r>
            <a:r>
              <a:rPr lang="en-US" sz="900" dirty="0" err="1">
                <a:solidFill>
                  <a:schemeClr val="accent1">
                    <a:lumMod val="20000"/>
                    <a:lumOff val="80000"/>
                  </a:schemeClr>
                </a:solidFill>
              </a:rPr>
              <a:t>api</a:t>
            </a:r>
            <a:r>
              <a:rPr lang="en-US" sz="900" dirty="0">
                <a:solidFill>
                  <a:schemeClr val="accent1">
                    <a:lumMod val="20000"/>
                    <a:lumOff val="80000"/>
                  </a:schemeClr>
                </a:solidFill>
              </a:rPr>
              <a:t>/logout</a:t>
            </a:r>
          </a:p>
          <a:p>
            <a:r>
              <a:rPr lang="en-US" sz="900" dirty="0">
                <a:solidFill>
                  <a:schemeClr val="accent1">
                    <a:lumMod val="20000"/>
                    <a:lumOff val="80000"/>
                  </a:schemeClr>
                </a:solidFill>
              </a:rPr>
              <a:t>└── GET  /</a:t>
            </a:r>
            <a:r>
              <a:rPr lang="en-US" sz="900" dirty="0" err="1">
                <a:solidFill>
                  <a:schemeClr val="accent1">
                    <a:lumMod val="20000"/>
                    <a:lumOff val="80000"/>
                  </a:schemeClr>
                </a:solidFill>
              </a:rPr>
              <a:t>api</a:t>
            </a:r>
            <a:r>
              <a:rPr lang="en-US" sz="900" dirty="0">
                <a:solidFill>
                  <a:schemeClr val="accent1">
                    <a:lumMod val="20000"/>
                    <a:lumOff val="80000"/>
                  </a:schemeClr>
                </a:solidFill>
              </a:rPr>
              <a:t>/current-user</a:t>
            </a:r>
          </a:p>
          <a:p>
            <a:endParaRPr lang="en-US" sz="900" dirty="0">
              <a:solidFill>
                <a:schemeClr val="accent1">
                  <a:lumMod val="20000"/>
                  <a:lumOff val="80000"/>
                </a:schemeClr>
              </a:solidFill>
            </a:endParaRPr>
          </a:p>
          <a:p>
            <a:r>
              <a:rPr lang="en-US" sz="900" dirty="0">
                <a:solidFill>
                  <a:schemeClr val="accent1">
                    <a:lumMod val="20000"/>
                    <a:lumOff val="80000"/>
                  </a:schemeClr>
                </a:solidFill>
              </a:rPr>
              <a:t>Posts</a:t>
            </a:r>
          </a:p>
          <a:p>
            <a:r>
              <a:rPr lang="en-US" sz="900" dirty="0">
                <a:solidFill>
                  <a:schemeClr val="accent1">
                    <a:lumMod val="20000"/>
                    <a:lumOff val="80000"/>
                  </a:schemeClr>
                </a:solidFill>
              </a:rPr>
              <a:t>├── GET    /</a:t>
            </a:r>
            <a:r>
              <a:rPr lang="en-US" sz="900" dirty="0" err="1">
                <a:solidFill>
                  <a:schemeClr val="accent1">
                    <a:lumMod val="20000"/>
                    <a:lumOff val="80000"/>
                  </a:schemeClr>
                </a:solidFill>
              </a:rPr>
              <a:t>api</a:t>
            </a:r>
            <a:r>
              <a:rPr lang="en-US" sz="900" dirty="0">
                <a:solidFill>
                  <a:schemeClr val="accent1">
                    <a:lumMod val="20000"/>
                    <a:lumOff val="80000"/>
                  </a:schemeClr>
                </a:solidFill>
              </a:rPr>
              <a:t>/posts</a:t>
            </a:r>
          </a:p>
          <a:p>
            <a:r>
              <a:rPr lang="en-US" sz="900" dirty="0">
                <a:solidFill>
                  <a:schemeClr val="accent1">
                    <a:lumMod val="20000"/>
                    <a:lumOff val="80000"/>
                  </a:schemeClr>
                </a:solidFill>
              </a:rPr>
              <a:t>├── GET    /</a:t>
            </a:r>
            <a:r>
              <a:rPr lang="en-US" sz="900" dirty="0" err="1">
                <a:solidFill>
                  <a:schemeClr val="accent1">
                    <a:lumMod val="20000"/>
                    <a:lumOff val="80000"/>
                  </a:schemeClr>
                </a:solidFill>
              </a:rPr>
              <a:t>api</a:t>
            </a:r>
            <a:r>
              <a:rPr lang="en-US" sz="900" dirty="0">
                <a:solidFill>
                  <a:schemeClr val="accent1">
                    <a:lumMod val="20000"/>
                    <a:lumOff val="80000"/>
                  </a:schemeClr>
                </a:solidFill>
              </a:rPr>
              <a:t>/posts/{id}</a:t>
            </a:r>
          </a:p>
          <a:p>
            <a:r>
              <a:rPr lang="en-US" sz="900" dirty="0">
                <a:solidFill>
                  <a:schemeClr val="accent1">
                    <a:lumMod val="20000"/>
                    <a:lumOff val="80000"/>
                  </a:schemeClr>
                </a:solidFill>
              </a:rPr>
              <a:t>├── POST   /</a:t>
            </a:r>
            <a:r>
              <a:rPr lang="en-US" sz="900" dirty="0" err="1">
                <a:solidFill>
                  <a:schemeClr val="accent1">
                    <a:lumMod val="20000"/>
                    <a:lumOff val="80000"/>
                  </a:schemeClr>
                </a:solidFill>
              </a:rPr>
              <a:t>api</a:t>
            </a:r>
            <a:r>
              <a:rPr lang="en-US" sz="900" dirty="0">
                <a:solidFill>
                  <a:schemeClr val="accent1">
                    <a:lumMod val="20000"/>
                    <a:lumOff val="80000"/>
                  </a:schemeClr>
                </a:solidFill>
              </a:rPr>
              <a:t>/posts</a:t>
            </a:r>
          </a:p>
          <a:p>
            <a:r>
              <a:rPr lang="en-US" sz="900" dirty="0">
                <a:solidFill>
                  <a:schemeClr val="accent1">
                    <a:lumMod val="20000"/>
                    <a:lumOff val="80000"/>
                  </a:schemeClr>
                </a:solidFill>
              </a:rPr>
              <a:t>├── PUT    /</a:t>
            </a:r>
            <a:r>
              <a:rPr lang="en-US" sz="900" dirty="0" err="1">
                <a:solidFill>
                  <a:schemeClr val="accent1">
                    <a:lumMod val="20000"/>
                    <a:lumOff val="80000"/>
                  </a:schemeClr>
                </a:solidFill>
              </a:rPr>
              <a:t>api</a:t>
            </a:r>
            <a:r>
              <a:rPr lang="en-US" sz="900" dirty="0">
                <a:solidFill>
                  <a:schemeClr val="accent1">
                    <a:lumMod val="20000"/>
                    <a:lumOff val="80000"/>
                  </a:schemeClr>
                </a:solidFill>
              </a:rPr>
              <a:t>/posts/{id}</a:t>
            </a:r>
          </a:p>
          <a:p>
            <a:r>
              <a:rPr lang="en-US" sz="900" dirty="0">
                <a:solidFill>
                  <a:schemeClr val="accent1">
                    <a:lumMod val="20000"/>
                    <a:lumOff val="80000"/>
                  </a:schemeClr>
                </a:solidFill>
              </a:rPr>
              <a:t>└── DELETE /</a:t>
            </a:r>
            <a:r>
              <a:rPr lang="en-US" sz="900" dirty="0" err="1">
                <a:solidFill>
                  <a:schemeClr val="accent1">
                    <a:lumMod val="20000"/>
                    <a:lumOff val="80000"/>
                  </a:schemeClr>
                </a:solidFill>
              </a:rPr>
              <a:t>api</a:t>
            </a:r>
            <a:r>
              <a:rPr lang="en-US" sz="900" dirty="0">
                <a:solidFill>
                  <a:schemeClr val="accent1">
                    <a:lumMod val="20000"/>
                    <a:lumOff val="80000"/>
                  </a:schemeClr>
                </a:solidFill>
              </a:rPr>
              <a:t>/posts/{id}</a:t>
            </a:r>
          </a:p>
          <a:p>
            <a:endParaRPr lang="en-US" sz="900" dirty="0">
              <a:solidFill>
                <a:schemeClr val="accent1">
                  <a:lumMod val="20000"/>
                  <a:lumOff val="80000"/>
                </a:schemeClr>
              </a:solidFill>
            </a:endParaRPr>
          </a:p>
          <a:p>
            <a:r>
              <a:rPr lang="en-US" sz="900" dirty="0">
                <a:solidFill>
                  <a:schemeClr val="accent1">
                    <a:lumMod val="20000"/>
                    <a:lumOff val="80000"/>
                  </a:schemeClr>
                </a:solidFill>
              </a:rPr>
              <a:t>Comments</a:t>
            </a:r>
          </a:p>
          <a:p>
            <a:r>
              <a:rPr lang="en-US" sz="900" dirty="0">
                <a:solidFill>
                  <a:schemeClr val="accent1">
                    <a:lumMod val="20000"/>
                    <a:lumOff val="80000"/>
                  </a:schemeClr>
                </a:solidFill>
              </a:rPr>
              <a:t>├── GET    /</a:t>
            </a:r>
            <a:r>
              <a:rPr lang="en-US" sz="900" dirty="0" err="1">
                <a:solidFill>
                  <a:schemeClr val="accent1">
                    <a:lumMod val="20000"/>
                    <a:lumOff val="80000"/>
                  </a:schemeClr>
                </a:solidFill>
              </a:rPr>
              <a:t>api</a:t>
            </a:r>
            <a:r>
              <a:rPr lang="en-US" sz="900" dirty="0">
                <a:solidFill>
                  <a:schemeClr val="accent1">
                    <a:lumMod val="20000"/>
                    <a:lumOff val="80000"/>
                  </a:schemeClr>
                </a:solidFill>
              </a:rPr>
              <a:t>/posts/{</a:t>
            </a:r>
            <a:r>
              <a:rPr lang="en-US" sz="900" dirty="0" err="1">
                <a:solidFill>
                  <a:schemeClr val="accent1">
                    <a:lumMod val="20000"/>
                    <a:lumOff val="80000"/>
                  </a:schemeClr>
                </a:solidFill>
              </a:rPr>
              <a:t>postId</a:t>
            </a:r>
            <a:r>
              <a:rPr lang="en-US" sz="900" dirty="0">
                <a:solidFill>
                  <a:schemeClr val="accent1">
                    <a:lumMod val="20000"/>
                    <a:lumOff val="80000"/>
                  </a:schemeClr>
                </a:solidFill>
              </a:rPr>
              <a:t>}/comments</a:t>
            </a:r>
          </a:p>
          <a:p>
            <a:r>
              <a:rPr lang="en-US" sz="900" dirty="0">
                <a:solidFill>
                  <a:schemeClr val="accent1">
                    <a:lumMod val="20000"/>
                    <a:lumOff val="80000"/>
                  </a:schemeClr>
                </a:solidFill>
              </a:rPr>
              <a:t>├── POST   /</a:t>
            </a:r>
            <a:r>
              <a:rPr lang="en-US" sz="900" dirty="0" err="1">
                <a:solidFill>
                  <a:schemeClr val="accent1">
                    <a:lumMod val="20000"/>
                    <a:lumOff val="80000"/>
                  </a:schemeClr>
                </a:solidFill>
              </a:rPr>
              <a:t>api</a:t>
            </a:r>
            <a:r>
              <a:rPr lang="en-US" sz="900" dirty="0">
                <a:solidFill>
                  <a:schemeClr val="accent1">
                    <a:lumMod val="20000"/>
                    <a:lumOff val="80000"/>
                  </a:schemeClr>
                </a:solidFill>
              </a:rPr>
              <a:t>/posts/{</a:t>
            </a:r>
            <a:r>
              <a:rPr lang="en-US" sz="900" dirty="0" err="1">
                <a:solidFill>
                  <a:schemeClr val="accent1">
                    <a:lumMod val="20000"/>
                    <a:lumOff val="80000"/>
                  </a:schemeClr>
                </a:solidFill>
              </a:rPr>
              <a:t>postId</a:t>
            </a:r>
            <a:r>
              <a:rPr lang="en-US" sz="900" dirty="0">
                <a:solidFill>
                  <a:schemeClr val="accent1">
                    <a:lumMod val="20000"/>
                    <a:lumOff val="80000"/>
                  </a:schemeClr>
                </a:solidFill>
              </a:rPr>
              <a:t>}/comments</a:t>
            </a:r>
          </a:p>
          <a:p>
            <a:r>
              <a:rPr lang="en-US" sz="900" dirty="0">
                <a:solidFill>
                  <a:schemeClr val="accent1">
                    <a:lumMod val="20000"/>
                    <a:lumOff val="80000"/>
                  </a:schemeClr>
                </a:solidFill>
              </a:rPr>
              <a:t>└── DELETE /</a:t>
            </a:r>
            <a:r>
              <a:rPr lang="en-US" sz="900" dirty="0" err="1">
                <a:solidFill>
                  <a:schemeClr val="accent1">
                    <a:lumMod val="20000"/>
                    <a:lumOff val="80000"/>
                  </a:schemeClr>
                </a:solidFill>
              </a:rPr>
              <a:t>api</a:t>
            </a:r>
            <a:r>
              <a:rPr lang="en-US" sz="900" dirty="0">
                <a:solidFill>
                  <a:schemeClr val="accent1">
                    <a:lumMod val="20000"/>
                    <a:lumOff val="80000"/>
                  </a:schemeClr>
                </a:solidFill>
              </a:rPr>
              <a:t>/comments/{id}</a:t>
            </a:r>
          </a:p>
        </p:txBody>
      </p:sp>
      <p:sp>
        <p:nvSpPr>
          <p:cNvPr id="35" name="TextBox 34">
            <a:extLst>
              <a:ext uri="{FF2B5EF4-FFF2-40B4-BE49-F238E27FC236}">
                <a16:creationId xmlns:a16="http://schemas.microsoft.com/office/drawing/2014/main" id="{4976276E-7A1D-1E9A-5B43-3EE49F94764B}"/>
              </a:ext>
            </a:extLst>
          </p:cNvPr>
          <p:cNvSpPr txBox="1"/>
          <p:nvPr/>
        </p:nvSpPr>
        <p:spPr>
          <a:xfrm>
            <a:off x="5239768" y="1348124"/>
            <a:ext cx="2352050" cy="1338828"/>
          </a:xfrm>
          <a:prstGeom prst="rect">
            <a:avLst/>
          </a:prstGeom>
          <a:noFill/>
        </p:spPr>
        <p:txBody>
          <a:bodyPr wrap="square">
            <a:spAutoFit/>
          </a:bodyPr>
          <a:lstStyle/>
          <a:p>
            <a:r>
              <a:rPr lang="en-US" sz="900" dirty="0">
                <a:solidFill>
                  <a:schemeClr val="accent1">
                    <a:lumMod val="20000"/>
                    <a:lumOff val="80000"/>
                  </a:schemeClr>
                </a:solidFill>
              </a:rPr>
              <a:t>Users</a:t>
            </a:r>
          </a:p>
          <a:p>
            <a:r>
              <a:rPr lang="en-US" sz="900" dirty="0">
                <a:solidFill>
                  <a:schemeClr val="accent1">
                    <a:lumMod val="20000"/>
                    <a:lumOff val="80000"/>
                  </a:schemeClr>
                </a:solidFill>
              </a:rPr>
              <a:t>  │</a:t>
            </a:r>
          </a:p>
          <a:p>
            <a:r>
              <a:rPr lang="en-US" sz="900" dirty="0">
                <a:solidFill>
                  <a:schemeClr val="accent1">
                    <a:lumMod val="20000"/>
                    <a:lumOff val="80000"/>
                  </a:schemeClr>
                </a:solidFill>
              </a:rPr>
              <a:t>  │ 1 : N</a:t>
            </a:r>
          </a:p>
          <a:p>
            <a:r>
              <a:rPr lang="en-US" sz="900" dirty="0">
                <a:solidFill>
                  <a:schemeClr val="accent1">
                    <a:lumMod val="20000"/>
                    <a:lumOff val="80000"/>
                  </a:schemeClr>
                </a:solidFill>
              </a:rPr>
              <a:t>  ↓</a:t>
            </a:r>
          </a:p>
          <a:p>
            <a:r>
              <a:rPr lang="en-US" sz="900" dirty="0">
                <a:solidFill>
                  <a:schemeClr val="accent1">
                    <a:lumMod val="20000"/>
                    <a:lumOff val="80000"/>
                  </a:schemeClr>
                </a:solidFill>
              </a:rPr>
              <a:t>Posts</a:t>
            </a:r>
          </a:p>
          <a:p>
            <a:r>
              <a:rPr lang="en-US" sz="900" dirty="0">
                <a:solidFill>
                  <a:schemeClr val="accent1">
                    <a:lumMod val="20000"/>
                    <a:lumOff val="80000"/>
                  </a:schemeClr>
                </a:solidFill>
              </a:rPr>
              <a:t>  │</a:t>
            </a:r>
          </a:p>
          <a:p>
            <a:r>
              <a:rPr lang="en-US" sz="900" dirty="0">
                <a:solidFill>
                  <a:schemeClr val="accent1">
                    <a:lumMod val="20000"/>
                    <a:lumOff val="80000"/>
                  </a:schemeClr>
                </a:solidFill>
              </a:rPr>
              <a:t>  │ 1 : N</a:t>
            </a:r>
          </a:p>
          <a:p>
            <a:r>
              <a:rPr lang="en-US" sz="900" dirty="0">
                <a:solidFill>
                  <a:schemeClr val="accent1">
                    <a:lumMod val="20000"/>
                    <a:lumOff val="80000"/>
                  </a:schemeClr>
                </a:solidFill>
              </a:rPr>
              <a:t>  ↓</a:t>
            </a:r>
          </a:p>
          <a:p>
            <a:r>
              <a:rPr lang="en-US" sz="900" dirty="0">
                <a:solidFill>
                  <a:schemeClr val="accent1">
                    <a:lumMod val="20000"/>
                    <a:lumOff val="80000"/>
                  </a:schemeClr>
                </a:solidFill>
              </a:rPr>
              <a:t>Comments</a:t>
            </a:r>
          </a:p>
        </p:txBody>
      </p:sp>
      <p:sp>
        <p:nvSpPr>
          <p:cNvPr id="37" name="Text 2">
            <a:extLst>
              <a:ext uri="{FF2B5EF4-FFF2-40B4-BE49-F238E27FC236}">
                <a16:creationId xmlns:a16="http://schemas.microsoft.com/office/drawing/2014/main" id="{F53CB4FA-56F4-BD28-C506-9391F2A04391}"/>
              </a:ext>
            </a:extLst>
          </p:cNvPr>
          <p:cNvSpPr/>
          <p:nvPr/>
        </p:nvSpPr>
        <p:spPr>
          <a:xfrm>
            <a:off x="428625" y="1124389"/>
            <a:ext cx="1218009" cy="246459"/>
          </a:xfrm>
          <a:prstGeom prst="rect">
            <a:avLst/>
          </a:prstGeom>
          <a:noFill/>
          <a:ln/>
        </p:spPr>
        <p:txBody>
          <a:bodyPr wrap="square" lIns="0" tIns="0" rIns="0" bIns="85090" rtlCol="0" anchor="t">
            <a:spAutoFit/>
          </a:bodyPr>
          <a:lstStyle/>
          <a:p>
            <a:pPr marL="0" indent="0" algn="l">
              <a:buNone/>
            </a:pPr>
            <a:r>
              <a:rPr lang="en-US" sz="1000" b="1" dirty="0">
                <a:solidFill>
                  <a:srgbClr val="06B6D4"/>
                </a:solidFill>
                <a:latin typeface="Kantumruy Pro Bold" pitchFamily="34" charset="0"/>
                <a:ea typeface="Kantumruy Pro Bold" pitchFamily="34" charset="-122"/>
                <a:cs typeface="Kantumruy Pro Bold" pitchFamily="34" charset="-120"/>
              </a:rPr>
              <a:t>Laravel REST API</a:t>
            </a:r>
            <a:endParaRPr lang="en-US" sz="1000" dirty="0"/>
          </a:p>
        </p:txBody>
      </p:sp>
      <p:sp>
        <p:nvSpPr>
          <p:cNvPr id="39" name="Text 2">
            <a:extLst>
              <a:ext uri="{FF2B5EF4-FFF2-40B4-BE49-F238E27FC236}">
                <a16:creationId xmlns:a16="http://schemas.microsoft.com/office/drawing/2014/main" id="{DB9A3DCA-7ACB-D11F-183F-9D6FD1F04BC7}"/>
              </a:ext>
            </a:extLst>
          </p:cNvPr>
          <p:cNvSpPr/>
          <p:nvPr/>
        </p:nvSpPr>
        <p:spPr>
          <a:xfrm>
            <a:off x="5274959" y="1096795"/>
            <a:ext cx="1218009" cy="246459"/>
          </a:xfrm>
          <a:prstGeom prst="rect">
            <a:avLst/>
          </a:prstGeom>
          <a:noFill/>
          <a:ln/>
        </p:spPr>
        <p:txBody>
          <a:bodyPr wrap="square" lIns="0" tIns="0" rIns="0" bIns="85090" rtlCol="0" anchor="t">
            <a:spAutoFit/>
          </a:bodyPr>
          <a:lstStyle/>
          <a:p>
            <a:pPr marL="0" indent="0" algn="l">
              <a:buNone/>
            </a:pPr>
            <a:r>
              <a:rPr lang="en-US" sz="1000" b="1" dirty="0">
                <a:solidFill>
                  <a:srgbClr val="06B6D4"/>
                </a:solidFill>
                <a:latin typeface="Kantumruy Pro Bold" pitchFamily="34" charset="0"/>
                <a:ea typeface="Kantumruy Pro Bold" pitchFamily="34" charset="-122"/>
                <a:cs typeface="Kantumruy Pro Bold" pitchFamily="34" charset="-120"/>
              </a:rPr>
              <a:t>Database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998E6-2950-D659-FAB3-08E2EB170A3C}"/>
            </a:ext>
          </a:extLst>
        </p:cNvPr>
        <p:cNvGrpSpPr/>
        <p:nvPr/>
      </p:nvGrpSpPr>
      <p:grpSpPr>
        <a:xfrm>
          <a:off x="0" y="0"/>
          <a:ext cx="0" cy="0"/>
          <a:chOff x="0" y="0"/>
          <a:chExt cx="0" cy="0"/>
        </a:xfrm>
      </p:grpSpPr>
      <p:pic>
        <p:nvPicPr>
          <p:cNvPr id="33" name="Image 0" descr="preencoded.png">
            <a:extLst>
              <a:ext uri="{FF2B5EF4-FFF2-40B4-BE49-F238E27FC236}">
                <a16:creationId xmlns:a16="http://schemas.microsoft.com/office/drawing/2014/main" id="{19A2BC78-D881-86E9-ADA9-A5227715C13C}"/>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C4A37DCB-3702-4C57-D51F-1C0965ADED7B}"/>
              </a:ext>
            </a:extLst>
          </p:cNvPr>
          <p:cNvSpPr/>
          <p:nvPr/>
        </p:nvSpPr>
        <p:spPr>
          <a:xfrm>
            <a:off x="428625" y="428625"/>
            <a:ext cx="8286750" cy="246221"/>
          </a:xfrm>
          <a:prstGeom prst="rect">
            <a:avLst/>
          </a:prstGeom>
          <a:noFill/>
          <a:ln/>
        </p:spPr>
        <p:txBody>
          <a:bodyPr wrap="square" lIns="0" tIns="0" rIns="0" bIns="0" rtlCol="0" anchor="t">
            <a:spAutoFit/>
          </a:bodyPr>
          <a:lstStyle/>
          <a:p>
            <a:pPr marL="0" indent="0" algn="l">
              <a:buNone/>
            </a:pPr>
            <a:r>
              <a:rPr lang="en-US" sz="1600" b="1" dirty="0" err="1">
                <a:solidFill>
                  <a:srgbClr val="F8FAFC"/>
                </a:solidFill>
                <a:latin typeface="Kantumruy Pro Bold" pitchFamily="34" charset="0"/>
                <a:ea typeface="Kantumruy Pro Bold" pitchFamily="34" charset="-122"/>
                <a:cs typeface="Kantumruy Pro Bold" pitchFamily="34" charset="-120"/>
              </a:rPr>
              <a:t>GetX</a:t>
            </a:r>
            <a:r>
              <a:rPr lang="en-US" sz="1600" b="1" dirty="0">
                <a:solidFill>
                  <a:srgbClr val="F8FAFC"/>
                </a:solidFill>
                <a:latin typeface="Kantumruy Pro Bold" pitchFamily="34" charset="0"/>
                <a:ea typeface="Kantumruy Pro Bold" pitchFamily="34" charset="-122"/>
                <a:cs typeface="Kantumruy Pro Bold" pitchFamily="34" charset="-120"/>
              </a:rPr>
              <a:t> State Management</a:t>
            </a:r>
            <a:endParaRPr lang="en-US" sz="1600" dirty="0"/>
          </a:p>
        </p:txBody>
      </p:sp>
      <p:sp>
        <p:nvSpPr>
          <p:cNvPr id="30" name="Text 26">
            <a:extLst>
              <a:ext uri="{FF2B5EF4-FFF2-40B4-BE49-F238E27FC236}">
                <a16:creationId xmlns:a16="http://schemas.microsoft.com/office/drawing/2014/main" id="{3E649982-693E-3D46-96F8-167A3C1D30F7}"/>
              </a:ext>
            </a:extLst>
          </p:cNvPr>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1" name="Text 27">
            <a:extLst>
              <a:ext uri="{FF2B5EF4-FFF2-40B4-BE49-F238E27FC236}">
                <a16:creationId xmlns:a16="http://schemas.microsoft.com/office/drawing/2014/main" id="{7FF01ADE-1571-821E-9F36-110913887F39}"/>
              </a:ext>
            </a:extLst>
          </p:cNvPr>
          <p:cNvSpPr/>
          <p:nvPr/>
        </p:nvSpPr>
        <p:spPr>
          <a:xfrm>
            <a:off x="8661797" y="4811316"/>
            <a:ext cx="53578"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7</a:t>
            </a:r>
            <a:endParaRPr lang="en-US" sz="750" dirty="0"/>
          </a:p>
        </p:txBody>
      </p:sp>
      <p:sp>
        <p:nvSpPr>
          <p:cNvPr id="5" name="TextBox 4">
            <a:extLst>
              <a:ext uri="{FF2B5EF4-FFF2-40B4-BE49-F238E27FC236}">
                <a16:creationId xmlns:a16="http://schemas.microsoft.com/office/drawing/2014/main" id="{D1631F67-680C-3D75-94E0-F66B6C3B88B4}"/>
              </a:ext>
            </a:extLst>
          </p:cNvPr>
          <p:cNvSpPr txBox="1"/>
          <p:nvPr/>
        </p:nvSpPr>
        <p:spPr>
          <a:xfrm>
            <a:off x="376159" y="1366108"/>
            <a:ext cx="2352050" cy="1061829"/>
          </a:xfrm>
          <a:prstGeom prst="rect">
            <a:avLst/>
          </a:prstGeom>
          <a:noFill/>
        </p:spPr>
        <p:txBody>
          <a:bodyPr wrap="square">
            <a:spAutoFit/>
          </a:bodyPr>
          <a:lstStyle/>
          <a:p>
            <a:r>
              <a:rPr lang="en-US" sz="900" dirty="0">
                <a:solidFill>
                  <a:schemeClr val="accent1">
                    <a:lumMod val="20000"/>
                    <a:lumOff val="80000"/>
                  </a:schemeClr>
                </a:solidFill>
              </a:rPr>
              <a:t>View</a:t>
            </a:r>
          </a:p>
          <a:p>
            <a:r>
              <a:rPr lang="en-US" sz="900" dirty="0">
                <a:solidFill>
                  <a:schemeClr val="accent1">
                    <a:lumMod val="20000"/>
                    <a:lumOff val="80000"/>
                  </a:schemeClr>
                </a:solidFill>
              </a:rPr>
              <a:t> ↓</a:t>
            </a:r>
          </a:p>
          <a:p>
            <a:r>
              <a:rPr lang="en-US" sz="900" dirty="0">
                <a:solidFill>
                  <a:schemeClr val="accent1">
                    <a:lumMod val="20000"/>
                    <a:lumOff val="80000"/>
                  </a:schemeClr>
                </a:solidFill>
              </a:rPr>
              <a:t>Controller</a:t>
            </a:r>
          </a:p>
          <a:p>
            <a:r>
              <a:rPr lang="en-US" sz="900" dirty="0">
                <a:solidFill>
                  <a:schemeClr val="accent1">
                    <a:lumMod val="20000"/>
                    <a:lumOff val="80000"/>
                  </a:schemeClr>
                </a:solidFill>
              </a:rPr>
              <a:t> ↓</a:t>
            </a:r>
          </a:p>
          <a:p>
            <a:r>
              <a:rPr lang="en-US" sz="900" dirty="0">
                <a:solidFill>
                  <a:schemeClr val="accent1">
                    <a:lumMod val="20000"/>
                    <a:lumOff val="80000"/>
                  </a:schemeClr>
                </a:solidFill>
              </a:rPr>
              <a:t>Reactive State</a:t>
            </a:r>
          </a:p>
          <a:p>
            <a:r>
              <a:rPr lang="en-US" sz="900" dirty="0">
                <a:solidFill>
                  <a:schemeClr val="accent1">
                    <a:lumMod val="20000"/>
                    <a:lumOff val="80000"/>
                  </a:schemeClr>
                </a:solidFill>
              </a:rPr>
              <a:t> ↓</a:t>
            </a:r>
          </a:p>
          <a:p>
            <a:r>
              <a:rPr lang="en-US" sz="900" dirty="0">
                <a:solidFill>
                  <a:schemeClr val="accent1">
                    <a:lumMod val="20000"/>
                    <a:lumOff val="80000"/>
                  </a:schemeClr>
                </a:solidFill>
              </a:rPr>
              <a:t>UI Update</a:t>
            </a:r>
          </a:p>
        </p:txBody>
      </p:sp>
      <p:sp>
        <p:nvSpPr>
          <p:cNvPr id="35" name="TextBox 34">
            <a:extLst>
              <a:ext uri="{FF2B5EF4-FFF2-40B4-BE49-F238E27FC236}">
                <a16:creationId xmlns:a16="http://schemas.microsoft.com/office/drawing/2014/main" id="{8526CC87-74AC-2AAB-0700-BC3369386163}"/>
              </a:ext>
            </a:extLst>
          </p:cNvPr>
          <p:cNvSpPr txBox="1"/>
          <p:nvPr/>
        </p:nvSpPr>
        <p:spPr>
          <a:xfrm>
            <a:off x="5239768" y="1348124"/>
            <a:ext cx="2352050" cy="1061829"/>
          </a:xfrm>
          <a:prstGeom prst="rect">
            <a:avLst/>
          </a:prstGeom>
          <a:noFill/>
        </p:spPr>
        <p:txBody>
          <a:bodyPr wrap="square">
            <a:spAutoFit/>
          </a:bodyPr>
          <a:lstStyle/>
          <a:p>
            <a:pPr marL="171450" indent="-171450">
              <a:buFont typeface="Arial" panose="020B0604020202020204" pitchFamily="34" charset="0"/>
              <a:buChar char="•"/>
            </a:pPr>
            <a:r>
              <a:rPr lang="en-US" sz="900" dirty="0" err="1">
                <a:solidFill>
                  <a:schemeClr val="accent1">
                    <a:lumMod val="20000"/>
                    <a:lumOff val="80000"/>
                  </a:schemeClr>
                </a:solidFill>
              </a:rPr>
              <a:t>AuthController</a:t>
            </a:r>
            <a:r>
              <a:rPr lang="en-US" sz="900" dirty="0">
                <a:solidFill>
                  <a:schemeClr val="accent1">
                    <a:lumMod val="20000"/>
                    <a:lumOff val="80000"/>
                  </a:schemeClr>
                </a:solidFill>
              </a:rPr>
              <a:t> </a:t>
            </a:r>
          </a:p>
          <a:p>
            <a:pPr marL="171450" indent="-171450">
              <a:buFont typeface="Arial" panose="020B0604020202020204" pitchFamily="34" charset="0"/>
              <a:buChar char="•"/>
            </a:pPr>
            <a:r>
              <a:rPr lang="en-US" sz="900" dirty="0" err="1">
                <a:solidFill>
                  <a:schemeClr val="accent1">
                    <a:lumMod val="20000"/>
                    <a:lumOff val="80000"/>
                  </a:schemeClr>
                </a:solidFill>
              </a:rPr>
              <a:t>HomeController</a:t>
            </a:r>
            <a:r>
              <a:rPr lang="en-US" sz="900" dirty="0">
                <a:solidFill>
                  <a:schemeClr val="accent1">
                    <a:lumMod val="20000"/>
                    <a:lumOff val="80000"/>
                  </a:schemeClr>
                </a:solidFill>
              </a:rPr>
              <a:t> </a:t>
            </a:r>
          </a:p>
          <a:p>
            <a:pPr marL="171450" indent="-171450">
              <a:buFont typeface="Arial" panose="020B0604020202020204" pitchFamily="34" charset="0"/>
              <a:buChar char="•"/>
            </a:pPr>
            <a:r>
              <a:rPr lang="en-US" sz="900" dirty="0" err="1">
                <a:solidFill>
                  <a:schemeClr val="accent1">
                    <a:lumMod val="20000"/>
                    <a:lumOff val="80000"/>
                  </a:schemeClr>
                </a:solidFill>
              </a:rPr>
              <a:t>PostsController</a:t>
            </a:r>
            <a:r>
              <a:rPr lang="en-US" sz="900" dirty="0">
                <a:solidFill>
                  <a:schemeClr val="accent1">
                    <a:lumMod val="20000"/>
                    <a:lumOff val="80000"/>
                  </a:schemeClr>
                </a:solidFill>
              </a:rPr>
              <a:t> </a:t>
            </a:r>
          </a:p>
          <a:p>
            <a:pPr marL="171450" indent="-171450">
              <a:buFont typeface="Arial" panose="020B0604020202020204" pitchFamily="34" charset="0"/>
              <a:buChar char="•"/>
            </a:pPr>
            <a:r>
              <a:rPr lang="en-US" sz="900" dirty="0" err="1">
                <a:solidFill>
                  <a:schemeClr val="accent1">
                    <a:lumMod val="20000"/>
                    <a:lumOff val="80000"/>
                  </a:schemeClr>
                </a:solidFill>
              </a:rPr>
              <a:t>CommentsController</a:t>
            </a:r>
            <a:r>
              <a:rPr lang="en-US" sz="900" dirty="0">
                <a:solidFill>
                  <a:schemeClr val="accent1">
                    <a:lumMod val="20000"/>
                    <a:lumOff val="80000"/>
                  </a:schemeClr>
                </a:solidFill>
              </a:rPr>
              <a:t> </a:t>
            </a:r>
          </a:p>
          <a:p>
            <a:pPr marL="171450" indent="-171450">
              <a:buFont typeface="Arial" panose="020B0604020202020204" pitchFamily="34" charset="0"/>
              <a:buChar char="•"/>
            </a:pPr>
            <a:r>
              <a:rPr lang="en-US" sz="900" dirty="0" err="1">
                <a:solidFill>
                  <a:schemeClr val="accent1">
                    <a:lumMod val="20000"/>
                    <a:lumOff val="80000"/>
                  </a:schemeClr>
                </a:solidFill>
              </a:rPr>
              <a:t>ProfileController</a:t>
            </a:r>
            <a:r>
              <a:rPr lang="en-US" sz="900" dirty="0">
                <a:solidFill>
                  <a:schemeClr val="accent1">
                    <a:lumMod val="20000"/>
                    <a:lumOff val="80000"/>
                  </a:schemeClr>
                </a:solidFill>
              </a:rPr>
              <a:t> </a:t>
            </a:r>
          </a:p>
          <a:p>
            <a:pPr marL="171450" indent="-171450">
              <a:buFont typeface="Arial" panose="020B0604020202020204" pitchFamily="34" charset="0"/>
              <a:buChar char="•"/>
            </a:pPr>
            <a:r>
              <a:rPr lang="en-US" sz="900" dirty="0" err="1">
                <a:solidFill>
                  <a:schemeClr val="accent1">
                    <a:lumMod val="20000"/>
                    <a:lumOff val="80000"/>
                  </a:schemeClr>
                </a:solidFill>
              </a:rPr>
              <a:t>SplashController</a:t>
            </a:r>
            <a:r>
              <a:rPr lang="en-US" sz="900" dirty="0">
                <a:solidFill>
                  <a:schemeClr val="accent1">
                    <a:lumMod val="20000"/>
                    <a:lumOff val="80000"/>
                  </a:schemeClr>
                </a:solidFill>
              </a:rPr>
              <a:t> </a:t>
            </a:r>
          </a:p>
          <a:p>
            <a:pPr marL="171450" indent="-171450">
              <a:buFont typeface="Arial" panose="020B0604020202020204" pitchFamily="34" charset="0"/>
              <a:buChar char="•"/>
            </a:pPr>
            <a:r>
              <a:rPr lang="en-US" sz="900" dirty="0" err="1">
                <a:solidFill>
                  <a:schemeClr val="accent1">
                    <a:lumMod val="20000"/>
                    <a:lumOff val="80000"/>
                  </a:schemeClr>
                </a:solidFill>
              </a:rPr>
              <a:t>ThemeController</a:t>
            </a:r>
            <a:endParaRPr lang="en-US" sz="900" dirty="0">
              <a:solidFill>
                <a:schemeClr val="accent1">
                  <a:lumMod val="20000"/>
                  <a:lumOff val="80000"/>
                </a:schemeClr>
              </a:solidFill>
            </a:endParaRPr>
          </a:p>
        </p:txBody>
      </p:sp>
      <p:sp>
        <p:nvSpPr>
          <p:cNvPr id="37" name="Text 2">
            <a:extLst>
              <a:ext uri="{FF2B5EF4-FFF2-40B4-BE49-F238E27FC236}">
                <a16:creationId xmlns:a16="http://schemas.microsoft.com/office/drawing/2014/main" id="{F08B9DF1-04E7-09DA-967B-4505CCA7A3D0}"/>
              </a:ext>
            </a:extLst>
          </p:cNvPr>
          <p:cNvSpPr/>
          <p:nvPr/>
        </p:nvSpPr>
        <p:spPr>
          <a:xfrm>
            <a:off x="428625" y="1124389"/>
            <a:ext cx="1509032" cy="239809"/>
          </a:xfrm>
          <a:prstGeom prst="rect">
            <a:avLst/>
          </a:prstGeom>
          <a:noFill/>
          <a:ln/>
        </p:spPr>
        <p:txBody>
          <a:bodyPr wrap="square" lIns="0" tIns="0" rIns="0" bIns="85090" rtlCol="0" anchor="t">
            <a:spAutoFit/>
          </a:bodyPr>
          <a:lstStyle/>
          <a:p>
            <a:pPr marL="0" indent="0" algn="l">
              <a:buNone/>
            </a:pPr>
            <a:r>
              <a:rPr lang="en-US" sz="1000" b="1" dirty="0" err="1">
                <a:solidFill>
                  <a:srgbClr val="06B6D4"/>
                </a:solidFill>
                <a:latin typeface="Kantumruy Pro Bold" pitchFamily="34" charset="0"/>
                <a:ea typeface="Kantumruy Pro Bold" pitchFamily="34" charset="-122"/>
                <a:cs typeface="Kantumruy Pro Bold" pitchFamily="34" charset="-120"/>
              </a:rPr>
              <a:t>GetX</a:t>
            </a:r>
            <a:r>
              <a:rPr lang="en-US" sz="1000" b="1" dirty="0">
                <a:solidFill>
                  <a:srgbClr val="06B6D4"/>
                </a:solidFill>
                <a:latin typeface="Kantumruy Pro Bold" pitchFamily="34" charset="0"/>
                <a:ea typeface="Kantumruy Pro Bold" pitchFamily="34" charset="-122"/>
                <a:cs typeface="Kantumruy Pro Bold" pitchFamily="34" charset="-120"/>
              </a:rPr>
              <a:t> Responsibilities</a:t>
            </a:r>
            <a:endParaRPr lang="en-US" sz="1000" dirty="0"/>
          </a:p>
        </p:txBody>
      </p:sp>
      <p:sp>
        <p:nvSpPr>
          <p:cNvPr id="39" name="Text 2">
            <a:extLst>
              <a:ext uri="{FF2B5EF4-FFF2-40B4-BE49-F238E27FC236}">
                <a16:creationId xmlns:a16="http://schemas.microsoft.com/office/drawing/2014/main" id="{524808FF-E45A-26F2-DC12-56FF6445EBC7}"/>
              </a:ext>
            </a:extLst>
          </p:cNvPr>
          <p:cNvSpPr/>
          <p:nvPr/>
        </p:nvSpPr>
        <p:spPr>
          <a:xfrm>
            <a:off x="5274959" y="1096795"/>
            <a:ext cx="1218009" cy="246459"/>
          </a:xfrm>
          <a:prstGeom prst="rect">
            <a:avLst/>
          </a:prstGeom>
          <a:noFill/>
          <a:ln/>
        </p:spPr>
        <p:txBody>
          <a:bodyPr wrap="square" lIns="0" tIns="0" rIns="0" bIns="85090" rtlCol="0" anchor="t">
            <a:spAutoFit/>
          </a:bodyPr>
          <a:lstStyle/>
          <a:p>
            <a:pPr marL="0" indent="0" algn="l">
              <a:buNone/>
            </a:pPr>
            <a:r>
              <a:rPr lang="en-US" sz="1000" b="1" dirty="0">
                <a:solidFill>
                  <a:srgbClr val="06B6D4"/>
                </a:solidFill>
                <a:latin typeface="Kantumruy Pro Bold" pitchFamily="34" charset="0"/>
                <a:ea typeface="Kantumruy Pro Bold" pitchFamily="34" charset="-122"/>
                <a:cs typeface="Kantumruy Pro Bold" pitchFamily="34" charset="-120"/>
              </a:rPr>
              <a:t>Controllers</a:t>
            </a:r>
            <a:endParaRPr lang="en-US" sz="1000" dirty="0"/>
          </a:p>
        </p:txBody>
      </p:sp>
    </p:spTree>
    <p:extLst>
      <p:ext uri="{BB962C8B-B14F-4D97-AF65-F5344CB8AC3E}">
        <p14:creationId xmlns:p14="http://schemas.microsoft.com/office/powerpoint/2010/main" val="3220974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928938" y="1419820"/>
            <a:ext cx="3286125" cy="403622"/>
          </a:xfrm>
          <a:prstGeom prst="rect">
            <a:avLst/>
          </a:prstGeom>
          <a:noFill/>
          <a:ln/>
        </p:spPr>
        <p:txBody>
          <a:bodyPr wrap="square" lIns="0" tIns="0" rIns="0" bIns="0" rtlCol="0" anchor="t">
            <a:spAutoFit/>
          </a:bodyPr>
          <a:lstStyle/>
          <a:p>
            <a:pPr marL="0" indent="0" algn="l">
              <a:buNone/>
            </a:pPr>
            <a:r>
              <a:rPr lang="en-US" sz="2450" b="1" dirty="0">
                <a:solidFill>
                  <a:srgbClr val="06B6D4"/>
                </a:solidFill>
                <a:latin typeface="Kantumruy Pro Bold" pitchFamily="34" charset="0"/>
                <a:ea typeface="Kantumruy Pro Bold" pitchFamily="34" charset="-122"/>
                <a:cs typeface="Kantumruy Pro Bold" pitchFamily="34" charset="-120"/>
              </a:rPr>
              <a:t>Live Demonstration</a:t>
            </a:r>
            <a:endParaRPr lang="en-US" sz="2450" dirty="0"/>
          </a:p>
        </p:txBody>
      </p:sp>
      <p:sp>
        <p:nvSpPr>
          <p:cNvPr id="5" name="Shape 1"/>
          <p:cNvSpPr/>
          <p:nvPr/>
        </p:nvSpPr>
        <p:spPr>
          <a:xfrm>
            <a:off x="428625" y="2109192"/>
            <a:ext cx="2666963" cy="735806"/>
          </a:xfrm>
          <a:prstGeom prst="rect">
            <a:avLst/>
          </a:prstGeom>
          <a:solidFill>
            <a:srgbClr val="1E293B"/>
          </a:solidFill>
          <a:ln w="9144">
            <a:solidFill>
              <a:srgbClr val="334155"/>
            </a:solidFill>
            <a:prstDash val="solid"/>
          </a:ln>
        </p:spPr>
      </p:sp>
      <p:sp>
        <p:nvSpPr>
          <p:cNvPr id="6" name="Shape 2"/>
          <p:cNvSpPr/>
          <p:nvPr/>
        </p:nvSpPr>
        <p:spPr>
          <a:xfrm>
            <a:off x="1654950" y="2252067"/>
            <a:ext cx="214313" cy="214313"/>
          </a:xfrm>
          <a:prstGeom prst="ellipse">
            <a:avLst/>
          </a:prstGeom>
          <a:solidFill>
            <a:srgbClr val="F59E0B"/>
          </a:solidFill>
          <a:ln/>
        </p:spPr>
      </p:sp>
      <p:sp>
        <p:nvSpPr>
          <p:cNvPr id="7" name="Text 3"/>
          <p:cNvSpPr/>
          <p:nvPr/>
        </p:nvSpPr>
        <p:spPr>
          <a:xfrm>
            <a:off x="1654950" y="2252067"/>
            <a:ext cx="214313" cy="214313"/>
          </a:xfrm>
          <a:prstGeom prst="rect">
            <a:avLst/>
          </a:prstGeom>
          <a:noFill/>
          <a:ln/>
        </p:spPr>
        <p:txBody>
          <a:bodyPr wrap="none" lIns="0" tIns="0" rIns="0" bIns="0" rtlCol="0" anchor="t">
            <a:spAutoFit/>
          </a:bodyPr>
          <a:lstStyle/>
          <a:p>
            <a:pPr marL="0" indent="0" algn="ctr">
              <a:lnSpc>
                <a:spcPct val="133333"/>
              </a:lnSpc>
              <a:buNone/>
            </a:pPr>
            <a:r>
              <a:rPr lang="en-US" sz="900" b="1" dirty="0">
                <a:solidFill>
                  <a:srgbClr val="0F172A"/>
                </a:solidFill>
                <a:latin typeface="Kantumruy Pro Bold" pitchFamily="34" charset="0"/>
                <a:ea typeface="Kantumruy Pro Bold" pitchFamily="34" charset="-122"/>
                <a:cs typeface="Kantumruy Pro Bold" pitchFamily="34" charset="-120"/>
              </a:rPr>
              <a:t>1</a:t>
            </a:r>
            <a:endParaRPr lang="en-US" sz="900" dirty="0"/>
          </a:p>
        </p:txBody>
      </p:sp>
      <p:sp>
        <p:nvSpPr>
          <p:cNvPr id="8" name="Text 4"/>
          <p:cNvSpPr/>
          <p:nvPr/>
        </p:nvSpPr>
        <p:spPr>
          <a:xfrm>
            <a:off x="571500" y="2537817"/>
            <a:ext cx="2381213" cy="150019"/>
          </a:xfrm>
          <a:prstGeom prst="rect">
            <a:avLst/>
          </a:prstGeom>
          <a:noFill/>
          <a:ln/>
        </p:spPr>
        <p:txBody>
          <a:bodyPr wrap="square" lIns="0" tIns="0" rIns="0" bIns="0" rtlCol="0" anchor="t">
            <a:spAutoFit/>
          </a:bodyPr>
          <a:lstStyle/>
          <a:p>
            <a:pPr marL="0" indent="0" algn="ctr">
              <a:buNone/>
            </a:pPr>
            <a:r>
              <a:rPr lang="en-US" sz="950" dirty="0">
                <a:solidFill>
                  <a:srgbClr val="F8FAFC"/>
                </a:solidFill>
                <a:latin typeface="Kantumruy Pro" pitchFamily="34" charset="0"/>
                <a:ea typeface="Kantumruy Pro" pitchFamily="34" charset="-122"/>
                <a:cs typeface="Kantumruy Pro" pitchFamily="34" charset="-120"/>
              </a:rPr>
              <a:t>Register &amp; Login</a:t>
            </a:r>
            <a:endParaRPr lang="en-US" sz="950" dirty="0"/>
          </a:p>
        </p:txBody>
      </p:sp>
      <p:sp>
        <p:nvSpPr>
          <p:cNvPr id="9" name="Shape 5"/>
          <p:cNvSpPr/>
          <p:nvPr/>
        </p:nvSpPr>
        <p:spPr>
          <a:xfrm>
            <a:off x="3238463" y="2109192"/>
            <a:ext cx="2667019" cy="735806"/>
          </a:xfrm>
          <a:prstGeom prst="rect">
            <a:avLst/>
          </a:prstGeom>
          <a:solidFill>
            <a:srgbClr val="1E293B"/>
          </a:solidFill>
          <a:ln w="9144">
            <a:solidFill>
              <a:srgbClr val="334155"/>
            </a:solidFill>
            <a:prstDash val="solid"/>
          </a:ln>
        </p:spPr>
      </p:sp>
      <p:sp>
        <p:nvSpPr>
          <p:cNvPr id="10" name="Shape 6"/>
          <p:cNvSpPr/>
          <p:nvPr/>
        </p:nvSpPr>
        <p:spPr>
          <a:xfrm>
            <a:off x="4464788" y="2252067"/>
            <a:ext cx="214313" cy="214313"/>
          </a:xfrm>
          <a:prstGeom prst="ellipse">
            <a:avLst/>
          </a:prstGeom>
          <a:solidFill>
            <a:srgbClr val="F59E0B"/>
          </a:solidFill>
          <a:ln/>
        </p:spPr>
      </p:sp>
      <p:sp>
        <p:nvSpPr>
          <p:cNvPr id="11" name="Text 7"/>
          <p:cNvSpPr/>
          <p:nvPr/>
        </p:nvSpPr>
        <p:spPr>
          <a:xfrm>
            <a:off x="4464788" y="2252067"/>
            <a:ext cx="214313" cy="214313"/>
          </a:xfrm>
          <a:prstGeom prst="rect">
            <a:avLst/>
          </a:prstGeom>
          <a:noFill/>
          <a:ln/>
        </p:spPr>
        <p:txBody>
          <a:bodyPr wrap="none" lIns="0" tIns="0" rIns="0" bIns="0" rtlCol="0" anchor="t">
            <a:spAutoFit/>
          </a:bodyPr>
          <a:lstStyle/>
          <a:p>
            <a:pPr marL="0" indent="0" algn="ctr">
              <a:lnSpc>
                <a:spcPct val="133333"/>
              </a:lnSpc>
              <a:buNone/>
            </a:pPr>
            <a:r>
              <a:rPr lang="en-US" sz="900" b="1" dirty="0">
                <a:solidFill>
                  <a:srgbClr val="0F172A"/>
                </a:solidFill>
                <a:latin typeface="Kantumruy Pro Bold" pitchFamily="34" charset="0"/>
                <a:ea typeface="Kantumruy Pro Bold" pitchFamily="34" charset="-122"/>
                <a:cs typeface="Kantumruy Pro Bold" pitchFamily="34" charset="-120"/>
              </a:rPr>
              <a:t>2</a:t>
            </a:r>
            <a:endParaRPr lang="en-US" sz="900" dirty="0"/>
          </a:p>
        </p:txBody>
      </p:sp>
      <p:sp>
        <p:nvSpPr>
          <p:cNvPr id="12" name="Text 8"/>
          <p:cNvSpPr/>
          <p:nvPr/>
        </p:nvSpPr>
        <p:spPr>
          <a:xfrm>
            <a:off x="3381338" y="2537817"/>
            <a:ext cx="2381269" cy="150019"/>
          </a:xfrm>
          <a:prstGeom prst="rect">
            <a:avLst/>
          </a:prstGeom>
          <a:noFill/>
          <a:ln/>
        </p:spPr>
        <p:txBody>
          <a:bodyPr wrap="square" lIns="0" tIns="0" rIns="0" bIns="0" rtlCol="0" anchor="t">
            <a:spAutoFit/>
          </a:bodyPr>
          <a:lstStyle/>
          <a:p>
            <a:pPr marL="0" indent="0" algn="ctr">
              <a:buNone/>
            </a:pPr>
            <a:r>
              <a:rPr lang="en-US" sz="950" dirty="0">
                <a:solidFill>
                  <a:srgbClr val="F8FAFC"/>
                </a:solidFill>
                <a:latin typeface="Kantumruy Pro" pitchFamily="34" charset="0"/>
                <a:ea typeface="Kantumruy Pro" pitchFamily="34" charset="-122"/>
                <a:cs typeface="Kantumruy Pro" pitchFamily="34" charset="-120"/>
              </a:rPr>
              <a:t>Browse &amp; Search</a:t>
            </a:r>
            <a:endParaRPr lang="en-US" sz="950" dirty="0"/>
          </a:p>
        </p:txBody>
      </p:sp>
      <p:sp>
        <p:nvSpPr>
          <p:cNvPr id="13" name="Shape 9"/>
          <p:cNvSpPr/>
          <p:nvPr/>
        </p:nvSpPr>
        <p:spPr>
          <a:xfrm>
            <a:off x="6048356" y="2109192"/>
            <a:ext cx="2667019" cy="735806"/>
          </a:xfrm>
          <a:prstGeom prst="rect">
            <a:avLst/>
          </a:prstGeom>
          <a:solidFill>
            <a:srgbClr val="1E293B"/>
          </a:solidFill>
          <a:ln w="9144">
            <a:solidFill>
              <a:srgbClr val="334155"/>
            </a:solidFill>
            <a:prstDash val="solid"/>
          </a:ln>
        </p:spPr>
      </p:sp>
      <p:sp>
        <p:nvSpPr>
          <p:cNvPr id="14" name="Shape 10"/>
          <p:cNvSpPr/>
          <p:nvPr/>
        </p:nvSpPr>
        <p:spPr>
          <a:xfrm>
            <a:off x="7274682" y="2259211"/>
            <a:ext cx="214313" cy="214313"/>
          </a:xfrm>
          <a:prstGeom prst="ellipse">
            <a:avLst/>
          </a:prstGeom>
          <a:solidFill>
            <a:srgbClr val="F59E0B"/>
          </a:solidFill>
          <a:ln/>
        </p:spPr>
      </p:sp>
      <p:sp>
        <p:nvSpPr>
          <p:cNvPr id="15" name="Text 11"/>
          <p:cNvSpPr/>
          <p:nvPr/>
        </p:nvSpPr>
        <p:spPr>
          <a:xfrm>
            <a:off x="7274682" y="2259211"/>
            <a:ext cx="214313" cy="214313"/>
          </a:xfrm>
          <a:prstGeom prst="rect">
            <a:avLst/>
          </a:prstGeom>
          <a:noFill/>
          <a:ln/>
        </p:spPr>
        <p:txBody>
          <a:bodyPr wrap="none" lIns="0" tIns="0" rIns="0" bIns="0" rtlCol="0" anchor="t">
            <a:spAutoFit/>
          </a:bodyPr>
          <a:lstStyle/>
          <a:p>
            <a:pPr marL="0" indent="0" algn="ctr">
              <a:lnSpc>
                <a:spcPct val="133333"/>
              </a:lnSpc>
              <a:buNone/>
            </a:pPr>
            <a:r>
              <a:rPr lang="en-US" sz="900" b="1" dirty="0">
                <a:solidFill>
                  <a:srgbClr val="0F172A"/>
                </a:solidFill>
                <a:latin typeface="Kantumruy Pro Bold" pitchFamily="34" charset="0"/>
                <a:ea typeface="Kantumruy Pro Bold" pitchFamily="34" charset="-122"/>
                <a:cs typeface="Kantumruy Pro Bold" pitchFamily="34" charset="-120"/>
              </a:rPr>
              <a:t>3</a:t>
            </a:r>
            <a:endParaRPr lang="en-US" sz="900" dirty="0"/>
          </a:p>
        </p:txBody>
      </p:sp>
      <p:sp>
        <p:nvSpPr>
          <p:cNvPr id="16" name="Text 12"/>
          <p:cNvSpPr/>
          <p:nvPr/>
        </p:nvSpPr>
        <p:spPr>
          <a:xfrm>
            <a:off x="6191231" y="2544961"/>
            <a:ext cx="2381269" cy="150019"/>
          </a:xfrm>
          <a:prstGeom prst="rect">
            <a:avLst/>
          </a:prstGeom>
          <a:noFill/>
          <a:ln/>
        </p:spPr>
        <p:txBody>
          <a:bodyPr wrap="square" lIns="0" tIns="0" rIns="0" bIns="0" rtlCol="0" anchor="t">
            <a:spAutoFit/>
          </a:bodyPr>
          <a:lstStyle/>
          <a:p>
            <a:pPr marL="0" indent="0" algn="ctr">
              <a:buNone/>
            </a:pPr>
            <a:r>
              <a:rPr lang="en-US" sz="950" dirty="0">
                <a:solidFill>
                  <a:srgbClr val="F8FAFC"/>
                </a:solidFill>
                <a:latin typeface="Kantumruy Pro" pitchFamily="34" charset="0"/>
                <a:ea typeface="Kantumruy Pro" pitchFamily="34" charset="-122"/>
                <a:cs typeface="Kantumruy Pro" pitchFamily="34" charset="-120"/>
              </a:rPr>
              <a:t>Create &amp; Upload</a:t>
            </a:r>
            <a:endParaRPr lang="en-US" sz="950" dirty="0"/>
          </a:p>
        </p:txBody>
      </p:sp>
      <p:sp>
        <p:nvSpPr>
          <p:cNvPr id="17" name="Shape 13"/>
          <p:cNvSpPr/>
          <p:nvPr/>
        </p:nvSpPr>
        <p:spPr>
          <a:xfrm>
            <a:off x="428625" y="2980730"/>
            <a:ext cx="2666963" cy="735806"/>
          </a:xfrm>
          <a:prstGeom prst="rect">
            <a:avLst/>
          </a:prstGeom>
          <a:solidFill>
            <a:srgbClr val="1E293B"/>
          </a:solidFill>
          <a:ln w="9144">
            <a:solidFill>
              <a:srgbClr val="334155"/>
            </a:solidFill>
            <a:prstDash val="solid"/>
          </a:ln>
        </p:spPr>
      </p:sp>
      <p:sp>
        <p:nvSpPr>
          <p:cNvPr id="18" name="Shape 14"/>
          <p:cNvSpPr/>
          <p:nvPr/>
        </p:nvSpPr>
        <p:spPr>
          <a:xfrm>
            <a:off x="1654950" y="3123605"/>
            <a:ext cx="214313" cy="214313"/>
          </a:xfrm>
          <a:prstGeom prst="ellipse">
            <a:avLst/>
          </a:prstGeom>
          <a:solidFill>
            <a:srgbClr val="F59E0B"/>
          </a:solidFill>
          <a:ln/>
        </p:spPr>
      </p:sp>
      <p:sp>
        <p:nvSpPr>
          <p:cNvPr id="19" name="Text 15"/>
          <p:cNvSpPr/>
          <p:nvPr/>
        </p:nvSpPr>
        <p:spPr>
          <a:xfrm>
            <a:off x="1654950" y="3123605"/>
            <a:ext cx="214313" cy="214313"/>
          </a:xfrm>
          <a:prstGeom prst="rect">
            <a:avLst/>
          </a:prstGeom>
          <a:noFill/>
          <a:ln/>
        </p:spPr>
        <p:txBody>
          <a:bodyPr wrap="none" lIns="0" tIns="0" rIns="0" bIns="0" rtlCol="0" anchor="t">
            <a:spAutoFit/>
          </a:bodyPr>
          <a:lstStyle/>
          <a:p>
            <a:pPr marL="0" indent="0" algn="ctr">
              <a:lnSpc>
                <a:spcPct val="133333"/>
              </a:lnSpc>
              <a:buNone/>
            </a:pPr>
            <a:r>
              <a:rPr lang="en-US" sz="900" b="1" dirty="0">
                <a:solidFill>
                  <a:srgbClr val="0F172A"/>
                </a:solidFill>
                <a:latin typeface="Kantumruy Pro Bold" pitchFamily="34" charset="0"/>
                <a:ea typeface="Kantumruy Pro Bold" pitchFamily="34" charset="-122"/>
                <a:cs typeface="Kantumruy Pro Bold" pitchFamily="34" charset="-120"/>
              </a:rPr>
              <a:t>4</a:t>
            </a:r>
            <a:endParaRPr lang="en-US" sz="900" dirty="0"/>
          </a:p>
        </p:txBody>
      </p:sp>
      <p:sp>
        <p:nvSpPr>
          <p:cNvPr id="20" name="Text 16"/>
          <p:cNvSpPr/>
          <p:nvPr/>
        </p:nvSpPr>
        <p:spPr>
          <a:xfrm>
            <a:off x="571500" y="3409355"/>
            <a:ext cx="2381213" cy="150019"/>
          </a:xfrm>
          <a:prstGeom prst="rect">
            <a:avLst/>
          </a:prstGeom>
          <a:noFill/>
          <a:ln/>
        </p:spPr>
        <p:txBody>
          <a:bodyPr wrap="square" lIns="0" tIns="0" rIns="0" bIns="0" rtlCol="0" anchor="t">
            <a:spAutoFit/>
          </a:bodyPr>
          <a:lstStyle/>
          <a:p>
            <a:pPr marL="0" indent="0" algn="ctr">
              <a:buNone/>
            </a:pPr>
            <a:r>
              <a:rPr lang="en-US" sz="950" dirty="0">
                <a:solidFill>
                  <a:srgbClr val="F8FAFC"/>
                </a:solidFill>
                <a:latin typeface="Kantumruy Pro" pitchFamily="34" charset="0"/>
                <a:ea typeface="Kantumruy Pro" pitchFamily="34" charset="-122"/>
                <a:cs typeface="Kantumruy Pro" pitchFamily="34" charset="-120"/>
              </a:rPr>
              <a:t>Edit &amp; Comment</a:t>
            </a:r>
            <a:endParaRPr lang="en-US" sz="950" dirty="0"/>
          </a:p>
        </p:txBody>
      </p:sp>
      <p:sp>
        <p:nvSpPr>
          <p:cNvPr id="21" name="Shape 17"/>
          <p:cNvSpPr/>
          <p:nvPr/>
        </p:nvSpPr>
        <p:spPr>
          <a:xfrm>
            <a:off x="3238463" y="2980730"/>
            <a:ext cx="2667019" cy="735806"/>
          </a:xfrm>
          <a:prstGeom prst="rect">
            <a:avLst/>
          </a:prstGeom>
          <a:solidFill>
            <a:srgbClr val="1E293B"/>
          </a:solidFill>
          <a:ln w="9144">
            <a:solidFill>
              <a:srgbClr val="334155"/>
            </a:solidFill>
            <a:prstDash val="solid"/>
          </a:ln>
        </p:spPr>
      </p:sp>
      <p:sp>
        <p:nvSpPr>
          <p:cNvPr id="22" name="Shape 18"/>
          <p:cNvSpPr/>
          <p:nvPr/>
        </p:nvSpPr>
        <p:spPr>
          <a:xfrm>
            <a:off x="4464788" y="3123605"/>
            <a:ext cx="214313" cy="214313"/>
          </a:xfrm>
          <a:prstGeom prst="ellipse">
            <a:avLst/>
          </a:prstGeom>
          <a:solidFill>
            <a:srgbClr val="F59E0B"/>
          </a:solidFill>
          <a:ln/>
        </p:spPr>
      </p:sp>
      <p:sp>
        <p:nvSpPr>
          <p:cNvPr id="23" name="Text 19"/>
          <p:cNvSpPr/>
          <p:nvPr/>
        </p:nvSpPr>
        <p:spPr>
          <a:xfrm>
            <a:off x="4464788" y="3123605"/>
            <a:ext cx="214313" cy="214313"/>
          </a:xfrm>
          <a:prstGeom prst="rect">
            <a:avLst/>
          </a:prstGeom>
          <a:noFill/>
          <a:ln/>
        </p:spPr>
        <p:txBody>
          <a:bodyPr wrap="none" lIns="0" tIns="0" rIns="0" bIns="0" rtlCol="0" anchor="t">
            <a:spAutoFit/>
          </a:bodyPr>
          <a:lstStyle/>
          <a:p>
            <a:pPr marL="0" indent="0" algn="ctr">
              <a:lnSpc>
                <a:spcPct val="133333"/>
              </a:lnSpc>
              <a:buNone/>
            </a:pPr>
            <a:r>
              <a:rPr lang="en-US" sz="900" b="1" dirty="0">
                <a:solidFill>
                  <a:srgbClr val="0F172A"/>
                </a:solidFill>
                <a:latin typeface="Kantumruy Pro Bold" pitchFamily="34" charset="0"/>
                <a:ea typeface="Kantumruy Pro Bold" pitchFamily="34" charset="-122"/>
                <a:cs typeface="Kantumruy Pro Bold" pitchFamily="34" charset="-120"/>
              </a:rPr>
              <a:t>5</a:t>
            </a:r>
            <a:endParaRPr lang="en-US" sz="900" dirty="0"/>
          </a:p>
        </p:txBody>
      </p:sp>
      <p:sp>
        <p:nvSpPr>
          <p:cNvPr id="24" name="Text 20"/>
          <p:cNvSpPr/>
          <p:nvPr/>
        </p:nvSpPr>
        <p:spPr>
          <a:xfrm>
            <a:off x="3381338" y="3409355"/>
            <a:ext cx="2381269" cy="150019"/>
          </a:xfrm>
          <a:prstGeom prst="rect">
            <a:avLst/>
          </a:prstGeom>
          <a:noFill/>
          <a:ln/>
        </p:spPr>
        <p:txBody>
          <a:bodyPr wrap="square" lIns="0" tIns="0" rIns="0" bIns="0" rtlCol="0" anchor="t">
            <a:spAutoFit/>
          </a:bodyPr>
          <a:lstStyle/>
          <a:p>
            <a:pPr marL="0" indent="0" algn="ctr">
              <a:buNone/>
            </a:pPr>
            <a:r>
              <a:rPr lang="en-US" sz="950" dirty="0">
                <a:solidFill>
                  <a:srgbClr val="F8FAFC"/>
                </a:solidFill>
                <a:latin typeface="Kantumruy Pro" pitchFamily="34" charset="0"/>
                <a:ea typeface="Kantumruy Pro" pitchFamily="34" charset="-122"/>
                <a:cs typeface="Kantumruy Pro" pitchFamily="34" charset="-120"/>
              </a:rPr>
              <a:t>Delete Post</a:t>
            </a:r>
            <a:endParaRPr lang="en-US" sz="950" dirty="0"/>
          </a:p>
        </p:txBody>
      </p:sp>
      <p:sp>
        <p:nvSpPr>
          <p:cNvPr id="25" name="Shape 21"/>
          <p:cNvSpPr/>
          <p:nvPr/>
        </p:nvSpPr>
        <p:spPr>
          <a:xfrm>
            <a:off x="6048356" y="2980730"/>
            <a:ext cx="2667019" cy="735806"/>
          </a:xfrm>
          <a:prstGeom prst="rect">
            <a:avLst/>
          </a:prstGeom>
          <a:solidFill>
            <a:srgbClr val="1E293B"/>
          </a:solidFill>
          <a:ln w="9144">
            <a:solidFill>
              <a:srgbClr val="334155"/>
            </a:solidFill>
            <a:prstDash val="solid"/>
          </a:ln>
        </p:spPr>
      </p:sp>
      <p:sp>
        <p:nvSpPr>
          <p:cNvPr id="26" name="Shape 22"/>
          <p:cNvSpPr/>
          <p:nvPr/>
        </p:nvSpPr>
        <p:spPr>
          <a:xfrm>
            <a:off x="7274682" y="3130748"/>
            <a:ext cx="214313" cy="214313"/>
          </a:xfrm>
          <a:prstGeom prst="ellipse">
            <a:avLst/>
          </a:prstGeom>
          <a:solidFill>
            <a:srgbClr val="F59E0B"/>
          </a:solidFill>
          <a:ln/>
        </p:spPr>
      </p:sp>
      <p:sp>
        <p:nvSpPr>
          <p:cNvPr id="27" name="Text 23"/>
          <p:cNvSpPr/>
          <p:nvPr/>
        </p:nvSpPr>
        <p:spPr>
          <a:xfrm>
            <a:off x="7274682" y="3130748"/>
            <a:ext cx="214313" cy="214313"/>
          </a:xfrm>
          <a:prstGeom prst="rect">
            <a:avLst/>
          </a:prstGeom>
          <a:noFill/>
          <a:ln/>
        </p:spPr>
        <p:txBody>
          <a:bodyPr wrap="none" lIns="0" tIns="0" rIns="0" bIns="0" rtlCol="0" anchor="t">
            <a:spAutoFit/>
          </a:bodyPr>
          <a:lstStyle/>
          <a:p>
            <a:pPr marL="0" indent="0" algn="ctr">
              <a:lnSpc>
                <a:spcPct val="133333"/>
              </a:lnSpc>
              <a:buNone/>
            </a:pPr>
            <a:r>
              <a:rPr lang="en-US" sz="900" b="1" dirty="0">
                <a:solidFill>
                  <a:srgbClr val="0F172A"/>
                </a:solidFill>
                <a:latin typeface="Kantumruy Pro Bold" pitchFamily="34" charset="0"/>
                <a:ea typeface="Kantumruy Pro Bold" pitchFamily="34" charset="-122"/>
                <a:cs typeface="Kantumruy Pro Bold" pitchFamily="34" charset="-120"/>
              </a:rPr>
              <a:t>6</a:t>
            </a:r>
            <a:endParaRPr lang="en-US" sz="900" dirty="0"/>
          </a:p>
        </p:txBody>
      </p:sp>
      <p:sp>
        <p:nvSpPr>
          <p:cNvPr id="28" name="Text 24"/>
          <p:cNvSpPr/>
          <p:nvPr/>
        </p:nvSpPr>
        <p:spPr>
          <a:xfrm>
            <a:off x="6191231" y="3416498"/>
            <a:ext cx="2381269" cy="150019"/>
          </a:xfrm>
          <a:prstGeom prst="rect">
            <a:avLst/>
          </a:prstGeom>
          <a:noFill/>
          <a:ln/>
        </p:spPr>
        <p:txBody>
          <a:bodyPr wrap="square" lIns="0" tIns="0" rIns="0" bIns="0" rtlCol="0" anchor="t">
            <a:spAutoFit/>
          </a:bodyPr>
          <a:lstStyle/>
          <a:p>
            <a:pPr marL="0" indent="0" algn="ctr">
              <a:buNone/>
            </a:pPr>
            <a:r>
              <a:rPr lang="en-US" sz="950" dirty="0">
                <a:solidFill>
                  <a:srgbClr val="F8FAFC"/>
                </a:solidFill>
                <a:latin typeface="Kantumruy Pro" pitchFamily="34" charset="0"/>
                <a:ea typeface="Kantumruy Pro" pitchFamily="34" charset="-122"/>
                <a:cs typeface="Kantumruy Pro" pitchFamily="34" charset="-120"/>
              </a:rPr>
              <a:t>Logout</a:t>
            </a:r>
            <a:endParaRPr lang="en-US" sz="950" dirty="0"/>
          </a:p>
        </p:txBody>
      </p:sp>
      <p:sp>
        <p:nvSpPr>
          <p:cNvPr id="29" name="Text 25"/>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30" name="Text 26"/>
          <p:cNvSpPr/>
          <p:nvPr/>
        </p:nvSpPr>
        <p:spPr>
          <a:xfrm>
            <a:off x="8654653" y="4811316"/>
            <a:ext cx="60722"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8</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71463"/>
          </a:xfrm>
          <a:prstGeom prst="rect">
            <a:avLst/>
          </a:prstGeom>
          <a:noFill/>
          <a:ln/>
        </p:spPr>
        <p:txBody>
          <a:bodyPr wrap="square" lIns="0" tIns="0" rIns="0" bIns="0" rtlCol="0" anchor="t">
            <a:spAutoFit/>
          </a:bodyPr>
          <a:lstStyle/>
          <a:p>
            <a:pPr marL="0" indent="0" algn="l">
              <a:buNone/>
            </a:pPr>
            <a:r>
              <a:rPr lang="en-US" sz="1600" b="1" dirty="0">
                <a:solidFill>
                  <a:srgbClr val="F8FAFC"/>
                </a:solidFill>
                <a:latin typeface="Kantumruy Pro Bold" pitchFamily="34" charset="0"/>
                <a:ea typeface="Kantumruy Pro Bold" pitchFamily="34" charset="-122"/>
                <a:cs typeface="Kantumruy Pro Bold" pitchFamily="34" charset="-120"/>
              </a:rPr>
              <a:t>Coding Flow: Create Post</a:t>
            </a:r>
            <a:endParaRPr lang="en-US" sz="1600" dirty="0"/>
          </a:p>
        </p:txBody>
      </p:sp>
      <p:sp>
        <p:nvSpPr>
          <p:cNvPr id="5" name="Shape 1"/>
          <p:cNvSpPr/>
          <p:nvPr/>
        </p:nvSpPr>
        <p:spPr>
          <a:xfrm>
            <a:off x="1075860" y="1128713"/>
            <a:ext cx="1785938" cy="317897"/>
          </a:xfrm>
          <a:prstGeom prst="rect">
            <a:avLst/>
          </a:prstGeom>
          <a:solidFill>
            <a:srgbClr val="1E293B"/>
          </a:solidFill>
          <a:ln w="9144">
            <a:solidFill>
              <a:srgbClr val="06B6D4"/>
            </a:solidFill>
            <a:prstDash val="solid"/>
          </a:ln>
        </p:spPr>
      </p:sp>
      <p:sp>
        <p:nvSpPr>
          <p:cNvPr id="6" name="Text 2"/>
          <p:cNvSpPr/>
          <p:nvPr/>
        </p:nvSpPr>
        <p:spPr>
          <a:xfrm>
            <a:off x="1075860" y="1128713"/>
            <a:ext cx="1785938" cy="317897"/>
          </a:xfrm>
          <a:prstGeom prst="rect">
            <a:avLst/>
          </a:prstGeom>
          <a:noFill/>
          <a:ln/>
        </p:spPr>
        <p:txBody>
          <a:bodyPr wrap="square" lIns="102108" tIns="102108" rIns="102108" bIns="102108" rtlCol="0" anchor="t">
            <a:spAutoFit/>
          </a:bodyPr>
          <a:lstStyle/>
          <a:p>
            <a:pPr marL="0" indent="0" algn="ctr">
              <a:buNone/>
            </a:pPr>
            <a:r>
              <a:rPr lang="en-US" sz="750" dirty="0">
                <a:solidFill>
                  <a:srgbClr val="06B6D4"/>
                </a:solidFill>
                <a:latin typeface="JetBrains Mono" pitchFamily="34" charset="0"/>
                <a:ea typeface="JetBrains Mono" pitchFamily="34" charset="-122"/>
                <a:cs typeface="JetBrains Mono" pitchFamily="34" charset="-120"/>
              </a:rPr>
              <a:t>CreatePostView</a:t>
            </a:r>
            <a:endParaRPr lang="en-US" sz="750" dirty="0"/>
          </a:p>
        </p:txBody>
      </p:sp>
      <p:sp>
        <p:nvSpPr>
          <p:cNvPr id="7" name="Text 3"/>
          <p:cNvSpPr/>
          <p:nvPr/>
        </p:nvSpPr>
        <p:spPr>
          <a:xfrm>
            <a:off x="1920608" y="1510903"/>
            <a:ext cx="96441" cy="150019"/>
          </a:xfrm>
          <a:prstGeom prst="rect">
            <a:avLst/>
          </a:prstGeom>
          <a:noFill/>
          <a:ln/>
        </p:spPr>
        <p:txBody>
          <a:bodyPr wrap="none" lIns="0" tIns="0" rIns="0" bIns="0" rtlCol="0" anchor="t">
            <a:spAutoFit/>
          </a:bodyPr>
          <a:lstStyle/>
          <a:p>
            <a:pPr marL="0" indent="0" algn="l">
              <a:buNone/>
            </a:pPr>
            <a:r>
              <a:rPr lang="en-US" sz="950" dirty="0">
                <a:solidFill>
                  <a:srgbClr val="94A3B8"/>
                </a:solidFill>
                <a:latin typeface="Kantumruy Pro" pitchFamily="34" charset="0"/>
                <a:ea typeface="Kantumruy Pro" pitchFamily="34" charset="-122"/>
                <a:cs typeface="Kantumruy Pro" pitchFamily="34" charset="-120"/>
              </a:rPr>
              <a:t>↓</a:t>
            </a:r>
            <a:endParaRPr lang="en-US" sz="950" dirty="0"/>
          </a:p>
        </p:txBody>
      </p:sp>
      <p:sp>
        <p:nvSpPr>
          <p:cNvPr id="8" name="Shape 4"/>
          <p:cNvSpPr/>
          <p:nvPr/>
        </p:nvSpPr>
        <p:spPr>
          <a:xfrm>
            <a:off x="1075860" y="1732359"/>
            <a:ext cx="1785938" cy="317897"/>
          </a:xfrm>
          <a:prstGeom prst="rect">
            <a:avLst/>
          </a:prstGeom>
          <a:solidFill>
            <a:srgbClr val="1E293B"/>
          </a:solidFill>
          <a:ln w="9144">
            <a:solidFill>
              <a:srgbClr val="06B6D4"/>
            </a:solidFill>
            <a:prstDash val="solid"/>
          </a:ln>
        </p:spPr>
      </p:sp>
      <p:sp>
        <p:nvSpPr>
          <p:cNvPr id="9" name="Text 5"/>
          <p:cNvSpPr/>
          <p:nvPr/>
        </p:nvSpPr>
        <p:spPr>
          <a:xfrm>
            <a:off x="1075860" y="1732359"/>
            <a:ext cx="1785938" cy="317897"/>
          </a:xfrm>
          <a:prstGeom prst="rect">
            <a:avLst/>
          </a:prstGeom>
          <a:noFill/>
          <a:ln/>
        </p:spPr>
        <p:txBody>
          <a:bodyPr wrap="square" lIns="102108" tIns="102108" rIns="102108" bIns="102108" rtlCol="0" anchor="t">
            <a:spAutoFit/>
          </a:bodyPr>
          <a:lstStyle/>
          <a:p>
            <a:pPr marL="0" indent="0" algn="ctr">
              <a:buNone/>
            </a:pPr>
            <a:r>
              <a:rPr lang="en-US" sz="750" dirty="0">
                <a:solidFill>
                  <a:srgbClr val="06B6D4"/>
                </a:solidFill>
                <a:latin typeface="JetBrains Mono" pitchFamily="34" charset="0"/>
                <a:ea typeface="JetBrains Mono" pitchFamily="34" charset="-122"/>
                <a:cs typeface="JetBrains Mono" pitchFamily="34" charset="-120"/>
              </a:rPr>
              <a:t>PostsController</a:t>
            </a:r>
            <a:endParaRPr lang="en-US" sz="750" dirty="0"/>
          </a:p>
        </p:txBody>
      </p:sp>
      <p:sp>
        <p:nvSpPr>
          <p:cNvPr id="10" name="Text 6"/>
          <p:cNvSpPr/>
          <p:nvPr/>
        </p:nvSpPr>
        <p:spPr>
          <a:xfrm>
            <a:off x="1920608" y="2114550"/>
            <a:ext cx="96441" cy="150019"/>
          </a:xfrm>
          <a:prstGeom prst="rect">
            <a:avLst/>
          </a:prstGeom>
          <a:noFill/>
          <a:ln/>
        </p:spPr>
        <p:txBody>
          <a:bodyPr wrap="none" lIns="0" tIns="0" rIns="0" bIns="0" rtlCol="0" anchor="t">
            <a:spAutoFit/>
          </a:bodyPr>
          <a:lstStyle/>
          <a:p>
            <a:pPr marL="0" indent="0" algn="l">
              <a:buNone/>
            </a:pPr>
            <a:r>
              <a:rPr lang="en-US" sz="950" dirty="0">
                <a:solidFill>
                  <a:srgbClr val="94A3B8"/>
                </a:solidFill>
                <a:latin typeface="Kantumruy Pro" pitchFamily="34" charset="0"/>
                <a:ea typeface="Kantumruy Pro" pitchFamily="34" charset="-122"/>
                <a:cs typeface="Kantumruy Pro" pitchFamily="34" charset="-120"/>
              </a:rPr>
              <a:t>↓</a:t>
            </a:r>
            <a:endParaRPr lang="en-US" sz="950" dirty="0"/>
          </a:p>
        </p:txBody>
      </p:sp>
      <p:sp>
        <p:nvSpPr>
          <p:cNvPr id="11" name="Shape 7"/>
          <p:cNvSpPr/>
          <p:nvPr/>
        </p:nvSpPr>
        <p:spPr>
          <a:xfrm>
            <a:off x="1075860" y="2336006"/>
            <a:ext cx="1785938" cy="317897"/>
          </a:xfrm>
          <a:prstGeom prst="rect">
            <a:avLst/>
          </a:prstGeom>
          <a:solidFill>
            <a:srgbClr val="1E293B"/>
          </a:solidFill>
          <a:ln w="9144">
            <a:solidFill>
              <a:srgbClr val="06B6D4"/>
            </a:solidFill>
            <a:prstDash val="solid"/>
          </a:ln>
        </p:spPr>
      </p:sp>
      <p:sp>
        <p:nvSpPr>
          <p:cNvPr id="12" name="Text 8"/>
          <p:cNvSpPr/>
          <p:nvPr/>
        </p:nvSpPr>
        <p:spPr>
          <a:xfrm>
            <a:off x="1075860" y="2336006"/>
            <a:ext cx="1785938" cy="317897"/>
          </a:xfrm>
          <a:prstGeom prst="rect">
            <a:avLst/>
          </a:prstGeom>
          <a:noFill/>
          <a:ln/>
        </p:spPr>
        <p:txBody>
          <a:bodyPr wrap="square" lIns="102108" tIns="102108" rIns="102108" bIns="102108" rtlCol="0" anchor="t">
            <a:spAutoFit/>
          </a:bodyPr>
          <a:lstStyle/>
          <a:p>
            <a:pPr marL="0" indent="0" algn="ctr">
              <a:buNone/>
            </a:pPr>
            <a:r>
              <a:rPr lang="en-US" sz="750" dirty="0">
                <a:solidFill>
                  <a:srgbClr val="06B6D4"/>
                </a:solidFill>
                <a:latin typeface="JetBrains Mono" pitchFamily="34" charset="0"/>
                <a:ea typeface="JetBrains Mono" pitchFamily="34" charset="-122"/>
                <a:cs typeface="JetBrains Mono" pitchFamily="34" charset="-120"/>
              </a:rPr>
              <a:t>PostProvider</a:t>
            </a:r>
            <a:endParaRPr lang="en-US" sz="750" dirty="0"/>
          </a:p>
        </p:txBody>
      </p:sp>
      <p:sp>
        <p:nvSpPr>
          <p:cNvPr id="13" name="Text 9"/>
          <p:cNvSpPr/>
          <p:nvPr/>
        </p:nvSpPr>
        <p:spPr>
          <a:xfrm>
            <a:off x="1920608" y="2718197"/>
            <a:ext cx="96441" cy="150019"/>
          </a:xfrm>
          <a:prstGeom prst="rect">
            <a:avLst/>
          </a:prstGeom>
          <a:noFill/>
          <a:ln/>
        </p:spPr>
        <p:txBody>
          <a:bodyPr wrap="none" lIns="0" tIns="0" rIns="0" bIns="0" rtlCol="0" anchor="t">
            <a:spAutoFit/>
          </a:bodyPr>
          <a:lstStyle/>
          <a:p>
            <a:pPr marL="0" indent="0" algn="l">
              <a:buNone/>
            </a:pPr>
            <a:r>
              <a:rPr lang="en-US" sz="950" dirty="0">
                <a:solidFill>
                  <a:srgbClr val="94A3B8"/>
                </a:solidFill>
                <a:latin typeface="Kantumruy Pro" pitchFamily="34" charset="0"/>
                <a:ea typeface="Kantumruy Pro" pitchFamily="34" charset="-122"/>
                <a:cs typeface="Kantumruy Pro" pitchFamily="34" charset="-120"/>
              </a:rPr>
              <a:t>↓</a:t>
            </a:r>
            <a:endParaRPr lang="en-US" sz="950" dirty="0"/>
          </a:p>
        </p:txBody>
      </p:sp>
      <p:sp>
        <p:nvSpPr>
          <p:cNvPr id="14" name="Shape 10"/>
          <p:cNvSpPr/>
          <p:nvPr/>
        </p:nvSpPr>
        <p:spPr>
          <a:xfrm>
            <a:off x="1075860" y="2939653"/>
            <a:ext cx="1785938" cy="317897"/>
          </a:xfrm>
          <a:prstGeom prst="rect">
            <a:avLst/>
          </a:prstGeom>
          <a:solidFill>
            <a:srgbClr val="1E293B"/>
          </a:solidFill>
          <a:ln w="9144">
            <a:solidFill>
              <a:srgbClr val="06B6D4"/>
            </a:solidFill>
            <a:prstDash val="solid"/>
          </a:ln>
        </p:spPr>
      </p:sp>
      <p:sp>
        <p:nvSpPr>
          <p:cNvPr id="15" name="Text 11"/>
          <p:cNvSpPr/>
          <p:nvPr/>
        </p:nvSpPr>
        <p:spPr>
          <a:xfrm>
            <a:off x="1075860" y="2939653"/>
            <a:ext cx="1785938" cy="317897"/>
          </a:xfrm>
          <a:prstGeom prst="rect">
            <a:avLst/>
          </a:prstGeom>
          <a:noFill/>
          <a:ln/>
        </p:spPr>
        <p:txBody>
          <a:bodyPr wrap="square" lIns="102108" tIns="102108" rIns="102108" bIns="102108" rtlCol="0" anchor="t">
            <a:spAutoFit/>
          </a:bodyPr>
          <a:lstStyle/>
          <a:p>
            <a:pPr marL="0" indent="0" algn="ctr">
              <a:buNone/>
            </a:pPr>
            <a:r>
              <a:rPr lang="en-US" sz="750" dirty="0">
                <a:solidFill>
                  <a:srgbClr val="06B6D4"/>
                </a:solidFill>
                <a:latin typeface="JetBrains Mono" pitchFamily="34" charset="0"/>
                <a:ea typeface="JetBrains Mono" pitchFamily="34" charset="-122"/>
                <a:cs typeface="JetBrains Mono" pitchFamily="34" charset="-120"/>
              </a:rPr>
              <a:t>Dio (HTTP Client)</a:t>
            </a:r>
            <a:endParaRPr lang="en-US" sz="750" dirty="0"/>
          </a:p>
        </p:txBody>
      </p:sp>
      <p:sp>
        <p:nvSpPr>
          <p:cNvPr id="16" name="Text 12"/>
          <p:cNvSpPr/>
          <p:nvPr/>
        </p:nvSpPr>
        <p:spPr>
          <a:xfrm>
            <a:off x="1920608" y="3321844"/>
            <a:ext cx="96441" cy="150019"/>
          </a:xfrm>
          <a:prstGeom prst="rect">
            <a:avLst/>
          </a:prstGeom>
          <a:noFill/>
          <a:ln/>
        </p:spPr>
        <p:txBody>
          <a:bodyPr wrap="none" lIns="0" tIns="0" rIns="0" bIns="0" rtlCol="0" anchor="t">
            <a:spAutoFit/>
          </a:bodyPr>
          <a:lstStyle/>
          <a:p>
            <a:pPr marL="0" indent="0" algn="l">
              <a:buNone/>
            </a:pPr>
            <a:r>
              <a:rPr lang="en-US" sz="950" dirty="0">
                <a:solidFill>
                  <a:srgbClr val="94A3B8"/>
                </a:solidFill>
                <a:latin typeface="Kantumruy Pro" pitchFamily="34" charset="0"/>
                <a:ea typeface="Kantumruy Pro" pitchFamily="34" charset="-122"/>
                <a:cs typeface="Kantumruy Pro" pitchFamily="34" charset="-120"/>
              </a:rPr>
              <a:t>↓</a:t>
            </a:r>
            <a:endParaRPr lang="en-US" sz="950" dirty="0"/>
          </a:p>
        </p:txBody>
      </p:sp>
      <p:sp>
        <p:nvSpPr>
          <p:cNvPr id="17" name="Shape 13"/>
          <p:cNvSpPr/>
          <p:nvPr/>
        </p:nvSpPr>
        <p:spPr>
          <a:xfrm>
            <a:off x="1075860" y="3543300"/>
            <a:ext cx="1785938" cy="317897"/>
          </a:xfrm>
          <a:prstGeom prst="rect">
            <a:avLst/>
          </a:prstGeom>
          <a:solidFill>
            <a:srgbClr val="1E293B"/>
          </a:solidFill>
          <a:ln w="9144">
            <a:solidFill>
              <a:srgbClr val="F59E0B"/>
            </a:solidFill>
            <a:prstDash val="solid"/>
          </a:ln>
        </p:spPr>
      </p:sp>
      <p:sp>
        <p:nvSpPr>
          <p:cNvPr id="18" name="Text 14"/>
          <p:cNvSpPr/>
          <p:nvPr/>
        </p:nvSpPr>
        <p:spPr>
          <a:xfrm>
            <a:off x="1075860" y="3543300"/>
            <a:ext cx="1785938" cy="317897"/>
          </a:xfrm>
          <a:prstGeom prst="rect">
            <a:avLst/>
          </a:prstGeom>
          <a:noFill/>
          <a:ln/>
        </p:spPr>
        <p:txBody>
          <a:bodyPr wrap="square" lIns="102108" tIns="102108" rIns="102108" bIns="102108" rtlCol="0" anchor="t">
            <a:spAutoFit/>
          </a:bodyPr>
          <a:lstStyle/>
          <a:p>
            <a:pPr marL="0" indent="0" algn="ctr">
              <a:buNone/>
            </a:pPr>
            <a:r>
              <a:rPr lang="en-US" sz="750" dirty="0">
                <a:solidFill>
                  <a:srgbClr val="F59E0B"/>
                </a:solidFill>
                <a:latin typeface="JetBrains Mono" pitchFamily="34" charset="0"/>
                <a:ea typeface="JetBrains Mono" pitchFamily="34" charset="-122"/>
                <a:cs typeface="JetBrains Mono" pitchFamily="34" charset="-120"/>
              </a:rPr>
              <a:t>Laravel API</a:t>
            </a:r>
            <a:endParaRPr lang="en-US" sz="750" dirty="0"/>
          </a:p>
        </p:txBody>
      </p:sp>
      <p:sp>
        <p:nvSpPr>
          <p:cNvPr id="19" name="Text 15"/>
          <p:cNvSpPr/>
          <p:nvPr/>
        </p:nvSpPr>
        <p:spPr>
          <a:xfrm>
            <a:off x="1920608" y="3925491"/>
            <a:ext cx="96441" cy="150019"/>
          </a:xfrm>
          <a:prstGeom prst="rect">
            <a:avLst/>
          </a:prstGeom>
          <a:noFill/>
          <a:ln/>
        </p:spPr>
        <p:txBody>
          <a:bodyPr wrap="none" lIns="0" tIns="0" rIns="0" bIns="0" rtlCol="0" anchor="t">
            <a:spAutoFit/>
          </a:bodyPr>
          <a:lstStyle/>
          <a:p>
            <a:pPr marL="0" indent="0" algn="l">
              <a:buNone/>
            </a:pPr>
            <a:r>
              <a:rPr lang="en-US" sz="950" dirty="0">
                <a:solidFill>
                  <a:srgbClr val="94A3B8"/>
                </a:solidFill>
                <a:latin typeface="Kantumruy Pro" pitchFamily="34" charset="0"/>
                <a:ea typeface="Kantumruy Pro" pitchFamily="34" charset="-122"/>
                <a:cs typeface="Kantumruy Pro" pitchFamily="34" charset="-120"/>
              </a:rPr>
              <a:t>↓</a:t>
            </a:r>
            <a:endParaRPr lang="en-US" sz="950" dirty="0"/>
          </a:p>
        </p:txBody>
      </p:sp>
      <p:sp>
        <p:nvSpPr>
          <p:cNvPr id="20" name="Shape 16"/>
          <p:cNvSpPr/>
          <p:nvPr/>
        </p:nvSpPr>
        <p:spPr>
          <a:xfrm>
            <a:off x="1075860" y="4146947"/>
            <a:ext cx="1785938" cy="317897"/>
          </a:xfrm>
          <a:prstGeom prst="rect">
            <a:avLst/>
          </a:prstGeom>
          <a:solidFill>
            <a:srgbClr val="1E293B"/>
          </a:solidFill>
          <a:ln w="9144">
            <a:solidFill>
              <a:srgbClr val="F59E0B"/>
            </a:solidFill>
            <a:prstDash val="solid"/>
          </a:ln>
        </p:spPr>
      </p:sp>
      <p:sp>
        <p:nvSpPr>
          <p:cNvPr id="21" name="Text 17"/>
          <p:cNvSpPr/>
          <p:nvPr/>
        </p:nvSpPr>
        <p:spPr>
          <a:xfrm>
            <a:off x="1075860" y="4146947"/>
            <a:ext cx="1785938" cy="317897"/>
          </a:xfrm>
          <a:prstGeom prst="rect">
            <a:avLst/>
          </a:prstGeom>
          <a:noFill/>
          <a:ln/>
        </p:spPr>
        <p:txBody>
          <a:bodyPr wrap="square" lIns="102108" tIns="102108" rIns="102108" bIns="102108" rtlCol="0" anchor="t">
            <a:spAutoFit/>
          </a:bodyPr>
          <a:lstStyle/>
          <a:p>
            <a:pPr marL="0" indent="0" algn="ctr">
              <a:buNone/>
            </a:pPr>
            <a:r>
              <a:rPr lang="en-US" sz="750" dirty="0">
                <a:solidFill>
                  <a:srgbClr val="F59E0B"/>
                </a:solidFill>
                <a:latin typeface="JetBrains Mono" pitchFamily="34" charset="0"/>
                <a:ea typeface="JetBrains Mono" pitchFamily="34" charset="-122"/>
                <a:cs typeface="JetBrains Mono" pitchFamily="34" charset="-120"/>
              </a:rPr>
              <a:t>MySQL Database</a:t>
            </a:r>
            <a:endParaRPr lang="en-US" sz="750" dirty="0"/>
          </a:p>
        </p:txBody>
      </p:sp>
      <p:sp>
        <p:nvSpPr>
          <p:cNvPr id="22" name="Shape 18"/>
          <p:cNvSpPr/>
          <p:nvPr/>
        </p:nvSpPr>
        <p:spPr>
          <a:xfrm>
            <a:off x="3794782" y="2064544"/>
            <a:ext cx="4920593" cy="1500188"/>
          </a:xfrm>
          <a:prstGeom prst="rect">
            <a:avLst/>
          </a:prstGeom>
          <a:solidFill>
            <a:srgbClr val="1E293B"/>
          </a:solidFill>
          <a:ln w="9144">
            <a:solidFill>
              <a:srgbClr val="334155"/>
            </a:solidFill>
            <a:prstDash val="solid"/>
          </a:ln>
        </p:spPr>
      </p:sp>
      <p:sp>
        <p:nvSpPr>
          <p:cNvPr id="23" name="Text 19"/>
          <p:cNvSpPr/>
          <p:nvPr/>
        </p:nvSpPr>
        <p:spPr>
          <a:xfrm>
            <a:off x="3794782" y="2064544"/>
            <a:ext cx="4920593" cy="1500188"/>
          </a:xfrm>
          <a:prstGeom prst="rect">
            <a:avLst/>
          </a:prstGeom>
          <a:noFill/>
          <a:ln/>
        </p:spPr>
        <p:txBody>
          <a:bodyPr wrap="square" lIns="170053" tIns="170053" rIns="170053" bIns="170053" rtlCol="0" anchor="t">
            <a:spAutoFit/>
          </a:bodyPr>
          <a:lstStyle/>
          <a:p>
            <a:pPr marL="0" indent="0" algn="l">
              <a:lnSpc>
                <a:spcPct val="120000"/>
              </a:lnSpc>
              <a:buNone/>
            </a:pPr>
            <a:r>
              <a:rPr lang="en-US" sz="750" dirty="0">
                <a:solidFill>
                  <a:srgbClr val="F59E0B"/>
                </a:solidFill>
                <a:latin typeface="JetBrains Mono" pitchFamily="34" charset="0"/>
                <a:ea typeface="JetBrains Mono" pitchFamily="34" charset="-122"/>
                <a:cs typeface="JetBrains Mono" pitchFamily="34" charset="-120"/>
              </a:rPr>
              <a:t>final</a:t>
            </a:r>
            <a:r>
              <a:rPr lang="en-US" sz="750" dirty="0">
                <a:solidFill>
                  <a:srgbClr val="F8FAFC"/>
                </a:solidFill>
                <a:latin typeface="JetBrains Mono" pitchFamily="34" charset="0"/>
                <a:ea typeface="JetBrains Mono" pitchFamily="34" charset="-122"/>
                <a:cs typeface="JetBrains Mono" pitchFamily="34" charset="-120"/>
              </a:rPr>
              <a:t> response = </a:t>
            </a:r>
            <a:r>
              <a:rPr lang="en-US" sz="750" dirty="0">
                <a:solidFill>
                  <a:srgbClr val="F59E0B"/>
                </a:solidFill>
                <a:latin typeface="JetBrains Mono" pitchFamily="34" charset="0"/>
                <a:ea typeface="JetBrains Mono" pitchFamily="34" charset="-122"/>
                <a:cs typeface="JetBrains Mono" pitchFamily="34" charset="-120"/>
              </a:rPr>
              <a:t>await</a:t>
            </a:r>
            <a:r>
              <a:rPr lang="en-US" sz="750" dirty="0">
                <a:solidFill>
                  <a:srgbClr val="F8FAFC"/>
                </a:solidFill>
                <a:latin typeface="JetBrains Mono" pitchFamily="34" charset="0"/>
                <a:ea typeface="JetBrains Mono" pitchFamily="34" charset="-122"/>
                <a:cs typeface="JetBrains Mono" pitchFamily="34" charset="-120"/>
              </a:rPr>
              <a:t> dio.post(
</a:t>
            </a:r>
            <a:r>
              <a:rPr lang="en-US" sz="750" dirty="0">
                <a:solidFill>
                  <a:srgbClr val="06B6D4"/>
                </a:solidFill>
                <a:latin typeface="JetBrains Mono" pitchFamily="34" charset="0"/>
                <a:ea typeface="JetBrains Mono" pitchFamily="34" charset="-122"/>
                <a:cs typeface="JetBrains Mono" pitchFamily="34" charset="-120"/>
              </a:rPr>
              <a:t>'/api/posts'</a:t>
            </a:r>
            <a:r>
              <a:rPr lang="en-US" sz="750" dirty="0">
                <a:solidFill>
                  <a:srgbClr val="F8FAFC"/>
                </a:solidFill>
                <a:latin typeface="JetBrains Mono" pitchFamily="34" charset="0"/>
                <a:ea typeface="JetBrains Mono" pitchFamily="34" charset="-122"/>
                <a:cs typeface="JetBrains Mono" pitchFamily="34" charset="-120"/>
              </a:rPr>
              <a:t>,
data: FormData.fromMap({
</a:t>
            </a:r>
            <a:r>
              <a:rPr lang="en-US" sz="750" dirty="0">
                <a:solidFill>
                  <a:srgbClr val="06B6D4"/>
                </a:solidFill>
                <a:latin typeface="JetBrains Mono" pitchFamily="34" charset="0"/>
                <a:ea typeface="JetBrains Mono" pitchFamily="34" charset="-122"/>
                <a:cs typeface="JetBrains Mono" pitchFamily="34" charset="-120"/>
              </a:rPr>
              <a:t>'title'</a:t>
            </a:r>
            <a:r>
              <a:rPr lang="en-US" sz="750" dirty="0">
                <a:solidFill>
                  <a:srgbClr val="F8FAFC"/>
                </a:solidFill>
                <a:latin typeface="JetBrains Mono" pitchFamily="34" charset="0"/>
                <a:ea typeface="JetBrains Mono" pitchFamily="34" charset="-122"/>
                <a:cs typeface="JetBrains Mono" pitchFamily="34" charset="-120"/>
              </a:rPr>
              <a:t>: title,
</a:t>
            </a:r>
            <a:r>
              <a:rPr lang="en-US" sz="750" dirty="0">
                <a:solidFill>
                  <a:srgbClr val="06B6D4"/>
                </a:solidFill>
                <a:latin typeface="JetBrains Mono" pitchFamily="34" charset="0"/>
                <a:ea typeface="JetBrains Mono" pitchFamily="34" charset="-122"/>
                <a:cs typeface="JetBrains Mono" pitchFamily="34" charset="-120"/>
              </a:rPr>
              <a:t>'content'</a:t>
            </a:r>
            <a:r>
              <a:rPr lang="en-US" sz="750" dirty="0">
                <a:solidFill>
                  <a:srgbClr val="F8FAFC"/>
                </a:solidFill>
                <a:latin typeface="JetBrains Mono" pitchFamily="34" charset="0"/>
                <a:ea typeface="JetBrains Mono" pitchFamily="34" charset="-122"/>
                <a:cs typeface="JetBrains Mono" pitchFamily="34" charset="-120"/>
              </a:rPr>
              <a:t>: content,
</a:t>
            </a:r>
            <a:r>
              <a:rPr lang="en-US" sz="750" dirty="0">
                <a:solidFill>
                  <a:srgbClr val="06B6D4"/>
                </a:solidFill>
                <a:latin typeface="JetBrains Mono" pitchFamily="34" charset="0"/>
                <a:ea typeface="JetBrains Mono" pitchFamily="34" charset="-122"/>
                <a:cs typeface="JetBrains Mono" pitchFamily="34" charset="-120"/>
              </a:rPr>
              <a:t>'image'</a:t>
            </a:r>
            <a:r>
              <a:rPr lang="en-US" sz="750" dirty="0">
                <a:solidFill>
                  <a:srgbClr val="F8FAFC"/>
                </a:solidFill>
                <a:latin typeface="JetBrains Mono" pitchFamily="34" charset="0"/>
                <a:ea typeface="JetBrains Mono" pitchFamily="34" charset="-122"/>
                <a:cs typeface="JetBrains Mono" pitchFamily="34" charset="-120"/>
              </a:rPr>
              <a:t>: </a:t>
            </a:r>
            <a:r>
              <a:rPr lang="en-US" sz="750" dirty="0">
                <a:solidFill>
                  <a:srgbClr val="F59E0B"/>
                </a:solidFill>
                <a:latin typeface="JetBrains Mono" pitchFamily="34" charset="0"/>
                <a:ea typeface="JetBrains Mono" pitchFamily="34" charset="-122"/>
                <a:cs typeface="JetBrains Mono" pitchFamily="34" charset="-120"/>
              </a:rPr>
              <a:t>await</a:t>
            </a:r>
            <a:r>
              <a:rPr lang="en-US" sz="750" dirty="0">
                <a:solidFill>
                  <a:srgbClr val="F8FAFC"/>
                </a:solidFill>
                <a:latin typeface="JetBrains Mono" pitchFamily="34" charset="0"/>
                <a:ea typeface="JetBrains Mono" pitchFamily="34" charset="-122"/>
                <a:cs typeface="JetBrains Mono" pitchFamily="34" charset="-120"/>
              </a:rPr>
              <a:t> MultipartFile.fromFile(path),
}),
);</a:t>
            </a:r>
            <a:endParaRPr lang="en-US" sz="750" dirty="0"/>
          </a:p>
        </p:txBody>
      </p:sp>
      <p:sp>
        <p:nvSpPr>
          <p:cNvPr id="24" name="Text 20"/>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25" name="Text 21"/>
          <p:cNvSpPr/>
          <p:nvPr/>
        </p:nvSpPr>
        <p:spPr>
          <a:xfrm>
            <a:off x="8654653" y="4811316"/>
            <a:ext cx="60722"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9</a:t>
            </a:r>
            <a:endParaRPr lang="en-US" sz="750" dirty="0"/>
          </a:p>
        </p:txBody>
      </p:sp>
      <p:sp>
        <p:nvSpPr>
          <p:cNvPr id="28" name="TextBox 27">
            <a:extLst>
              <a:ext uri="{FF2B5EF4-FFF2-40B4-BE49-F238E27FC236}">
                <a16:creationId xmlns:a16="http://schemas.microsoft.com/office/drawing/2014/main" id="{6A8E83F3-D234-5883-DD58-C0E0B980D88B}"/>
              </a:ext>
            </a:extLst>
          </p:cNvPr>
          <p:cNvSpPr txBox="1"/>
          <p:nvPr/>
        </p:nvSpPr>
        <p:spPr>
          <a:xfrm>
            <a:off x="3756770" y="3782748"/>
            <a:ext cx="2525434" cy="846386"/>
          </a:xfrm>
          <a:prstGeom prst="rect">
            <a:avLst/>
          </a:prstGeom>
          <a:noFill/>
        </p:spPr>
        <p:txBody>
          <a:bodyPr wrap="square">
            <a:spAutoFit/>
          </a:bodyPr>
          <a:lstStyle/>
          <a:p>
            <a:r>
              <a:rPr lang="en-US" sz="700" dirty="0">
                <a:solidFill>
                  <a:schemeClr val="tx2">
                    <a:lumMod val="20000"/>
                    <a:lumOff val="80000"/>
                  </a:schemeClr>
                </a:solidFill>
              </a:rPr>
              <a:t>1. </a:t>
            </a:r>
            <a:r>
              <a:rPr lang="en-US" sz="700" dirty="0" err="1">
                <a:solidFill>
                  <a:schemeClr val="tx2">
                    <a:lumMod val="20000"/>
                    <a:lumOff val="80000"/>
                  </a:schemeClr>
                </a:solidFill>
              </a:rPr>
              <a:t>posts_controller.dart</a:t>
            </a:r>
            <a:endParaRPr lang="en-US" sz="700" dirty="0">
              <a:solidFill>
                <a:schemeClr val="tx2">
                  <a:lumMod val="20000"/>
                  <a:lumOff val="80000"/>
                </a:schemeClr>
              </a:solidFill>
            </a:endParaRPr>
          </a:p>
          <a:p>
            <a:r>
              <a:rPr lang="en-US" sz="700" dirty="0">
                <a:solidFill>
                  <a:schemeClr val="tx2">
                    <a:lumMod val="20000"/>
                    <a:lumOff val="80000"/>
                  </a:schemeClr>
                </a:solidFill>
              </a:rPr>
              <a:t>        ↓</a:t>
            </a:r>
          </a:p>
          <a:p>
            <a:r>
              <a:rPr lang="en-US" sz="700" dirty="0">
                <a:solidFill>
                  <a:schemeClr val="tx2">
                    <a:lumMod val="20000"/>
                    <a:lumOff val="80000"/>
                  </a:schemeClr>
                </a:solidFill>
              </a:rPr>
              <a:t>2. </a:t>
            </a:r>
            <a:r>
              <a:rPr lang="en-US" sz="700" dirty="0" err="1">
                <a:solidFill>
                  <a:schemeClr val="tx2">
                    <a:lumMod val="20000"/>
                    <a:lumOff val="80000"/>
                  </a:schemeClr>
                </a:solidFill>
              </a:rPr>
              <a:t>post_provider.dart</a:t>
            </a:r>
            <a:endParaRPr lang="en-US" sz="700" dirty="0">
              <a:solidFill>
                <a:schemeClr val="tx2">
                  <a:lumMod val="20000"/>
                  <a:lumOff val="80000"/>
                </a:schemeClr>
              </a:solidFill>
            </a:endParaRPr>
          </a:p>
          <a:p>
            <a:r>
              <a:rPr lang="en-US" sz="700" dirty="0">
                <a:solidFill>
                  <a:schemeClr val="tx2">
                    <a:lumMod val="20000"/>
                    <a:lumOff val="80000"/>
                  </a:schemeClr>
                </a:solidFill>
              </a:rPr>
              <a:t>        ↓</a:t>
            </a:r>
          </a:p>
          <a:p>
            <a:r>
              <a:rPr lang="en-US" sz="700" dirty="0">
                <a:solidFill>
                  <a:schemeClr val="tx2">
                    <a:lumMod val="20000"/>
                    <a:lumOff val="80000"/>
                  </a:schemeClr>
                </a:solidFill>
              </a:rPr>
              <a:t>3. </a:t>
            </a:r>
            <a:r>
              <a:rPr lang="en-US" sz="700" dirty="0" err="1">
                <a:solidFill>
                  <a:schemeClr val="tx2">
                    <a:lumMod val="20000"/>
                    <a:lumOff val="80000"/>
                  </a:schemeClr>
                </a:solidFill>
              </a:rPr>
              <a:t>api_service.dart</a:t>
            </a:r>
            <a:endParaRPr lang="en-US" sz="700" dirty="0">
              <a:solidFill>
                <a:schemeClr val="tx2">
                  <a:lumMod val="20000"/>
                  <a:lumOff val="80000"/>
                </a:schemeClr>
              </a:solidFill>
            </a:endParaRPr>
          </a:p>
          <a:p>
            <a:r>
              <a:rPr lang="en-US" sz="700" dirty="0">
                <a:solidFill>
                  <a:schemeClr val="tx2">
                    <a:lumMod val="20000"/>
                    <a:lumOff val="80000"/>
                  </a:schemeClr>
                </a:solidFill>
              </a:rPr>
              <a:t>        ↓</a:t>
            </a:r>
          </a:p>
          <a:p>
            <a:r>
              <a:rPr lang="en-US" sz="700" dirty="0">
                <a:solidFill>
                  <a:schemeClr val="tx2">
                    <a:lumMod val="20000"/>
                    <a:lumOff val="80000"/>
                  </a:schemeClr>
                </a:solidFill>
              </a:rPr>
              <a:t>4. </a:t>
            </a:r>
            <a:r>
              <a:rPr lang="en-US" sz="700" dirty="0" err="1">
                <a:solidFill>
                  <a:schemeClr val="tx2">
                    <a:lumMod val="20000"/>
                    <a:lumOff val="80000"/>
                  </a:schemeClr>
                </a:solidFill>
              </a:rPr>
              <a:t>post_model.dart</a:t>
            </a:r>
            <a:endParaRPr lang="en-US" sz="700" dirty="0">
              <a:solidFill>
                <a:schemeClr val="tx2">
                  <a:lumMod val="20000"/>
                  <a:lumOff val="80000"/>
                </a:schemeClr>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403622"/>
          </a:xfrm>
          <a:prstGeom prst="rect">
            <a:avLst/>
          </a:prstGeom>
          <a:noFill/>
          <a:ln/>
        </p:spPr>
        <p:txBody>
          <a:bodyPr wrap="square" lIns="0" tIns="0" rIns="0" bIns="0" rtlCol="0" anchor="t">
            <a:spAutoFit/>
          </a:bodyPr>
          <a:lstStyle/>
          <a:p>
            <a:pPr marL="0" indent="0" algn="ctr">
              <a:buNone/>
            </a:pPr>
            <a:r>
              <a:rPr lang="en-US" sz="2450" b="1" dirty="0">
                <a:solidFill>
                  <a:srgbClr val="F8FAFC"/>
                </a:solidFill>
                <a:latin typeface="Kantumruy Pro Bold" pitchFamily="34" charset="0"/>
                <a:ea typeface="Kantumruy Pro Bold" pitchFamily="34" charset="-122"/>
                <a:cs typeface="Kantumruy Pro Bold" pitchFamily="34" charset="-120"/>
              </a:rPr>
              <a:t>សរុប (Conclusion)</a:t>
            </a:r>
            <a:endParaRPr lang="en-US" sz="2450" dirty="0"/>
          </a:p>
        </p:txBody>
      </p:sp>
      <p:sp>
        <p:nvSpPr>
          <p:cNvPr id="5" name="Shape 1"/>
          <p:cNvSpPr/>
          <p:nvPr/>
        </p:nvSpPr>
        <p:spPr>
          <a:xfrm>
            <a:off x="428625" y="1117997"/>
            <a:ext cx="2619356" cy="3596878"/>
          </a:xfrm>
          <a:prstGeom prst="rect">
            <a:avLst/>
          </a:prstGeom>
          <a:solidFill>
            <a:srgbClr val="1E293B"/>
          </a:solidFill>
          <a:ln w="9144">
            <a:solidFill>
              <a:srgbClr val="334155"/>
            </a:solidFill>
            <a:prstDash val="solid"/>
          </a:ln>
        </p:spPr>
      </p:sp>
      <p:sp>
        <p:nvSpPr>
          <p:cNvPr id="6" name="Text 2"/>
          <p:cNvSpPr/>
          <p:nvPr/>
        </p:nvSpPr>
        <p:spPr>
          <a:xfrm>
            <a:off x="642938" y="1332309"/>
            <a:ext cx="2190731" cy="200025"/>
          </a:xfrm>
          <a:prstGeom prst="rect">
            <a:avLst/>
          </a:prstGeom>
          <a:noFill/>
          <a:ln/>
        </p:spPr>
        <p:txBody>
          <a:bodyPr wrap="square" lIns="0" tIns="0" rIns="0" bIns="0" rtlCol="0" anchor="t">
            <a:spAutoFit/>
          </a:bodyPr>
          <a:lstStyle/>
          <a:p>
            <a:pPr marL="0" indent="0" algn="l">
              <a:buNone/>
            </a:pPr>
            <a:r>
              <a:rPr lang="en-US" sz="1200" b="1" dirty="0">
                <a:solidFill>
                  <a:srgbClr val="06B6D4"/>
                </a:solidFill>
                <a:latin typeface="Kantumruy Pro Bold" pitchFamily="34" charset="0"/>
                <a:ea typeface="Kantumruy Pro Bold" pitchFamily="34" charset="-122"/>
                <a:cs typeface="Kantumruy Pro Bold" pitchFamily="34" charset="-120"/>
              </a:rPr>
              <a:t>Tech Stack</a:t>
            </a:r>
            <a:endParaRPr lang="en-US" sz="1200" dirty="0"/>
          </a:p>
        </p:txBody>
      </p:sp>
      <p:sp>
        <p:nvSpPr>
          <p:cNvPr id="7" name="Text 3"/>
          <p:cNvSpPr/>
          <p:nvPr/>
        </p:nvSpPr>
        <p:spPr>
          <a:xfrm>
            <a:off x="642938" y="1639491"/>
            <a:ext cx="219073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8FAFC"/>
                </a:solidFill>
                <a:latin typeface="Kantumruy Pro" pitchFamily="34" charset="0"/>
                <a:ea typeface="Kantumruy Pro" pitchFamily="34" charset="-122"/>
                <a:cs typeface="Kantumruy Pro" pitchFamily="34" charset="-120"/>
              </a:rPr>
              <a:t>Flutter + GetX for Frontend, Laravel + MySQL for Backend.</a:t>
            </a:r>
            <a:endParaRPr lang="en-US" sz="950" dirty="0"/>
          </a:p>
        </p:txBody>
      </p:sp>
      <p:sp>
        <p:nvSpPr>
          <p:cNvPr id="8" name="Shape 4"/>
          <p:cNvSpPr/>
          <p:nvPr/>
        </p:nvSpPr>
        <p:spPr>
          <a:xfrm>
            <a:off x="3262294" y="1117997"/>
            <a:ext cx="2619356" cy="3596878"/>
          </a:xfrm>
          <a:prstGeom prst="rect">
            <a:avLst/>
          </a:prstGeom>
          <a:solidFill>
            <a:srgbClr val="1E293B"/>
          </a:solidFill>
          <a:ln w="9144">
            <a:solidFill>
              <a:srgbClr val="334155"/>
            </a:solidFill>
            <a:prstDash val="solid"/>
          </a:ln>
        </p:spPr>
      </p:sp>
      <p:sp>
        <p:nvSpPr>
          <p:cNvPr id="9" name="Text 5"/>
          <p:cNvSpPr/>
          <p:nvPr/>
        </p:nvSpPr>
        <p:spPr>
          <a:xfrm>
            <a:off x="3476606" y="1332309"/>
            <a:ext cx="2190731" cy="200025"/>
          </a:xfrm>
          <a:prstGeom prst="rect">
            <a:avLst/>
          </a:prstGeom>
          <a:noFill/>
          <a:ln/>
        </p:spPr>
        <p:txBody>
          <a:bodyPr wrap="square" lIns="0" tIns="0" rIns="0" bIns="0" rtlCol="0" anchor="t">
            <a:spAutoFit/>
          </a:bodyPr>
          <a:lstStyle/>
          <a:p>
            <a:pPr marL="0" indent="0" algn="l">
              <a:buNone/>
            </a:pPr>
            <a:r>
              <a:rPr lang="en-US" sz="1200" b="1" dirty="0">
                <a:solidFill>
                  <a:srgbClr val="06B6D4"/>
                </a:solidFill>
                <a:latin typeface="Kantumruy Pro Bold" pitchFamily="34" charset="0"/>
                <a:ea typeface="Kantumruy Pro Bold" pitchFamily="34" charset="-122"/>
                <a:cs typeface="Kantumruy Pro Bold" pitchFamily="34" charset="-120"/>
              </a:rPr>
              <a:t>Features</a:t>
            </a:r>
            <a:endParaRPr lang="en-US" sz="1200" dirty="0"/>
          </a:p>
        </p:txBody>
      </p:sp>
      <p:sp>
        <p:nvSpPr>
          <p:cNvPr id="10" name="Text 6"/>
          <p:cNvSpPr/>
          <p:nvPr/>
        </p:nvSpPr>
        <p:spPr>
          <a:xfrm>
            <a:off x="3476606" y="1639491"/>
            <a:ext cx="219073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8FAFC"/>
                </a:solidFill>
                <a:latin typeface="Kantumruy Pro" pitchFamily="34" charset="0"/>
                <a:ea typeface="Kantumruy Pro" pitchFamily="34" charset="-122"/>
                <a:cs typeface="Kantumruy Pro" pitchFamily="34" charset="-120"/>
              </a:rPr>
              <a:t>Full CRUD, Image Upload, Comments, Search, and Token Auth.</a:t>
            </a:r>
            <a:endParaRPr lang="en-US" sz="950" dirty="0"/>
          </a:p>
        </p:txBody>
      </p:sp>
      <p:sp>
        <p:nvSpPr>
          <p:cNvPr id="11" name="Shape 7"/>
          <p:cNvSpPr/>
          <p:nvPr/>
        </p:nvSpPr>
        <p:spPr>
          <a:xfrm>
            <a:off x="6095963" y="1117997"/>
            <a:ext cx="2619356" cy="3596878"/>
          </a:xfrm>
          <a:prstGeom prst="rect">
            <a:avLst/>
          </a:prstGeom>
          <a:solidFill>
            <a:srgbClr val="1E293B"/>
          </a:solidFill>
          <a:ln w="9144">
            <a:solidFill>
              <a:srgbClr val="334155"/>
            </a:solidFill>
            <a:prstDash val="solid"/>
          </a:ln>
        </p:spPr>
      </p:sp>
      <p:sp>
        <p:nvSpPr>
          <p:cNvPr id="12" name="Text 8"/>
          <p:cNvSpPr/>
          <p:nvPr/>
        </p:nvSpPr>
        <p:spPr>
          <a:xfrm>
            <a:off x="6310275" y="1332309"/>
            <a:ext cx="2190731" cy="200025"/>
          </a:xfrm>
          <a:prstGeom prst="rect">
            <a:avLst/>
          </a:prstGeom>
          <a:noFill/>
          <a:ln/>
        </p:spPr>
        <p:txBody>
          <a:bodyPr wrap="square" lIns="0" tIns="0" rIns="0" bIns="0" rtlCol="0" anchor="t">
            <a:spAutoFit/>
          </a:bodyPr>
          <a:lstStyle/>
          <a:p>
            <a:pPr marL="0" indent="0" algn="l">
              <a:buNone/>
            </a:pPr>
            <a:r>
              <a:rPr lang="en-US" sz="1200" b="1" dirty="0">
                <a:solidFill>
                  <a:srgbClr val="06B6D4"/>
                </a:solidFill>
                <a:latin typeface="Kantumruy Pro Bold" pitchFamily="34" charset="0"/>
                <a:ea typeface="Kantumruy Pro Bold" pitchFamily="34" charset="-122"/>
                <a:cs typeface="Kantumruy Pro Bold" pitchFamily="34" charset="-120"/>
              </a:rPr>
              <a:t>Architecture</a:t>
            </a:r>
            <a:endParaRPr lang="en-US" sz="1200" dirty="0"/>
          </a:p>
        </p:txBody>
      </p:sp>
      <p:sp>
        <p:nvSpPr>
          <p:cNvPr id="13" name="Text 9"/>
          <p:cNvSpPr/>
          <p:nvPr/>
        </p:nvSpPr>
        <p:spPr>
          <a:xfrm>
            <a:off x="6310275" y="1639491"/>
            <a:ext cx="219073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F8FAFC"/>
                </a:solidFill>
                <a:latin typeface="Kantumruy Pro" pitchFamily="34" charset="0"/>
                <a:ea typeface="Kantumruy Pro" pitchFamily="34" charset="-122"/>
                <a:cs typeface="Kantumruy Pro" pitchFamily="34" charset="-120"/>
              </a:rPr>
              <a:t>Clean, feature-based architecture for scalability and maintenance.</a:t>
            </a:r>
            <a:endParaRPr lang="en-US" sz="950" dirty="0"/>
          </a:p>
        </p:txBody>
      </p:sp>
      <p:sp>
        <p:nvSpPr>
          <p:cNvPr id="14" name="Text 10"/>
          <p:cNvSpPr/>
          <p:nvPr/>
        </p:nvSpPr>
        <p:spPr>
          <a:xfrm>
            <a:off x="428625" y="4811316"/>
            <a:ext cx="1218009"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Flutter + Laravel REST API</a:t>
            </a:r>
            <a:endParaRPr lang="en-US" sz="750" dirty="0"/>
          </a:p>
        </p:txBody>
      </p:sp>
      <p:sp>
        <p:nvSpPr>
          <p:cNvPr id="15" name="Text 11"/>
          <p:cNvSpPr/>
          <p:nvPr/>
        </p:nvSpPr>
        <p:spPr>
          <a:xfrm>
            <a:off x="8618934" y="4811316"/>
            <a:ext cx="96441" cy="117872"/>
          </a:xfrm>
          <a:prstGeom prst="rect">
            <a:avLst/>
          </a:prstGeom>
          <a:noFill/>
          <a:ln/>
        </p:spPr>
        <p:txBody>
          <a:bodyPr wrap="none" lIns="0" tIns="0" rIns="0" bIns="0" rtlCol="0" anchor="t">
            <a:spAutoFit/>
          </a:bodyPr>
          <a:lstStyle/>
          <a:p>
            <a:pPr marL="0" indent="0" algn="l">
              <a:buNone/>
            </a:pPr>
            <a:r>
              <a:rPr lang="en-US" sz="750" dirty="0">
                <a:solidFill>
                  <a:srgbClr val="94A3B8"/>
                </a:solidFill>
                <a:latin typeface="Kantumruy Pro" pitchFamily="34" charset="0"/>
                <a:ea typeface="Kantumruy Pro" pitchFamily="34" charset="-122"/>
                <a:cs typeface="Kantumruy Pro" pitchFamily="34" charset="-120"/>
              </a:rPr>
              <a:t>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596</TotalTime>
  <Words>1923</Words>
  <Application>Microsoft Office PowerPoint</Application>
  <PresentationFormat>On-screen Show (16:9)</PresentationFormat>
  <Paragraphs>338</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JetBrains Mono</vt:lpstr>
      <vt:lpstr>JetBrains Mono Bold</vt:lpstr>
      <vt:lpstr>Kantumruy Pro</vt:lpstr>
      <vt:lpstr>Kantumruy Pro Bold</vt:lpstr>
      <vt:lpstr>Khmer Battambang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MSI-PC</cp:lastModifiedBy>
  <cp:revision>12</cp:revision>
  <dcterms:created xsi:type="dcterms:W3CDTF">2026-09-03T06:21:56Z</dcterms:created>
  <dcterms:modified xsi:type="dcterms:W3CDTF">2026-09-04T10:32:13Z</dcterms:modified>
</cp:coreProperties>
</file>